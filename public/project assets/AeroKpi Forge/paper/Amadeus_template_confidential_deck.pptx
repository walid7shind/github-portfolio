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3235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5A3CB6-527F-2B4D-F070-B76BD9AFACCA}"/>
              </a:ext>
            </a:extLst>
          </p:cNvPr>
          <p:cNvSpPr txBox="1"/>
          <p:nvPr userDrawn="1">
            <p:extLst>
              <p:ext uri="{1162E1C5-73C7-4A58-AE30-91384D911F3F}">
                <p184:classification xmlns:p184="http://schemas.microsoft.com/office/powerpoint/2018/4/main" val="hdr"/>
              </p:ext>
            </p:extLst>
          </p:nvPr>
        </p:nvSpPr>
        <p:spPr>
          <a:xfrm>
            <a:off x="11109325" y="63500"/>
            <a:ext cx="1050925" cy="182880"/>
          </a:xfrm>
          <a:prstGeom prst="rect">
            <a:avLst/>
          </a:prstGeom>
        </p:spPr>
        <p:txBody>
          <a:bodyPr horzOverflow="overflow" lIns="0" tIns="0" rIns="0" bIns="0">
            <a:spAutoFit/>
          </a:bodyPr>
          <a:lstStyle/>
          <a:p>
            <a:pPr algn="l"/>
            <a:r>
              <a:rPr lang="en-US" sz="1200">
                <a:solidFill>
                  <a:srgbClr val="FF8C00">
                    <a:alpha val="50000"/>
                  </a:srgbClr>
                </a:solidFill>
                <a:latin typeface="Aptos" panose="020B0004020202020204" pitchFamily="34" charset="0"/>
              </a:rPr>
              <a:t>CONFIDENTIAL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pic>
        <p:nvPicPr>
          <p:cNvPr id="3" name="Image 0" descr="preencoded.png"/>
          <p:cNvPicPr>
            <a:picLocks noChangeAspect="1"/>
          </p:cNvPicPr>
          <p:nvPr/>
        </p:nvPicPr>
        <p:blipFill>
          <a:blip r:embed="rId3"/>
          <a:stretch>
            <a:fillRect/>
          </a:stretch>
        </p:blipFill>
        <p:spPr>
          <a:xfrm>
            <a:off x="685800" y="609600"/>
            <a:ext cx="1714500" cy="245467"/>
          </a:xfrm>
          <a:prstGeom prst="rect">
            <a:avLst/>
          </a:prstGeom>
        </p:spPr>
      </p:pic>
      <p:sp>
        <p:nvSpPr>
          <p:cNvPr id="4" name="Shape 1"/>
          <p:cNvSpPr/>
          <p:nvPr/>
        </p:nvSpPr>
        <p:spPr>
          <a:xfrm>
            <a:off x="685800" y="2731195"/>
            <a:ext cx="914400" cy="19050"/>
          </a:xfrm>
          <a:prstGeom prst="rect">
            <a:avLst/>
          </a:prstGeom>
          <a:solidFill>
            <a:srgbClr val="4E8BFF"/>
          </a:solidFill>
          <a:ln/>
        </p:spPr>
        <p:txBody>
          <a:bodyPr/>
          <a:lstStyle/>
          <a:p>
            <a:endParaRPr lang="en-US"/>
          </a:p>
        </p:txBody>
      </p:sp>
      <p:sp>
        <p:nvSpPr>
          <p:cNvPr id="5" name="Text 2"/>
          <p:cNvSpPr/>
          <p:nvPr/>
        </p:nvSpPr>
        <p:spPr>
          <a:xfrm>
            <a:off x="685800" y="2978845"/>
            <a:ext cx="7682430" cy="1958280"/>
          </a:xfrm>
          <a:prstGeom prst="rect">
            <a:avLst/>
          </a:prstGeom>
          <a:noFill/>
          <a:ln/>
        </p:spPr>
        <p:txBody>
          <a:bodyPr wrap="square" lIns="25400" tIns="25400" rIns="25400" bIns="25400" rtlCol="0" anchor="t">
            <a:normAutofit/>
          </a:bodyPr>
          <a:lstStyle/>
          <a:p>
            <a:pPr marL="0" indent="0" algn="l">
              <a:lnSpc>
                <a:spcPct val="91636"/>
              </a:lnSpc>
              <a:buNone/>
            </a:pPr>
            <a:r>
              <a:rPr lang="en-US" sz="4800" kern="0" spc="-96" dirty="0">
                <a:solidFill>
                  <a:srgbClr val="FFFFFF"/>
                </a:solidFill>
                <a:latin typeface="Arial" pitchFamily="34" charset="0"/>
                <a:ea typeface="Arial" pitchFamily="34" charset="-122"/>
                <a:cs typeface="Arial" pitchFamily="34" charset="-120"/>
              </a:rPr>
              <a:t>From Financial Reports to Reliable Airline KPIs</a:t>
            </a:r>
            <a:endParaRPr lang="en-US" sz="4800" dirty="0"/>
          </a:p>
        </p:txBody>
      </p:sp>
      <p:sp>
        <p:nvSpPr>
          <p:cNvPr id="6" name="Text 3"/>
          <p:cNvSpPr/>
          <p:nvPr/>
        </p:nvSpPr>
        <p:spPr>
          <a:xfrm>
            <a:off x="685800" y="5127625"/>
            <a:ext cx="11902440"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alpha val="72000"/>
                  </a:srgbClr>
                </a:solidFill>
                <a:latin typeface="Arial" pitchFamily="34" charset="0"/>
                <a:ea typeface="Arial" pitchFamily="34" charset="-122"/>
                <a:cs typeface="Arial" pitchFamily="34" charset="-120"/>
              </a:rPr>
              <a:t>Final Project Update</a:t>
            </a:r>
            <a:endParaRPr lang="en-US" sz="1650" dirty="0"/>
          </a:p>
        </p:txBody>
      </p:sp>
      <p:sp>
        <p:nvSpPr>
          <p:cNvPr id="7" name="Shape 4"/>
          <p:cNvSpPr/>
          <p:nvPr/>
        </p:nvSpPr>
        <p:spPr>
          <a:xfrm>
            <a:off x="685800" y="5975350"/>
            <a:ext cx="10820400" cy="9525"/>
          </a:xfrm>
          <a:prstGeom prst="rect">
            <a:avLst/>
          </a:prstGeom>
          <a:solidFill>
            <a:srgbClr val="FFFFFF">
              <a:alpha val="14000"/>
            </a:srgbClr>
          </a:solidFill>
          <a:ln/>
        </p:spPr>
        <p:txBody>
          <a:bodyPr/>
          <a:lstStyle/>
          <a:p>
            <a:endParaRPr lang="en-US"/>
          </a:p>
        </p:txBody>
      </p:sp>
      <p:sp>
        <p:nvSpPr>
          <p:cNvPr id="8" name="Text 5"/>
          <p:cNvSpPr/>
          <p:nvPr/>
        </p:nvSpPr>
        <p:spPr>
          <a:xfrm>
            <a:off x="685800" y="6210300"/>
            <a:ext cx="1407587"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Walid Benmaarouf</a:t>
            </a:r>
            <a:endParaRPr lang="en-US" sz="1200" dirty="0"/>
          </a:p>
        </p:txBody>
      </p:sp>
      <p:sp>
        <p:nvSpPr>
          <p:cNvPr id="9" name="Text 6"/>
          <p:cNvSpPr/>
          <p:nvPr/>
        </p:nvSpPr>
        <p:spPr>
          <a:xfrm>
            <a:off x="9360893" y="6253163"/>
            <a:ext cx="2359839"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GenAI / Data Engineering — Amadeus</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6096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01 — CONTEXT</a:t>
            </a:r>
            <a:endParaRPr lang="en-US" sz="825" dirty="0"/>
          </a:p>
        </p:txBody>
      </p:sp>
      <p:sp>
        <p:nvSpPr>
          <p:cNvPr id="4" name="Text 2"/>
          <p:cNvSpPr/>
          <p:nvPr/>
        </p:nvSpPr>
        <p:spPr>
          <a:xfrm>
            <a:off x="685800" y="8810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Where we started</a:t>
            </a:r>
            <a:endParaRPr lang="en-US" sz="3000" dirty="0"/>
          </a:p>
        </p:txBody>
      </p:sp>
      <p:sp>
        <p:nvSpPr>
          <p:cNvPr id="5" name="Shape 3"/>
          <p:cNvSpPr/>
          <p:nvPr/>
        </p:nvSpPr>
        <p:spPr>
          <a:xfrm>
            <a:off x="685800" y="1509713"/>
            <a:ext cx="10820400" cy="9525"/>
          </a:xfrm>
          <a:prstGeom prst="rect">
            <a:avLst/>
          </a:prstGeom>
          <a:solidFill>
            <a:srgbClr val="FFFFFF">
              <a:alpha val="14000"/>
            </a:srgbClr>
          </a:solidFill>
          <a:ln/>
        </p:spPr>
        <p:txBody>
          <a:bodyPr/>
          <a:lstStyle/>
          <a:p>
            <a:endParaRPr lang="en-US"/>
          </a:p>
        </p:txBody>
      </p:sp>
      <p:sp>
        <p:nvSpPr>
          <p:cNvPr id="6" name="Text 4"/>
          <p:cNvSpPr/>
          <p:nvPr/>
        </p:nvSpPr>
        <p:spPr>
          <a:xfrm>
            <a:off x="685800" y="1900238"/>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FFFFF">
                    <a:alpha val="38000"/>
                  </a:srgbClr>
                </a:solidFill>
                <a:latin typeface="Arial" pitchFamily="34" charset="0"/>
                <a:ea typeface="Arial" pitchFamily="34" charset="-122"/>
                <a:cs typeface="Arial" pitchFamily="34" charset="-120"/>
              </a:rPr>
              <a:t>PREVIOUS PROCESS</a:t>
            </a:r>
            <a:endParaRPr lang="en-US" sz="825" dirty="0"/>
          </a:p>
        </p:txBody>
      </p:sp>
      <p:sp>
        <p:nvSpPr>
          <p:cNvPr id="7" name="Shape 5"/>
          <p:cNvSpPr/>
          <p:nvPr/>
        </p:nvSpPr>
        <p:spPr>
          <a:xfrm>
            <a:off x="685800" y="2171700"/>
            <a:ext cx="2178745" cy="831850"/>
          </a:xfrm>
          <a:prstGeom prst="roundRect">
            <a:avLst>
              <a:gd name="adj" fmla="val 4580"/>
            </a:avLst>
          </a:prstGeom>
          <a:solidFill>
            <a:srgbClr val="FFFFFF">
              <a:alpha val="7000"/>
            </a:srgbClr>
          </a:solidFill>
          <a:ln w="6350">
            <a:solidFill>
              <a:srgbClr val="FFFFFF">
                <a:alpha val="14000"/>
              </a:srgbClr>
            </a:solidFill>
            <a:prstDash val="solid"/>
          </a:ln>
        </p:spPr>
        <p:txBody>
          <a:bodyPr/>
          <a:lstStyle/>
          <a:p>
            <a:endParaRPr lang="en-US"/>
          </a:p>
        </p:txBody>
      </p:sp>
      <p:sp>
        <p:nvSpPr>
          <p:cNvPr id="8" name="Text 6"/>
          <p:cNvSpPr/>
          <p:nvPr/>
        </p:nvSpPr>
        <p:spPr>
          <a:xfrm>
            <a:off x="844550" y="2330450"/>
            <a:ext cx="1937445" cy="552450"/>
          </a:xfrm>
          <a:prstGeom prst="rect">
            <a:avLst/>
          </a:prstGeom>
          <a:noFill/>
          <a:ln/>
        </p:spPr>
        <p:txBody>
          <a:bodyPr wrap="square" lIns="25400" tIns="25400" rIns="25400" bIns="25400" rtlCol="0" anchor="ctr">
            <a:normAutofit/>
          </a:bodyPr>
          <a:lstStyle/>
          <a:p>
            <a:pPr marL="0" indent="0" algn="l">
              <a:lnSpc>
                <a:spcPct val="130645"/>
              </a:lnSpc>
              <a:buNone/>
            </a:pPr>
            <a:r>
              <a:rPr lang="en-US" sz="1350" dirty="0">
                <a:solidFill>
                  <a:srgbClr val="FFFFFF"/>
                </a:solidFill>
                <a:latin typeface="Arial" pitchFamily="34" charset="0"/>
                <a:ea typeface="Arial" pitchFamily="34" charset="-122"/>
                <a:cs typeface="Arial" pitchFamily="34" charset="-120"/>
              </a:rPr>
              <a:t>Airline financial reports</a:t>
            </a:r>
            <a:endParaRPr lang="en-US" sz="1350" dirty="0"/>
          </a:p>
        </p:txBody>
      </p:sp>
      <p:sp>
        <p:nvSpPr>
          <p:cNvPr id="9" name="Shape 7"/>
          <p:cNvSpPr/>
          <p:nvPr/>
        </p:nvSpPr>
        <p:spPr>
          <a:xfrm>
            <a:off x="3016945" y="2582863"/>
            <a:ext cx="418604" cy="9525"/>
          </a:xfrm>
          <a:prstGeom prst="rect">
            <a:avLst/>
          </a:prstGeom>
          <a:solidFill>
            <a:srgbClr val="FFFFFF">
              <a:alpha val="38000"/>
            </a:srgbClr>
          </a:solidFill>
          <a:ln/>
        </p:spPr>
        <p:txBody>
          <a:bodyPr/>
          <a:lstStyle/>
          <a:p>
            <a:endParaRPr lang="en-US"/>
          </a:p>
        </p:txBody>
      </p:sp>
      <p:sp>
        <p:nvSpPr>
          <p:cNvPr id="10" name="Shape 8"/>
          <p:cNvSpPr/>
          <p:nvPr/>
        </p:nvSpPr>
        <p:spPr>
          <a:xfrm>
            <a:off x="3587948" y="2171700"/>
            <a:ext cx="2648942" cy="831850"/>
          </a:xfrm>
          <a:prstGeom prst="roundRect">
            <a:avLst>
              <a:gd name="adj" fmla="val 4580"/>
            </a:avLst>
          </a:prstGeom>
          <a:solidFill>
            <a:srgbClr val="FFFFFF">
              <a:alpha val="7000"/>
            </a:srgbClr>
          </a:solidFill>
          <a:ln w="6350">
            <a:solidFill>
              <a:srgbClr val="FFFFFF">
                <a:alpha val="38000"/>
              </a:srgbClr>
            </a:solidFill>
            <a:prstDash val="dash"/>
          </a:ln>
        </p:spPr>
        <p:txBody>
          <a:bodyPr/>
          <a:lstStyle/>
          <a:p>
            <a:endParaRPr lang="en-US"/>
          </a:p>
        </p:txBody>
      </p:sp>
      <p:sp>
        <p:nvSpPr>
          <p:cNvPr id="11" name="Text 9"/>
          <p:cNvSpPr/>
          <p:nvPr/>
        </p:nvSpPr>
        <p:spPr>
          <a:xfrm>
            <a:off x="3746698" y="2330450"/>
            <a:ext cx="2410911" cy="552450"/>
          </a:xfrm>
          <a:prstGeom prst="rect">
            <a:avLst/>
          </a:prstGeom>
          <a:noFill/>
          <a:ln/>
        </p:spPr>
        <p:txBody>
          <a:bodyPr wrap="square" lIns="25400" tIns="25400" rIns="25400" bIns="25400" rtlCol="0" anchor="ctr">
            <a:normAutofit/>
          </a:bodyPr>
          <a:lstStyle/>
          <a:p>
            <a:pPr marL="0" indent="0" algn="l">
              <a:lnSpc>
                <a:spcPct val="130645"/>
              </a:lnSpc>
              <a:buNone/>
            </a:pPr>
            <a:r>
              <a:rPr lang="en-US" sz="1350" dirty="0">
                <a:solidFill>
                  <a:srgbClr val="FFFFFF"/>
                </a:solidFill>
                <a:latin typeface="Arial" pitchFamily="34" charset="0"/>
                <a:ea typeface="Arial" pitchFamily="34" charset="-122"/>
                <a:cs typeface="Arial" pitchFamily="34" charset="-120"/>
              </a:rPr>
              <a:t>External third-party provider</a:t>
            </a:r>
            <a:endParaRPr lang="en-US" sz="1350" dirty="0"/>
          </a:p>
        </p:txBody>
      </p:sp>
      <p:sp>
        <p:nvSpPr>
          <p:cNvPr id="12" name="Shape 10"/>
          <p:cNvSpPr/>
          <p:nvPr/>
        </p:nvSpPr>
        <p:spPr>
          <a:xfrm>
            <a:off x="6389291" y="2582863"/>
            <a:ext cx="418604" cy="9525"/>
          </a:xfrm>
          <a:prstGeom prst="rect">
            <a:avLst/>
          </a:prstGeom>
          <a:solidFill>
            <a:srgbClr val="FFFFFF">
              <a:alpha val="38000"/>
            </a:srgbClr>
          </a:solidFill>
          <a:ln/>
        </p:spPr>
        <p:txBody>
          <a:bodyPr/>
          <a:lstStyle/>
          <a:p>
            <a:endParaRPr lang="en-US"/>
          </a:p>
        </p:txBody>
      </p:sp>
      <p:sp>
        <p:nvSpPr>
          <p:cNvPr id="13" name="Shape 11"/>
          <p:cNvSpPr/>
          <p:nvPr/>
        </p:nvSpPr>
        <p:spPr>
          <a:xfrm>
            <a:off x="6960295" y="2171700"/>
            <a:ext cx="2012752" cy="831850"/>
          </a:xfrm>
          <a:prstGeom prst="roundRect">
            <a:avLst>
              <a:gd name="adj" fmla="val 4580"/>
            </a:avLst>
          </a:prstGeom>
          <a:solidFill>
            <a:srgbClr val="FFFFFF">
              <a:alpha val="7000"/>
            </a:srgbClr>
          </a:solidFill>
          <a:ln w="6350">
            <a:solidFill>
              <a:srgbClr val="FFFFFF">
                <a:alpha val="38000"/>
              </a:srgbClr>
            </a:solidFill>
            <a:prstDash val="dash"/>
          </a:ln>
        </p:spPr>
        <p:txBody>
          <a:bodyPr/>
          <a:lstStyle/>
          <a:p>
            <a:endParaRPr lang="en-US"/>
          </a:p>
        </p:txBody>
      </p:sp>
      <p:sp>
        <p:nvSpPr>
          <p:cNvPr id="14" name="Text 12"/>
          <p:cNvSpPr/>
          <p:nvPr/>
        </p:nvSpPr>
        <p:spPr>
          <a:xfrm>
            <a:off x="7119045" y="2330450"/>
            <a:ext cx="1771452" cy="552450"/>
          </a:xfrm>
          <a:prstGeom prst="rect">
            <a:avLst/>
          </a:prstGeom>
          <a:noFill/>
          <a:ln/>
        </p:spPr>
        <p:txBody>
          <a:bodyPr wrap="square" lIns="25400" tIns="25400" rIns="25400" bIns="25400" rtlCol="0" anchor="ctr">
            <a:normAutofit/>
          </a:bodyPr>
          <a:lstStyle/>
          <a:p>
            <a:pPr marL="0" indent="0" algn="l">
              <a:lnSpc>
                <a:spcPct val="130645"/>
              </a:lnSpc>
              <a:buNone/>
            </a:pPr>
            <a:r>
              <a:rPr lang="en-US" sz="1350" dirty="0">
                <a:solidFill>
                  <a:srgbClr val="FFFFFF"/>
                </a:solidFill>
                <a:latin typeface="Arial" pitchFamily="34" charset="0"/>
                <a:ea typeface="Arial" pitchFamily="34" charset="-122"/>
                <a:cs typeface="Arial" pitchFamily="34" charset="-120"/>
              </a:rPr>
              <a:t>Extracted airline KPIs</a:t>
            </a:r>
            <a:endParaRPr lang="en-US" sz="1350" dirty="0"/>
          </a:p>
        </p:txBody>
      </p:sp>
      <p:sp>
        <p:nvSpPr>
          <p:cNvPr id="15" name="Shape 13"/>
          <p:cNvSpPr/>
          <p:nvPr/>
        </p:nvSpPr>
        <p:spPr>
          <a:xfrm>
            <a:off x="9125446" y="2582863"/>
            <a:ext cx="418604" cy="9525"/>
          </a:xfrm>
          <a:prstGeom prst="rect">
            <a:avLst/>
          </a:prstGeom>
          <a:solidFill>
            <a:srgbClr val="FFFFFF">
              <a:alpha val="38000"/>
            </a:srgbClr>
          </a:solidFill>
          <a:ln/>
        </p:spPr>
        <p:txBody>
          <a:bodyPr/>
          <a:lstStyle/>
          <a:p>
            <a:endParaRPr lang="en-US"/>
          </a:p>
        </p:txBody>
      </p:sp>
      <p:sp>
        <p:nvSpPr>
          <p:cNvPr id="16" name="Shape 14"/>
          <p:cNvSpPr/>
          <p:nvPr/>
        </p:nvSpPr>
        <p:spPr>
          <a:xfrm>
            <a:off x="9696450" y="2263775"/>
            <a:ext cx="1809750" cy="647700"/>
          </a:xfrm>
          <a:prstGeom prst="roundRect">
            <a:avLst>
              <a:gd name="adj" fmla="val 5882"/>
            </a:avLst>
          </a:prstGeom>
          <a:solidFill>
            <a:srgbClr val="FFFFFF">
              <a:alpha val="7000"/>
            </a:srgbClr>
          </a:solidFill>
          <a:ln w="6350">
            <a:solidFill>
              <a:srgbClr val="FFFFFF">
                <a:alpha val="14000"/>
              </a:srgbClr>
            </a:solidFill>
            <a:prstDash val="solid"/>
          </a:ln>
        </p:spPr>
        <p:txBody>
          <a:bodyPr/>
          <a:lstStyle/>
          <a:p>
            <a:endParaRPr lang="en-US"/>
          </a:p>
        </p:txBody>
      </p:sp>
      <p:sp>
        <p:nvSpPr>
          <p:cNvPr id="17" name="Text 15"/>
          <p:cNvSpPr/>
          <p:nvPr/>
        </p:nvSpPr>
        <p:spPr>
          <a:xfrm>
            <a:off x="9855200" y="2422525"/>
            <a:ext cx="1568450" cy="368300"/>
          </a:xfrm>
          <a:prstGeom prst="rect">
            <a:avLst/>
          </a:prstGeom>
          <a:noFill/>
          <a:ln/>
        </p:spPr>
        <p:txBody>
          <a:bodyPr wrap="square" lIns="25400" tIns="25400" rIns="25400" bIns="25400" rtlCol="0" anchor="ctr">
            <a:normAutofit/>
          </a:bodyPr>
          <a:lstStyle/>
          <a:p>
            <a:pPr marL="0" indent="0" algn="l">
              <a:lnSpc>
                <a:spcPct val="130645"/>
              </a:lnSpc>
              <a:buNone/>
            </a:pPr>
            <a:r>
              <a:rPr lang="en-US" sz="1350" dirty="0">
                <a:solidFill>
                  <a:srgbClr val="FFFFFF"/>
                </a:solidFill>
                <a:latin typeface="Arial" pitchFamily="34" charset="0"/>
                <a:ea typeface="Arial" pitchFamily="34" charset="-122"/>
                <a:cs typeface="Arial" pitchFamily="34" charset="-120"/>
              </a:rPr>
              <a:t>Amadeus systems</a:t>
            </a:r>
            <a:endParaRPr lang="en-US" sz="1350" dirty="0"/>
          </a:p>
        </p:txBody>
      </p:sp>
      <p:sp>
        <p:nvSpPr>
          <p:cNvPr id="18" name="Text 16"/>
          <p:cNvSpPr/>
          <p:nvPr/>
        </p:nvSpPr>
        <p:spPr>
          <a:xfrm>
            <a:off x="685800" y="3536950"/>
            <a:ext cx="3030399" cy="598091"/>
          </a:xfrm>
          <a:prstGeom prst="rect">
            <a:avLst/>
          </a:prstGeom>
          <a:noFill/>
          <a:ln/>
        </p:spPr>
        <p:txBody>
          <a:bodyPr wrap="square" lIns="25400" tIns="25400" rIns="25400" bIns="25400" rtlCol="0" anchor="t">
            <a:normAutofit lnSpcReduction="10000"/>
          </a:bodyPr>
          <a:lstStyle/>
          <a:p>
            <a:pPr marL="0" indent="0" algn="l">
              <a:lnSpc>
                <a:spcPct val="90928"/>
              </a:lnSpc>
              <a:buNone/>
            </a:pPr>
            <a:r>
              <a:rPr lang="en-US" sz="4200" kern="0" spc="-84" dirty="0">
                <a:solidFill>
                  <a:srgbClr val="FFFFFF"/>
                </a:solidFill>
                <a:latin typeface="Arial" pitchFamily="34" charset="0"/>
                <a:ea typeface="Arial" pitchFamily="34" charset="-122"/>
                <a:cs typeface="Arial" pitchFamily="34" charset="-120"/>
              </a:rPr>
              <a:t>~1–2 weeks</a:t>
            </a:r>
            <a:endParaRPr lang="en-US" sz="4200" dirty="0"/>
          </a:p>
        </p:txBody>
      </p:sp>
      <p:sp>
        <p:nvSpPr>
          <p:cNvPr id="19" name="Shape 17"/>
          <p:cNvSpPr/>
          <p:nvPr/>
        </p:nvSpPr>
        <p:spPr>
          <a:xfrm>
            <a:off x="685800" y="4173141"/>
            <a:ext cx="2754908" cy="9525"/>
          </a:xfrm>
          <a:prstGeom prst="rect">
            <a:avLst/>
          </a:prstGeom>
          <a:solidFill>
            <a:srgbClr val="FFFFFF">
              <a:alpha val="14000"/>
            </a:srgbClr>
          </a:solidFill>
          <a:ln/>
        </p:spPr>
        <p:txBody>
          <a:bodyPr/>
          <a:lstStyle/>
          <a:p>
            <a:endParaRPr lang="en-US"/>
          </a:p>
        </p:txBody>
      </p:sp>
      <p:sp>
        <p:nvSpPr>
          <p:cNvPr id="20" name="Text 18"/>
          <p:cNvSpPr/>
          <p:nvPr/>
        </p:nvSpPr>
        <p:spPr>
          <a:xfrm>
            <a:off x="685800" y="4258866"/>
            <a:ext cx="3030399"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Delivery delay</a:t>
            </a:r>
            <a:endParaRPr lang="en-US" sz="975" dirty="0"/>
          </a:p>
        </p:txBody>
      </p:sp>
      <p:sp>
        <p:nvSpPr>
          <p:cNvPr id="21" name="Text 19"/>
          <p:cNvSpPr/>
          <p:nvPr/>
        </p:nvSpPr>
        <p:spPr>
          <a:xfrm>
            <a:off x="4355108" y="3536950"/>
            <a:ext cx="1235075" cy="598091"/>
          </a:xfrm>
          <a:prstGeom prst="rect">
            <a:avLst/>
          </a:prstGeom>
          <a:noFill/>
          <a:ln/>
        </p:spPr>
        <p:txBody>
          <a:bodyPr wrap="square" lIns="25400" tIns="25400" rIns="25400" bIns="25400" rtlCol="0" anchor="t">
            <a:normAutofit lnSpcReduction="10000"/>
          </a:bodyPr>
          <a:lstStyle/>
          <a:p>
            <a:pPr marL="0" indent="0" algn="l">
              <a:lnSpc>
                <a:spcPct val="90928"/>
              </a:lnSpc>
              <a:buNone/>
            </a:pPr>
            <a:r>
              <a:rPr lang="en-US" sz="4200" kern="0" spc="-84" dirty="0">
                <a:solidFill>
                  <a:srgbClr val="FFFFFF"/>
                </a:solidFill>
                <a:latin typeface="Arial" pitchFamily="34" charset="0"/>
                <a:ea typeface="Arial" pitchFamily="34" charset="-122"/>
                <a:cs typeface="Arial" pitchFamily="34" charset="-120"/>
              </a:rPr>
              <a:t>~$30</a:t>
            </a:r>
            <a:endParaRPr lang="en-US" sz="4200" dirty="0"/>
          </a:p>
        </p:txBody>
      </p:sp>
      <p:sp>
        <p:nvSpPr>
          <p:cNvPr id="22" name="Shape 20"/>
          <p:cNvSpPr/>
          <p:nvPr/>
        </p:nvSpPr>
        <p:spPr>
          <a:xfrm>
            <a:off x="4355108" y="4173141"/>
            <a:ext cx="1158875" cy="9525"/>
          </a:xfrm>
          <a:prstGeom prst="rect">
            <a:avLst/>
          </a:prstGeom>
          <a:solidFill>
            <a:srgbClr val="FFFFFF">
              <a:alpha val="14000"/>
            </a:srgbClr>
          </a:solidFill>
          <a:ln/>
        </p:spPr>
        <p:txBody>
          <a:bodyPr/>
          <a:lstStyle/>
          <a:p>
            <a:endParaRPr lang="en-US"/>
          </a:p>
        </p:txBody>
      </p:sp>
      <p:sp>
        <p:nvSpPr>
          <p:cNvPr id="23" name="Text 21"/>
          <p:cNvSpPr/>
          <p:nvPr/>
        </p:nvSpPr>
        <p:spPr>
          <a:xfrm>
            <a:off x="4355108" y="4258866"/>
            <a:ext cx="1235075"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per airline / period</a:t>
            </a:r>
            <a:endParaRPr lang="en-US" sz="975" dirty="0"/>
          </a:p>
        </p:txBody>
      </p:sp>
      <p:sp>
        <p:nvSpPr>
          <p:cNvPr id="24" name="Text 22"/>
          <p:cNvSpPr/>
          <p:nvPr/>
        </p:nvSpPr>
        <p:spPr>
          <a:xfrm>
            <a:off x="6428383" y="3536950"/>
            <a:ext cx="1470124" cy="598091"/>
          </a:xfrm>
          <a:prstGeom prst="rect">
            <a:avLst/>
          </a:prstGeom>
          <a:noFill/>
          <a:ln/>
        </p:spPr>
        <p:txBody>
          <a:bodyPr wrap="square" lIns="25400" tIns="25400" rIns="25400" bIns="25400" rtlCol="0" anchor="t">
            <a:normAutofit lnSpcReduction="10000"/>
          </a:bodyPr>
          <a:lstStyle/>
          <a:p>
            <a:pPr marL="0" indent="0" algn="l">
              <a:lnSpc>
                <a:spcPct val="90928"/>
              </a:lnSpc>
              <a:buNone/>
            </a:pPr>
            <a:r>
              <a:rPr lang="en-US" sz="4200" kern="0" spc="-84" dirty="0">
                <a:solidFill>
                  <a:srgbClr val="FFFFFF"/>
                </a:solidFill>
                <a:latin typeface="Arial" pitchFamily="34" charset="0"/>
                <a:ea typeface="Arial" pitchFamily="34" charset="-122"/>
                <a:cs typeface="Arial" pitchFamily="34" charset="-120"/>
              </a:rPr>
              <a:t>~95%</a:t>
            </a:r>
            <a:endParaRPr lang="en-US" sz="4200" dirty="0"/>
          </a:p>
        </p:txBody>
      </p:sp>
      <p:sp>
        <p:nvSpPr>
          <p:cNvPr id="25" name="Shape 23"/>
          <p:cNvSpPr/>
          <p:nvPr/>
        </p:nvSpPr>
        <p:spPr>
          <a:xfrm>
            <a:off x="6428383" y="4173141"/>
            <a:ext cx="1336477" cy="9525"/>
          </a:xfrm>
          <a:prstGeom prst="rect">
            <a:avLst/>
          </a:prstGeom>
          <a:solidFill>
            <a:srgbClr val="FFFFFF">
              <a:alpha val="14000"/>
            </a:srgbClr>
          </a:solidFill>
          <a:ln/>
        </p:spPr>
        <p:txBody>
          <a:bodyPr/>
          <a:lstStyle/>
          <a:p>
            <a:endParaRPr lang="en-US"/>
          </a:p>
        </p:txBody>
      </p:sp>
      <p:sp>
        <p:nvSpPr>
          <p:cNvPr id="26" name="Text 24"/>
          <p:cNvSpPr/>
          <p:nvPr/>
        </p:nvSpPr>
        <p:spPr>
          <a:xfrm>
            <a:off x="6428383" y="4258866"/>
            <a:ext cx="1470124"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estimated accuracy</a:t>
            </a:r>
            <a:endParaRPr lang="en-US" sz="975" dirty="0"/>
          </a:p>
        </p:txBody>
      </p:sp>
      <p:sp>
        <p:nvSpPr>
          <p:cNvPr id="27" name="Shape 25"/>
          <p:cNvSpPr/>
          <p:nvPr/>
        </p:nvSpPr>
        <p:spPr>
          <a:xfrm>
            <a:off x="685800" y="4668440"/>
            <a:ext cx="9650896" cy="1579959"/>
          </a:xfrm>
          <a:prstGeom prst="rect">
            <a:avLst/>
          </a:prstGeom>
          <a:solidFill>
            <a:srgbClr val="FFFFFF">
              <a:alpha val="7000"/>
            </a:srgbClr>
          </a:solidFill>
          <a:ln/>
        </p:spPr>
        <p:txBody>
          <a:bodyPr/>
          <a:lstStyle/>
          <a:p>
            <a:endParaRPr lang="en-US"/>
          </a:p>
        </p:txBody>
      </p:sp>
      <p:sp>
        <p:nvSpPr>
          <p:cNvPr id="28" name="Shape 26"/>
          <p:cNvSpPr/>
          <p:nvPr/>
        </p:nvSpPr>
        <p:spPr>
          <a:xfrm>
            <a:off x="914400" y="4968478"/>
            <a:ext cx="45719" cy="884634"/>
          </a:xfrm>
          <a:prstGeom prst="rect">
            <a:avLst/>
          </a:prstGeom>
          <a:solidFill>
            <a:srgbClr val="4E8BFF"/>
          </a:solidFill>
          <a:ln/>
        </p:spPr>
        <p:txBody>
          <a:bodyPr/>
          <a:lstStyle/>
          <a:p>
            <a:endParaRPr lang="en-US"/>
          </a:p>
        </p:txBody>
      </p:sp>
      <p:sp>
        <p:nvSpPr>
          <p:cNvPr id="29" name="Text 27"/>
          <p:cNvSpPr/>
          <p:nvPr/>
        </p:nvSpPr>
        <p:spPr>
          <a:xfrm>
            <a:off x="1095375" y="4716065"/>
            <a:ext cx="9061232" cy="1599009"/>
          </a:xfrm>
          <a:prstGeom prst="rect">
            <a:avLst/>
          </a:prstGeom>
          <a:noFill/>
          <a:ln/>
        </p:spPr>
        <p:txBody>
          <a:bodyPr wrap="square" lIns="25400" tIns="25400" rIns="25400" bIns="25400" rtlCol="0" anchor="t">
            <a:noAutofit/>
          </a:bodyPr>
          <a:lstStyle/>
          <a:p>
            <a:r>
              <a:rPr lang="en-US" sz="1400" dirty="0">
                <a:solidFill>
                  <a:srgbClr val="FFFFFF"/>
                </a:solidFill>
                <a:latin typeface="Arial" pitchFamily="34" charset="0"/>
                <a:ea typeface="Arial" pitchFamily="34" charset="-122"/>
                <a:cs typeface="Arial" pitchFamily="34" charset="-120"/>
              </a:rPr>
              <a:t>The objective was not simply to extract numbers from PDFs. It was to build a full internal process that comes with :</a:t>
            </a:r>
            <a:endParaRPr lang="en-US" sz="1400" dirty="0">
              <a:solidFill>
                <a:schemeClr val="bg1"/>
              </a:solidFill>
            </a:endParaRPr>
          </a:p>
          <a:p>
            <a:pPr marL="285750" indent="-285750">
              <a:buFont typeface="Arial" panose="020B0604020202020204" pitchFamily="34" charset="0"/>
              <a:buChar char="•"/>
            </a:pPr>
            <a:r>
              <a:rPr lang="en-US" sz="1400" dirty="0">
                <a:solidFill>
                  <a:schemeClr val="bg1"/>
                </a:solidFill>
              </a:rPr>
              <a:t>Transparency &amp; debuggability</a:t>
            </a:r>
            <a:r>
              <a:rPr lang="en-US" sz="1400" dirty="0"/>
              <a:t> </a:t>
            </a:r>
            <a:endParaRPr lang="en-US" sz="1400" dirty="0">
              <a:solidFill>
                <a:schemeClr val="bg1"/>
              </a:solidFill>
            </a:endParaRPr>
          </a:p>
          <a:p>
            <a:pPr marL="285750" indent="-285750">
              <a:buFont typeface="Arial" panose="020B0604020202020204" pitchFamily="34" charset="0"/>
              <a:buChar char="•"/>
            </a:pPr>
            <a:r>
              <a:rPr lang="en-US" sz="1400" dirty="0">
                <a:solidFill>
                  <a:schemeClr val="bg1"/>
                </a:solidFill>
              </a:rPr>
              <a:t>Lower cost &amp; Latency</a:t>
            </a:r>
          </a:p>
          <a:p>
            <a:pPr marL="285750" indent="-285750">
              <a:buFont typeface="Arial" panose="020B0604020202020204" pitchFamily="34" charset="0"/>
              <a:buChar char="•"/>
            </a:pPr>
            <a:r>
              <a:rPr lang="en-US" sz="1400" dirty="0">
                <a:solidFill>
                  <a:schemeClr val="bg1"/>
                </a:solidFill>
              </a:rPr>
              <a:t>Optimizable architecture</a:t>
            </a:r>
          </a:p>
          <a:p>
            <a:pPr marL="285750" indent="-285750">
              <a:buFont typeface="Arial" panose="020B0604020202020204" pitchFamily="34" charset="0"/>
              <a:buChar char="•"/>
            </a:pPr>
            <a:r>
              <a:rPr lang="en-US" sz="1400" dirty="0">
                <a:solidFill>
                  <a:schemeClr val="bg1"/>
                </a:solidFill>
              </a:rPr>
              <a:t>Scalability</a:t>
            </a:r>
            <a:endParaRPr lang="en-US" sz="1400" dirty="0"/>
          </a:p>
        </p:txBody>
      </p:sp>
      <p:pic>
        <p:nvPicPr>
          <p:cNvPr id="30"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31" name="Text 28"/>
          <p:cNvSpPr/>
          <p:nvPr/>
        </p:nvSpPr>
        <p:spPr>
          <a:xfrm>
            <a:off x="10746979" y="6253163"/>
            <a:ext cx="534392"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38000"/>
                  </a:srgbClr>
                </a:solidFill>
                <a:latin typeface="Arial" pitchFamily="34" charset="0"/>
                <a:ea typeface="Arial" pitchFamily="34" charset="-122"/>
                <a:cs typeface="Arial" pitchFamily="34" charset="-120"/>
              </a:rPr>
              <a:t>Context</a:t>
            </a:r>
            <a:endParaRPr lang="en-US" sz="975" dirty="0"/>
          </a:p>
        </p:txBody>
      </p:sp>
      <p:sp>
        <p:nvSpPr>
          <p:cNvPr id="32" name="Text 29"/>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02</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02 — SCOPE</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Sixteen financial KPIs, per airline, per reporting period</a:t>
            </a:r>
            <a:endParaRPr lang="en-US" sz="3000" dirty="0"/>
          </a:p>
        </p:txBody>
      </p:sp>
      <p:sp>
        <p:nvSpPr>
          <p:cNvPr id="5" name="Text 3"/>
          <p:cNvSpPr/>
          <p:nvPr/>
        </p:nvSpPr>
        <p:spPr>
          <a:xfrm>
            <a:off x="685800" y="1338263"/>
            <a:ext cx="11500039" cy="259060"/>
          </a:xfrm>
          <a:prstGeom prst="rect">
            <a:avLst/>
          </a:prstGeom>
          <a:noFill/>
          <a:ln/>
        </p:spPr>
        <p:txBody>
          <a:bodyPr wrap="square" lIns="25400" tIns="25400" rIns="25400" bIns="25400" rtlCol="0" anchor="t">
            <a:normAutofit lnSpcReduction="10000"/>
          </a:bodyPr>
          <a:lstStyle/>
          <a:p>
            <a:pPr marL="0" indent="0" algn="l">
              <a:lnSpc>
                <a:spcPct val="124286"/>
              </a:lnSpc>
              <a:buNone/>
            </a:pPr>
            <a:r>
              <a:rPr lang="en-US" sz="1200" dirty="0">
                <a:solidFill>
                  <a:srgbClr val="FFFFFF">
                    <a:alpha val="72000"/>
                  </a:srgbClr>
                </a:solidFill>
                <a:latin typeface="Arial" pitchFamily="34" charset="0"/>
                <a:ea typeface="Arial" pitchFamily="34" charset="-122"/>
                <a:cs typeface="Arial" pitchFamily="34" charset="-120"/>
              </a:rPr>
              <a:t>One output row is the full KPI set for one airline in one exact period. A single PDF may contain several periods and several airlines.</a:t>
            </a:r>
            <a:endParaRPr lang="en-US" sz="1200" dirty="0"/>
          </a:p>
        </p:txBody>
      </p:sp>
      <p:sp>
        <p:nvSpPr>
          <p:cNvPr id="6" name="Shape 4"/>
          <p:cNvSpPr/>
          <p:nvPr/>
        </p:nvSpPr>
        <p:spPr>
          <a:xfrm>
            <a:off x="685800" y="1711623"/>
            <a:ext cx="10820400" cy="9525"/>
          </a:xfrm>
          <a:prstGeom prst="rect">
            <a:avLst/>
          </a:prstGeom>
          <a:solidFill>
            <a:srgbClr val="FFFFFF">
              <a:alpha val="14000"/>
            </a:srgbClr>
          </a:solidFill>
          <a:ln/>
        </p:spPr>
        <p:txBody>
          <a:bodyPr/>
          <a:lstStyle/>
          <a:p>
            <a:endParaRPr lang="en-US"/>
          </a:p>
        </p:txBody>
      </p:sp>
      <p:sp>
        <p:nvSpPr>
          <p:cNvPr id="7" name="Text 5"/>
          <p:cNvSpPr/>
          <p:nvPr/>
        </p:nvSpPr>
        <p:spPr>
          <a:xfrm>
            <a:off x="685800" y="1930698"/>
            <a:ext cx="821436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IDENTITY</a:t>
            </a:r>
            <a:endParaRPr lang="en-US" sz="825" dirty="0"/>
          </a:p>
        </p:txBody>
      </p:sp>
      <p:sp>
        <p:nvSpPr>
          <p:cNvPr id="8" name="Shape 6"/>
          <p:cNvSpPr/>
          <p:nvPr/>
        </p:nvSpPr>
        <p:spPr>
          <a:xfrm>
            <a:off x="685800" y="2164060"/>
            <a:ext cx="481409"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9" name="Text 7"/>
          <p:cNvSpPr/>
          <p:nvPr/>
        </p:nvSpPr>
        <p:spPr>
          <a:xfrm>
            <a:off x="777875" y="2218035"/>
            <a:ext cx="373459"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year</a:t>
            </a:r>
            <a:endParaRPr lang="en-US" sz="975" dirty="0"/>
          </a:p>
        </p:txBody>
      </p:sp>
      <p:sp>
        <p:nvSpPr>
          <p:cNvPr id="10" name="Shape 8"/>
          <p:cNvSpPr/>
          <p:nvPr/>
        </p:nvSpPr>
        <p:spPr>
          <a:xfrm>
            <a:off x="1224359" y="2164060"/>
            <a:ext cx="100141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11" name="Text 9"/>
          <p:cNvSpPr/>
          <p:nvPr/>
        </p:nvSpPr>
        <p:spPr>
          <a:xfrm>
            <a:off x="1316434" y="2218035"/>
            <a:ext cx="89346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period_type</a:t>
            </a:r>
            <a:endParaRPr lang="en-US" sz="975" dirty="0"/>
          </a:p>
        </p:txBody>
      </p:sp>
      <p:sp>
        <p:nvSpPr>
          <p:cNvPr id="12" name="Shape 10"/>
          <p:cNvSpPr/>
          <p:nvPr/>
        </p:nvSpPr>
        <p:spPr>
          <a:xfrm>
            <a:off x="2282924" y="2164060"/>
            <a:ext cx="629940"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13" name="Text 11"/>
          <p:cNvSpPr/>
          <p:nvPr/>
        </p:nvSpPr>
        <p:spPr>
          <a:xfrm>
            <a:off x="2374999" y="2218035"/>
            <a:ext cx="521990"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period</a:t>
            </a:r>
            <a:endParaRPr lang="en-US" sz="975" dirty="0"/>
          </a:p>
        </p:txBody>
      </p:sp>
      <p:sp>
        <p:nvSpPr>
          <p:cNvPr id="14" name="Shape 12"/>
          <p:cNvSpPr/>
          <p:nvPr/>
        </p:nvSpPr>
        <p:spPr>
          <a:xfrm>
            <a:off x="2970014" y="2164060"/>
            <a:ext cx="100141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15" name="Text 13"/>
          <p:cNvSpPr/>
          <p:nvPr/>
        </p:nvSpPr>
        <p:spPr>
          <a:xfrm>
            <a:off x="3062089" y="2218035"/>
            <a:ext cx="89346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entity_code</a:t>
            </a:r>
            <a:endParaRPr lang="en-US" sz="975" dirty="0"/>
          </a:p>
        </p:txBody>
      </p:sp>
      <p:sp>
        <p:nvSpPr>
          <p:cNvPr id="16" name="Shape 14"/>
          <p:cNvSpPr/>
          <p:nvPr/>
        </p:nvSpPr>
        <p:spPr>
          <a:xfrm>
            <a:off x="4028579" y="2164060"/>
            <a:ext cx="100141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17" name="Text 15"/>
          <p:cNvSpPr/>
          <p:nvPr/>
        </p:nvSpPr>
        <p:spPr>
          <a:xfrm>
            <a:off x="4120654" y="2218035"/>
            <a:ext cx="89346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entity_name</a:t>
            </a:r>
            <a:endParaRPr lang="en-US" sz="975" dirty="0"/>
          </a:p>
        </p:txBody>
      </p:sp>
      <p:sp>
        <p:nvSpPr>
          <p:cNvPr id="18" name="Shape 16"/>
          <p:cNvSpPr/>
          <p:nvPr/>
        </p:nvSpPr>
        <p:spPr>
          <a:xfrm>
            <a:off x="5087144" y="2164060"/>
            <a:ext cx="852884"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19" name="Text 17"/>
          <p:cNvSpPr/>
          <p:nvPr/>
        </p:nvSpPr>
        <p:spPr>
          <a:xfrm>
            <a:off x="5179219" y="2218035"/>
            <a:ext cx="744934"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icao_code</a:t>
            </a:r>
            <a:endParaRPr lang="en-US" sz="975" dirty="0"/>
          </a:p>
        </p:txBody>
      </p:sp>
      <p:sp>
        <p:nvSpPr>
          <p:cNvPr id="20" name="Shape 18"/>
          <p:cNvSpPr/>
          <p:nvPr/>
        </p:nvSpPr>
        <p:spPr>
          <a:xfrm>
            <a:off x="5997178" y="2164060"/>
            <a:ext cx="852884"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21" name="Text 19"/>
          <p:cNvSpPr/>
          <p:nvPr/>
        </p:nvSpPr>
        <p:spPr>
          <a:xfrm>
            <a:off x="6089253" y="2218035"/>
            <a:ext cx="744934"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iata_code</a:t>
            </a:r>
            <a:endParaRPr lang="en-US" sz="975" dirty="0"/>
          </a:p>
        </p:txBody>
      </p:sp>
      <p:sp>
        <p:nvSpPr>
          <p:cNvPr id="22" name="Text 20"/>
          <p:cNvSpPr/>
          <p:nvPr/>
        </p:nvSpPr>
        <p:spPr>
          <a:xfrm>
            <a:off x="685800" y="2629198"/>
            <a:ext cx="821436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REVENUE</a:t>
            </a:r>
            <a:endParaRPr lang="en-US" sz="825" dirty="0"/>
          </a:p>
        </p:txBody>
      </p:sp>
      <p:sp>
        <p:nvSpPr>
          <p:cNvPr id="23" name="Shape 21"/>
          <p:cNvSpPr/>
          <p:nvPr/>
        </p:nvSpPr>
        <p:spPr>
          <a:xfrm>
            <a:off x="685800" y="2862560"/>
            <a:ext cx="144720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24" name="Text 22"/>
          <p:cNvSpPr/>
          <p:nvPr/>
        </p:nvSpPr>
        <p:spPr>
          <a:xfrm>
            <a:off x="777875" y="2916535"/>
            <a:ext cx="133925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passenger_revenue</a:t>
            </a:r>
            <a:endParaRPr lang="en-US" sz="975" dirty="0"/>
          </a:p>
        </p:txBody>
      </p:sp>
      <p:sp>
        <p:nvSpPr>
          <p:cNvPr id="25" name="Shape 23"/>
          <p:cNvSpPr/>
          <p:nvPr/>
        </p:nvSpPr>
        <p:spPr>
          <a:xfrm>
            <a:off x="2190155" y="2862560"/>
            <a:ext cx="115004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26" name="Text 24"/>
          <p:cNvSpPr/>
          <p:nvPr/>
        </p:nvSpPr>
        <p:spPr>
          <a:xfrm>
            <a:off x="2282230" y="2916535"/>
            <a:ext cx="104209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total_revenue</a:t>
            </a:r>
            <a:endParaRPr lang="en-US" sz="975" dirty="0"/>
          </a:p>
        </p:txBody>
      </p:sp>
      <p:sp>
        <p:nvSpPr>
          <p:cNvPr id="27" name="Text 25"/>
          <p:cNvSpPr/>
          <p:nvPr/>
        </p:nvSpPr>
        <p:spPr>
          <a:xfrm>
            <a:off x="685800" y="3327698"/>
            <a:ext cx="821436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TRAFFIC &amp; CAPACITY</a:t>
            </a:r>
            <a:endParaRPr lang="en-US" sz="825" dirty="0"/>
          </a:p>
        </p:txBody>
      </p:sp>
      <p:sp>
        <p:nvSpPr>
          <p:cNvPr id="28" name="Shape 26"/>
          <p:cNvSpPr/>
          <p:nvPr/>
        </p:nvSpPr>
        <p:spPr>
          <a:xfrm>
            <a:off x="685800" y="3561060"/>
            <a:ext cx="1670050"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29" name="Text 27"/>
          <p:cNvSpPr/>
          <p:nvPr/>
        </p:nvSpPr>
        <p:spPr>
          <a:xfrm>
            <a:off x="777875" y="3615035"/>
            <a:ext cx="1562100"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revenue_passenger_km</a:t>
            </a:r>
            <a:endParaRPr lang="en-US" sz="975" dirty="0"/>
          </a:p>
        </p:txBody>
      </p:sp>
      <p:sp>
        <p:nvSpPr>
          <p:cNvPr id="30" name="Shape 28"/>
          <p:cNvSpPr/>
          <p:nvPr/>
        </p:nvSpPr>
        <p:spPr>
          <a:xfrm>
            <a:off x="2413000" y="3561060"/>
            <a:ext cx="144720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31" name="Text 29"/>
          <p:cNvSpPr/>
          <p:nvPr/>
        </p:nvSpPr>
        <p:spPr>
          <a:xfrm>
            <a:off x="2505075" y="3615035"/>
            <a:ext cx="133925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available_seat_km</a:t>
            </a:r>
            <a:endParaRPr lang="en-US" sz="975" dirty="0"/>
          </a:p>
        </p:txBody>
      </p:sp>
      <p:sp>
        <p:nvSpPr>
          <p:cNvPr id="32" name="Text 30"/>
          <p:cNvSpPr/>
          <p:nvPr/>
        </p:nvSpPr>
        <p:spPr>
          <a:xfrm>
            <a:off x="685800" y="4026198"/>
            <a:ext cx="821436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UNIT ECONOMICS</a:t>
            </a:r>
            <a:endParaRPr lang="en-US" sz="825" dirty="0"/>
          </a:p>
        </p:txBody>
      </p:sp>
      <p:sp>
        <p:nvSpPr>
          <p:cNvPr id="33" name="Shape 31"/>
          <p:cNvSpPr/>
          <p:nvPr/>
        </p:nvSpPr>
        <p:spPr>
          <a:xfrm>
            <a:off x="685800" y="4259560"/>
            <a:ext cx="174436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34" name="Text 32"/>
          <p:cNvSpPr/>
          <p:nvPr/>
        </p:nvSpPr>
        <p:spPr>
          <a:xfrm>
            <a:off x="777875" y="4313535"/>
            <a:ext cx="163641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total_revenue_per_rpk</a:t>
            </a:r>
            <a:endParaRPr lang="en-US" sz="975" dirty="0"/>
          </a:p>
        </p:txBody>
      </p:sp>
      <p:sp>
        <p:nvSpPr>
          <p:cNvPr id="35" name="Shape 33"/>
          <p:cNvSpPr/>
          <p:nvPr/>
        </p:nvSpPr>
        <p:spPr>
          <a:xfrm>
            <a:off x="2487315" y="4259560"/>
            <a:ext cx="204152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36" name="Text 34"/>
          <p:cNvSpPr/>
          <p:nvPr/>
        </p:nvSpPr>
        <p:spPr>
          <a:xfrm>
            <a:off x="2579390" y="4313535"/>
            <a:ext cx="193357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passenger_revenue_per_rpk</a:t>
            </a:r>
            <a:endParaRPr lang="en-US" sz="975" dirty="0"/>
          </a:p>
        </p:txBody>
      </p:sp>
      <p:sp>
        <p:nvSpPr>
          <p:cNvPr id="37" name="Shape 35"/>
          <p:cNvSpPr/>
          <p:nvPr/>
        </p:nvSpPr>
        <p:spPr>
          <a:xfrm>
            <a:off x="4585990" y="4259560"/>
            <a:ext cx="204152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38" name="Text 36"/>
          <p:cNvSpPr/>
          <p:nvPr/>
        </p:nvSpPr>
        <p:spPr>
          <a:xfrm>
            <a:off x="4678065" y="4313535"/>
            <a:ext cx="193357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passenger_revenue_per_ask</a:t>
            </a:r>
            <a:endParaRPr lang="en-US" sz="975" dirty="0"/>
          </a:p>
        </p:txBody>
      </p:sp>
      <p:sp>
        <p:nvSpPr>
          <p:cNvPr id="39" name="Shape 37"/>
          <p:cNvSpPr/>
          <p:nvPr/>
        </p:nvSpPr>
        <p:spPr>
          <a:xfrm>
            <a:off x="685800" y="4610398"/>
            <a:ext cx="1744365"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40" name="Text 38"/>
          <p:cNvSpPr/>
          <p:nvPr/>
        </p:nvSpPr>
        <p:spPr>
          <a:xfrm>
            <a:off x="777875" y="4664373"/>
            <a:ext cx="1636415"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total_revenue_per_ask</a:t>
            </a:r>
            <a:endParaRPr lang="en-US" sz="975" dirty="0"/>
          </a:p>
        </p:txBody>
      </p:sp>
      <p:sp>
        <p:nvSpPr>
          <p:cNvPr id="41" name="Shape 39"/>
          <p:cNvSpPr/>
          <p:nvPr/>
        </p:nvSpPr>
        <p:spPr>
          <a:xfrm>
            <a:off x="2487315" y="4610398"/>
            <a:ext cx="1521520" cy="293688"/>
          </a:xfrm>
          <a:prstGeom prst="roundRect">
            <a:avLst>
              <a:gd name="adj" fmla="val 12973"/>
            </a:avLst>
          </a:prstGeom>
          <a:solidFill>
            <a:srgbClr val="FFFFFF">
              <a:alpha val="7000"/>
            </a:srgbClr>
          </a:solidFill>
          <a:ln w="6350">
            <a:solidFill>
              <a:srgbClr val="FFFFFF">
                <a:alpha val="14000"/>
              </a:srgbClr>
            </a:solidFill>
            <a:prstDash val="solid"/>
          </a:ln>
        </p:spPr>
        <p:txBody>
          <a:bodyPr/>
          <a:lstStyle/>
          <a:p>
            <a:endParaRPr lang="en-US"/>
          </a:p>
        </p:txBody>
      </p:sp>
      <p:sp>
        <p:nvSpPr>
          <p:cNvPr id="42" name="Text 40"/>
          <p:cNvSpPr/>
          <p:nvPr/>
        </p:nvSpPr>
        <p:spPr>
          <a:xfrm>
            <a:off x="2579390" y="4664373"/>
            <a:ext cx="1413570" cy="223837"/>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72000"/>
                  </a:srgbClr>
                </a:solidFill>
                <a:latin typeface="Courier New" pitchFamily="34" charset="0"/>
                <a:ea typeface="Courier New" pitchFamily="34" charset="-122"/>
                <a:cs typeface="Courier New" pitchFamily="34" charset="-120"/>
              </a:rPr>
              <a:t>total_cost_per_ask</a:t>
            </a:r>
            <a:endParaRPr lang="en-US" sz="975" dirty="0"/>
          </a:p>
        </p:txBody>
      </p:sp>
      <p:sp>
        <p:nvSpPr>
          <p:cNvPr id="43" name="Shape 41"/>
          <p:cNvSpPr/>
          <p:nvPr/>
        </p:nvSpPr>
        <p:spPr>
          <a:xfrm>
            <a:off x="8458200" y="1930698"/>
            <a:ext cx="3048000" cy="3312517"/>
          </a:xfrm>
          <a:prstGeom prst="roundRect">
            <a:avLst>
              <a:gd name="adj" fmla="val 1250"/>
            </a:avLst>
          </a:prstGeom>
          <a:solidFill>
            <a:srgbClr val="FFFFFF">
              <a:alpha val="7000"/>
            </a:srgbClr>
          </a:solidFill>
          <a:ln w="6350">
            <a:solidFill>
              <a:srgbClr val="FFFFFF">
                <a:alpha val="14000"/>
              </a:srgbClr>
            </a:solidFill>
            <a:prstDash val="solid"/>
          </a:ln>
        </p:spPr>
        <p:txBody>
          <a:bodyPr/>
          <a:lstStyle/>
          <a:p>
            <a:endParaRPr lang="en-US"/>
          </a:p>
        </p:txBody>
      </p:sp>
      <p:sp>
        <p:nvSpPr>
          <p:cNvPr id="44" name="Text 42"/>
          <p:cNvSpPr/>
          <p:nvPr/>
        </p:nvSpPr>
        <p:spPr>
          <a:xfrm>
            <a:off x="8674100" y="2127548"/>
            <a:ext cx="287782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PERIOD TYPES</a:t>
            </a:r>
            <a:endParaRPr lang="en-US" sz="825" dirty="0"/>
          </a:p>
        </p:txBody>
      </p:sp>
      <p:sp>
        <p:nvSpPr>
          <p:cNvPr id="45" name="Shape 43"/>
          <p:cNvSpPr/>
          <p:nvPr/>
        </p:nvSpPr>
        <p:spPr>
          <a:xfrm>
            <a:off x="8674100" y="24180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46" name="Text 44"/>
          <p:cNvSpPr/>
          <p:nvPr/>
        </p:nvSpPr>
        <p:spPr>
          <a:xfrm>
            <a:off x="8813800" y="25006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Q1</a:t>
            </a:r>
            <a:endParaRPr lang="en-US" sz="1200" dirty="0"/>
          </a:p>
        </p:txBody>
      </p:sp>
      <p:sp>
        <p:nvSpPr>
          <p:cNvPr id="47" name="Shape 45"/>
          <p:cNvSpPr/>
          <p:nvPr/>
        </p:nvSpPr>
        <p:spPr>
          <a:xfrm>
            <a:off x="9212660" y="24180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48" name="Text 46"/>
          <p:cNvSpPr/>
          <p:nvPr/>
        </p:nvSpPr>
        <p:spPr>
          <a:xfrm>
            <a:off x="9352360" y="25006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Q2</a:t>
            </a:r>
            <a:endParaRPr lang="en-US" sz="1200" dirty="0"/>
          </a:p>
        </p:txBody>
      </p:sp>
      <p:sp>
        <p:nvSpPr>
          <p:cNvPr id="49" name="Shape 47"/>
          <p:cNvSpPr/>
          <p:nvPr/>
        </p:nvSpPr>
        <p:spPr>
          <a:xfrm>
            <a:off x="9751219" y="24180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50" name="Text 48"/>
          <p:cNvSpPr/>
          <p:nvPr/>
        </p:nvSpPr>
        <p:spPr>
          <a:xfrm>
            <a:off x="9890919" y="25006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Q3</a:t>
            </a:r>
            <a:endParaRPr lang="en-US" sz="1200" dirty="0"/>
          </a:p>
        </p:txBody>
      </p:sp>
      <p:sp>
        <p:nvSpPr>
          <p:cNvPr id="51" name="Shape 49"/>
          <p:cNvSpPr/>
          <p:nvPr/>
        </p:nvSpPr>
        <p:spPr>
          <a:xfrm>
            <a:off x="10289779" y="24180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52" name="Text 50"/>
          <p:cNvSpPr/>
          <p:nvPr/>
        </p:nvSpPr>
        <p:spPr>
          <a:xfrm>
            <a:off x="10429479" y="25006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Q4</a:t>
            </a:r>
            <a:endParaRPr lang="en-US" sz="1200" dirty="0"/>
          </a:p>
        </p:txBody>
      </p:sp>
      <p:sp>
        <p:nvSpPr>
          <p:cNvPr id="53" name="Shape 51"/>
          <p:cNvSpPr/>
          <p:nvPr/>
        </p:nvSpPr>
        <p:spPr>
          <a:xfrm>
            <a:off x="8674100" y="28879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54" name="Text 52"/>
          <p:cNvSpPr/>
          <p:nvPr/>
        </p:nvSpPr>
        <p:spPr>
          <a:xfrm>
            <a:off x="8813800" y="29705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H1</a:t>
            </a:r>
            <a:endParaRPr lang="en-US" sz="1200" dirty="0"/>
          </a:p>
        </p:txBody>
      </p:sp>
      <p:sp>
        <p:nvSpPr>
          <p:cNvPr id="55" name="Shape 53"/>
          <p:cNvSpPr/>
          <p:nvPr/>
        </p:nvSpPr>
        <p:spPr>
          <a:xfrm>
            <a:off x="9212660" y="2887960"/>
            <a:ext cx="462359"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56" name="Text 54"/>
          <p:cNvSpPr/>
          <p:nvPr/>
        </p:nvSpPr>
        <p:spPr>
          <a:xfrm>
            <a:off x="9352360" y="2970510"/>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H2</a:t>
            </a:r>
            <a:endParaRPr lang="en-US" sz="1200" dirty="0"/>
          </a:p>
        </p:txBody>
      </p:sp>
      <p:sp>
        <p:nvSpPr>
          <p:cNvPr id="57" name="Shape 55"/>
          <p:cNvSpPr/>
          <p:nvPr/>
        </p:nvSpPr>
        <p:spPr>
          <a:xfrm>
            <a:off x="9751219" y="2887960"/>
            <a:ext cx="828080" cy="393700"/>
          </a:xfrm>
          <a:prstGeom prst="roundRect">
            <a:avLst>
              <a:gd name="adj" fmla="val 9677"/>
            </a:avLst>
          </a:prstGeom>
          <a:solidFill>
            <a:srgbClr val="4E8BFF">
              <a:alpha val="14000"/>
            </a:srgbClr>
          </a:solidFill>
          <a:ln w="6350">
            <a:solidFill>
              <a:srgbClr val="4E8BFF"/>
            </a:solidFill>
            <a:prstDash val="solid"/>
          </a:ln>
        </p:spPr>
        <p:txBody>
          <a:bodyPr/>
          <a:lstStyle/>
          <a:p>
            <a:endParaRPr lang="en-US"/>
          </a:p>
        </p:txBody>
      </p:sp>
      <p:sp>
        <p:nvSpPr>
          <p:cNvPr id="58" name="Text 56"/>
          <p:cNvSpPr/>
          <p:nvPr/>
        </p:nvSpPr>
        <p:spPr>
          <a:xfrm>
            <a:off x="9890919" y="2970510"/>
            <a:ext cx="624880"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Annual</a:t>
            </a:r>
            <a:endParaRPr lang="en-US" sz="1200" dirty="0"/>
          </a:p>
        </p:txBody>
      </p:sp>
      <p:sp>
        <p:nvSpPr>
          <p:cNvPr id="59" name="Text 57"/>
          <p:cNvSpPr/>
          <p:nvPr/>
        </p:nvSpPr>
        <p:spPr>
          <a:xfrm>
            <a:off x="8674100" y="3415010"/>
            <a:ext cx="2694686" cy="89138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72000"/>
                  </a:srgbClr>
                </a:solidFill>
                <a:latin typeface="Arial" pitchFamily="34" charset="0"/>
                <a:ea typeface="Arial" pitchFamily="34" charset="-122"/>
                <a:cs typeface="Arial" pitchFamily="34" charset="-120"/>
              </a:rPr>
              <a:t>H1 and H2 are the semi-annual periods. Each row states its own period type, so quarterly and cumulative figures are never mixed.</a:t>
            </a:r>
            <a:endParaRPr lang="en-US" sz="1200" dirty="0"/>
          </a:p>
        </p:txBody>
      </p:sp>
      <p:sp>
        <p:nvSpPr>
          <p:cNvPr id="60" name="Text 58"/>
          <p:cNvSpPr/>
          <p:nvPr/>
        </p:nvSpPr>
        <p:spPr>
          <a:xfrm>
            <a:off x="8674100" y="4674890"/>
            <a:ext cx="2694686" cy="409575"/>
          </a:xfrm>
          <a:prstGeom prst="rect">
            <a:avLst/>
          </a:prstGeom>
          <a:noFill/>
          <a:ln/>
        </p:spPr>
        <p:txBody>
          <a:bodyPr wrap="square" lIns="25400" tIns="25400" rIns="25400" bIns="25400" rtlCol="0" anchor="t">
            <a:normAutofit lnSpcReduction="10000"/>
          </a:bodyPr>
          <a:lstStyle/>
          <a:p>
            <a:pPr marL="0" indent="0" algn="l">
              <a:lnSpc>
                <a:spcPct val="132955"/>
              </a:lnSpc>
              <a:buNone/>
            </a:pPr>
            <a:r>
              <a:rPr lang="en-US" sz="975" dirty="0">
                <a:solidFill>
                  <a:srgbClr val="FFFFFF">
                    <a:alpha val="55000"/>
                  </a:srgbClr>
                </a:solidFill>
                <a:latin typeface="Courier New" pitchFamily="34" charset="0"/>
                <a:ea typeface="Courier New" pitchFamily="34" charset="-122"/>
                <a:cs typeface="Courier New" pitchFamily="34" charset="-120"/>
              </a:rPr>
              <a:t>caret-delimited output, one row per entity × period</a:t>
            </a:r>
            <a:endParaRPr lang="en-US" sz="975" dirty="0"/>
          </a:p>
        </p:txBody>
      </p:sp>
      <p:sp>
        <p:nvSpPr>
          <p:cNvPr id="61" name="Shape 59"/>
          <p:cNvSpPr/>
          <p:nvPr/>
        </p:nvSpPr>
        <p:spPr>
          <a:xfrm>
            <a:off x="685800" y="5414665"/>
            <a:ext cx="10820400" cy="686098"/>
          </a:xfrm>
          <a:prstGeom prst="roundRect">
            <a:avLst>
              <a:gd name="adj" fmla="val 5553"/>
            </a:avLst>
          </a:prstGeom>
          <a:solidFill>
            <a:srgbClr val="FFFFFF">
              <a:alpha val="7000"/>
            </a:srgbClr>
          </a:solidFill>
          <a:ln w="6350">
            <a:solidFill>
              <a:srgbClr val="FFFFFF">
                <a:alpha val="14000"/>
              </a:srgbClr>
            </a:solidFill>
            <a:prstDash val="solid"/>
          </a:ln>
        </p:spPr>
        <p:txBody>
          <a:bodyPr/>
          <a:lstStyle/>
          <a:p>
            <a:endParaRPr lang="en-US"/>
          </a:p>
        </p:txBody>
      </p:sp>
      <p:sp>
        <p:nvSpPr>
          <p:cNvPr id="62" name="Text 60"/>
          <p:cNvSpPr/>
          <p:nvPr/>
        </p:nvSpPr>
        <p:spPr>
          <a:xfrm>
            <a:off x="863600" y="5554365"/>
            <a:ext cx="11511281"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EXAMPLE OUTPUT ROW</a:t>
            </a:r>
            <a:endParaRPr lang="en-US" sz="825" dirty="0"/>
          </a:p>
        </p:txBody>
      </p:sp>
      <p:sp>
        <p:nvSpPr>
          <p:cNvPr id="63" name="Text 61"/>
          <p:cNvSpPr/>
          <p:nvPr/>
        </p:nvSpPr>
        <p:spPr>
          <a:xfrm>
            <a:off x="863600" y="5787728"/>
            <a:ext cx="11511281" cy="211435"/>
          </a:xfrm>
          <a:prstGeom prst="rect">
            <a:avLst/>
          </a:prstGeom>
          <a:noFill/>
          <a:ln/>
        </p:spPr>
        <p:txBody>
          <a:bodyPr wrap="square" lIns="25400" tIns="25400" rIns="25400" bIns="25400" rtlCol="0" anchor="t">
            <a:noAutofit/>
          </a:bodyPr>
          <a:lstStyle/>
          <a:p>
            <a:pPr marL="0" indent="0" algn="l">
              <a:lnSpc>
                <a:spcPct val="124091"/>
              </a:lnSpc>
              <a:buNone/>
            </a:pPr>
            <a:r>
              <a:rPr lang="en-US" sz="1200" dirty="0">
                <a:solidFill>
                  <a:srgbClr val="FFFFFF"/>
                </a:solidFill>
                <a:latin typeface="Courier New" pitchFamily="34" charset="0"/>
                <a:ea typeface="Courier New" pitchFamily="34" charset="-122"/>
                <a:cs typeface="Courier New" pitchFamily="34" charset="-120"/>
              </a:rPr>
              <a:t>2022^SemiAnnual^H1^KLM^KLM^KLM^KL^3115^4685^37264^12.57^8.36^46777^6.66^10.02^9.45</a:t>
            </a:r>
            <a:endParaRPr lang="en-US" sz="1200" dirty="0"/>
          </a:p>
        </p:txBody>
      </p:sp>
      <p:pic>
        <p:nvPicPr>
          <p:cNvPr id="64"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65" name="Text 62"/>
          <p:cNvSpPr/>
          <p:nvPr/>
        </p:nvSpPr>
        <p:spPr>
          <a:xfrm>
            <a:off x="10833696" y="6253163"/>
            <a:ext cx="447675"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Scope</a:t>
            </a:r>
            <a:endParaRPr lang="en-US" sz="975" dirty="0"/>
          </a:p>
        </p:txBody>
      </p:sp>
      <p:sp>
        <p:nvSpPr>
          <p:cNvPr id="66" name="Text 63"/>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03</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6096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03 — PROBLEM</a:t>
            </a:r>
            <a:endParaRPr lang="en-US" sz="825" dirty="0"/>
          </a:p>
        </p:txBody>
      </p:sp>
      <p:sp>
        <p:nvSpPr>
          <p:cNvPr id="4" name="Text 2"/>
          <p:cNvSpPr/>
          <p:nvPr/>
        </p:nvSpPr>
        <p:spPr>
          <a:xfrm>
            <a:off x="685800" y="8810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Why financial reports are hard to automate</a:t>
            </a:r>
            <a:endParaRPr lang="en-US" sz="3000" dirty="0"/>
          </a:p>
        </p:txBody>
      </p:sp>
      <p:sp>
        <p:nvSpPr>
          <p:cNvPr id="5" name="Shape 3"/>
          <p:cNvSpPr/>
          <p:nvPr/>
        </p:nvSpPr>
        <p:spPr>
          <a:xfrm>
            <a:off x="685800" y="150971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824038"/>
            <a:ext cx="3454400" cy="1714500"/>
          </a:xfrm>
          <a:prstGeom prst="roundRect">
            <a:avLst>
              <a:gd name="adj" fmla="val 2222"/>
            </a:avLst>
          </a:prstGeom>
          <a:solidFill>
            <a:srgbClr val="FFFFFF">
              <a:alpha val="7000"/>
            </a:srgbClr>
          </a:solidFill>
          <a:ln w="6350">
            <a:solidFill>
              <a:srgbClr val="FFFFFF">
                <a:alpha val="14000"/>
              </a:srgbClr>
            </a:solidFill>
            <a:prstDash val="solid"/>
          </a:ln>
        </p:spPr>
        <p:txBody>
          <a:bodyPr/>
          <a:lstStyle/>
          <a:p>
            <a:endParaRPr lang="en-US"/>
          </a:p>
        </p:txBody>
      </p:sp>
      <p:sp>
        <p:nvSpPr>
          <p:cNvPr id="7" name="Text 5"/>
          <p:cNvSpPr/>
          <p:nvPr/>
        </p:nvSpPr>
        <p:spPr>
          <a:xfrm>
            <a:off x="920750" y="20208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01</a:t>
            </a:r>
            <a:endParaRPr lang="en-US" sz="975" dirty="0"/>
          </a:p>
        </p:txBody>
      </p:sp>
      <p:sp>
        <p:nvSpPr>
          <p:cNvPr id="8" name="Text 6"/>
          <p:cNvSpPr/>
          <p:nvPr/>
        </p:nvSpPr>
        <p:spPr>
          <a:xfrm>
            <a:off x="920750" y="22828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Heterogeneous reports</a:t>
            </a:r>
            <a:endParaRPr lang="en-US" sz="1650" dirty="0"/>
          </a:p>
        </p:txBody>
      </p:sp>
      <p:sp>
        <p:nvSpPr>
          <p:cNvPr id="9" name="Text 7"/>
          <p:cNvSpPr/>
          <p:nvPr/>
        </p:nvSpPr>
        <p:spPr>
          <a:xfrm>
            <a:off x="920750" y="2620963"/>
            <a:ext cx="3074035"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55000"/>
                  </a:srgbClr>
                </a:solidFill>
                <a:latin typeface="Arial" pitchFamily="34" charset="0"/>
                <a:ea typeface="Arial" pitchFamily="34" charset="-122"/>
                <a:cs typeface="Arial" pitchFamily="34" charset="-120"/>
              </a:rPr>
              <a:t>Different layouts, terminology and structures across airlines.</a:t>
            </a:r>
            <a:endParaRPr lang="en-US" sz="1200" dirty="0"/>
          </a:p>
        </p:txBody>
      </p:sp>
      <p:sp>
        <p:nvSpPr>
          <p:cNvPr id="10" name="Shape 8"/>
          <p:cNvSpPr/>
          <p:nvPr/>
        </p:nvSpPr>
        <p:spPr>
          <a:xfrm>
            <a:off x="4368800" y="1824038"/>
            <a:ext cx="3454400" cy="1714500"/>
          </a:xfrm>
          <a:prstGeom prst="roundRect">
            <a:avLst>
              <a:gd name="adj" fmla="val 2222"/>
            </a:avLst>
          </a:prstGeom>
          <a:solidFill>
            <a:srgbClr val="FFFFFF">
              <a:alpha val="7000"/>
            </a:srgbClr>
          </a:solidFill>
          <a:ln w="6350">
            <a:solidFill>
              <a:srgbClr val="FFFFFF">
                <a:alpha val="14000"/>
              </a:srgbClr>
            </a:solidFill>
            <a:prstDash val="solid"/>
          </a:ln>
        </p:spPr>
        <p:txBody>
          <a:bodyPr/>
          <a:lstStyle/>
          <a:p>
            <a:endParaRPr lang="en-US"/>
          </a:p>
        </p:txBody>
      </p:sp>
      <p:sp>
        <p:nvSpPr>
          <p:cNvPr id="11" name="Text 9"/>
          <p:cNvSpPr/>
          <p:nvPr/>
        </p:nvSpPr>
        <p:spPr>
          <a:xfrm>
            <a:off x="4603750" y="20208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02</a:t>
            </a:r>
            <a:endParaRPr lang="en-US" sz="975" dirty="0"/>
          </a:p>
        </p:txBody>
      </p:sp>
      <p:sp>
        <p:nvSpPr>
          <p:cNvPr id="12" name="Text 10"/>
          <p:cNvSpPr/>
          <p:nvPr/>
        </p:nvSpPr>
        <p:spPr>
          <a:xfrm>
            <a:off x="4603750" y="22828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Long documents</a:t>
            </a:r>
            <a:endParaRPr lang="en-US" sz="1650" dirty="0"/>
          </a:p>
        </p:txBody>
      </p:sp>
      <p:sp>
        <p:nvSpPr>
          <p:cNvPr id="13" name="Text 11"/>
          <p:cNvSpPr/>
          <p:nvPr/>
        </p:nvSpPr>
        <p:spPr>
          <a:xfrm>
            <a:off x="4603750" y="2620963"/>
            <a:ext cx="3074035"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55000"/>
                  </a:srgbClr>
                </a:solidFill>
                <a:latin typeface="Arial" pitchFamily="34" charset="0"/>
                <a:ea typeface="Arial" pitchFamily="34" charset="-122"/>
                <a:cs typeface="Arial" pitchFamily="34" charset="-120"/>
              </a:rPr>
              <a:t>Relevant information may be spread across hundreds of pages.</a:t>
            </a:r>
            <a:endParaRPr lang="en-US" sz="1200" dirty="0"/>
          </a:p>
        </p:txBody>
      </p:sp>
      <p:sp>
        <p:nvSpPr>
          <p:cNvPr id="14" name="Shape 12"/>
          <p:cNvSpPr/>
          <p:nvPr/>
        </p:nvSpPr>
        <p:spPr>
          <a:xfrm>
            <a:off x="8051800" y="1824038"/>
            <a:ext cx="3454400" cy="1714500"/>
          </a:xfrm>
          <a:prstGeom prst="roundRect">
            <a:avLst>
              <a:gd name="adj" fmla="val 2222"/>
            </a:avLst>
          </a:prstGeom>
          <a:solidFill>
            <a:srgbClr val="FFFFFF">
              <a:alpha val="7000"/>
            </a:srgbClr>
          </a:solidFill>
          <a:ln w="6350">
            <a:solidFill>
              <a:srgbClr val="FFFFFF">
                <a:alpha val="14000"/>
              </a:srgbClr>
            </a:solidFill>
            <a:prstDash val="solid"/>
          </a:ln>
        </p:spPr>
        <p:txBody>
          <a:bodyPr/>
          <a:lstStyle/>
          <a:p>
            <a:endParaRPr lang="en-US"/>
          </a:p>
        </p:txBody>
      </p:sp>
      <p:sp>
        <p:nvSpPr>
          <p:cNvPr id="15" name="Text 13"/>
          <p:cNvSpPr/>
          <p:nvPr/>
        </p:nvSpPr>
        <p:spPr>
          <a:xfrm>
            <a:off x="8286750" y="20208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03</a:t>
            </a:r>
            <a:endParaRPr lang="en-US" sz="975" dirty="0"/>
          </a:p>
        </p:txBody>
      </p:sp>
      <p:sp>
        <p:nvSpPr>
          <p:cNvPr id="16" name="Text 14"/>
          <p:cNvSpPr/>
          <p:nvPr/>
        </p:nvSpPr>
        <p:spPr>
          <a:xfrm>
            <a:off x="8286750" y="22828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Multimodal information</a:t>
            </a:r>
            <a:endParaRPr lang="en-US" sz="1650" dirty="0"/>
          </a:p>
        </p:txBody>
      </p:sp>
      <p:sp>
        <p:nvSpPr>
          <p:cNvPr id="17" name="Text 15"/>
          <p:cNvSpPr/>
          <p:nvPr/>
        </p:nvSpPr>
        <p:spPr>
          <a:xfrm>
            <a:off x="8286750" y="2620963"/>
            <a:ext cx="3074035" cy="464741"/>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alpha val="55000"/>
                  </a:srgbClr>
                </a:solidFill>
                <a:latin typeface="Arial" pitchFamily="34" charset="0"/>
                <a:ea typeface="Arial" pitchFamily="34" charset="-122"/>
                <a:cs typeface="Arial" pitchFamily="34" charset="-120"/>
              </a:rPr>
              <a:t>Text, tables, footnotes and scanned content.</a:t>
            </a:r>
            <a:endParaRPr lang="en-US" sz="1200" dirty="0"/>
          </a:p>
        </p:txBody>
      </p:sp>
      <p:sp>
        <p:nvSpPr>
          <p:cNvPr id="18" name="Shape 16"/>
          <p:cNvSpPr/>
          <p:nvPr/>
        </p:nvSpPr>
        <p:spPr>
          <a:xfrm>
            <a:off x="685800" y="3767138"/>
            <a:ext cx="3454400" cy="1714500"/>
          </a:xfrm>
          <a:prstGeom prst="roundRect">
            <a:avLst>
              <a:gd name="adj" fmla="val 2222"/>
            </a:avLst>
          </a:prstGeom>
          <a:solidFill>
            <a:srgbClr val="FFFFFF">
              <a:alpha val="7000"/>
            </a:srgbClr>
          </a:solidFill>
          <a:ln w="6350">
            <a:solidFill>
              <a:srgbClr val="FFFFFF">
                <a:alpha val="14000"/>
              </a:srgbClr>
            </a:solidFill>
            <a:prstDash val="solid"/>
          </a:ln>
        </p:spPr>
        <p:txBody>
          <a:bodyPr/>
          <a:lstStyle/>
          <a:p>
            <a:endParaRPr lang="en-US"/>
          </a:p>
        </p:txBody>
      </p:sp>
      <p:sp>
        <p:nvSpPr>
          <p:cNvPr id="19" name="Text 17"/>
          <p:cNvSpPr/>
          <p:nvPr/>
        </p:nvSpPr>
        <p:spPr>
          <a:xfrm>
            <a:off x="920750" y="39639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04</a:t>
            </a:r>
            <a:endParaRPr lang="en-US" sz="975" dirty="0"/>
          </a:p>
        </p:txBody>
      </p:sp>
      <p:sp>
        <p:nvSpPr>
          <p:cNvPr id="20" name="Text 18"/>
          <p:cNvSpPr/>
          <p:nvPr/>
        </p:nvSpPr>
        <p:spPr>
          <a:xfrm>
            <a:off x="920750" y="42259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Distributed information</a:t>
            </a:r>
            <a:endParaRPr lang="en-US" sz="1650" dirty="0"/>
          </a:p>
        </p:txBody>
      </p:sp>
      <p:sp>
        <p:nvSpPr>
          <p:cNvPr id="21" name="Text 19"/>
          <p:cNvSpPr/>
          <p:nvPr/>
        </p:nvSpPr>
        <p:spPr>
          <a:xfrm>
            <a:off x="920750" y="4564063"/>
            <a:ext cx="3074035"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55000"/>
                  </a:srgbClr>
                </a:solidFill>
                <a:latin typeface="Arial" pitchFamily="34" charset="0"/>
                <a:ea typeface="Arial" pitchFamily="34" charset="-122"/>
                <a:cs typeface="Arial" pitchFamily="34" charset="-120"/>
              </a:rPr>
              <a:t>The variables required for one KPI may appear in different sections.</a:t>
            </a:r>
            <a:endParaRPr lang="en-US" sz="1200" dirty="0"/>
          </a:p>
        </p:txBody>
      </p:sp>
      <p:sp>
        <p:nvSpPr>
          <p:cNvPr id="22" name="Shape 20"/>
          <p:cNvSpPr/>
          <p:nvPr/>
        </p:nvSpPr>
        <p:spPr>
          <a:xfrm>
            <a:off x="4368800" y="3767138"/>
            <a:ext cx="3454400" cy="1714500"/>
          </a:xfrm>
          <a:prstGeom prst="roundRect">
            <a:avLst>
              <a:gd name="adj" fmla="val 2222"/>
            </a:avLst>
          </a:prstGeom>
          <a:solidFill>
            <a:srgbClr val="FFFFFF">
              <a:alpha val="7000"/>
            </a:srgbClr>
          </a:solidFill>
          <a:ln w="6350">
            <a:solidFill>
              <a:srgbClr val="FFFFFF">
                <a:alpha val="14000"/>
              </a:srgbClr>
            </a:solidFill>
            <a:prstDash val="solid"/>
          </a:ln>
        </p:spPr>
        <p:txBody>
          <a:bodyPr/>
          <a:lstStyle/>
          <a:p>
            <a:endParaRPr lang="en-US"/>
          </a:p>
        </p:txBody>
      </p:sp>
      <p:sp>
        <p:nvSpPr>
          <p:cNvPr id="23" name="Text 21"/>
          <p:cNvSpPr/>
          <p:nvPr/>
        </p:nvSpPr>
        <p:spPr>
          <a:xfrm>
            <a:off x="4603750" y="39639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05</a:t>
            </a:r>
            <a:endParaRPr lang="en-US" sz="975" dirty="0"/>
          </a:p>
        </p:txBody>
      </p:sp>
      <p:sp>
        <p:nvSpPr>
          <p:cNvPr id="24" name="Text 22"/>
          <p:cNvSpPr/>
          <p:nvPr/>
        </p:nvSpPr>
        <p:spPr>
          <a:xfrm>
            <a:off x="4603750" y="42259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Derived KPIs</a:t>
            </a:r>
            <a:endParaRPr lang="en-US" sz="1650" dirty="0"/>
          </a:p>
        </p:txBody>
      </p:sp>
      <p:sp>
        <p:nvSpPr>
          <p:cNvPr id="25" name="Text 23"/>
          <p:cNvSpPr/>
          <p:nvPr/>
        </p:nvSpPr>
        <p:spPr>
          <a:xfrm>
            <a:off x="4603750" y="4564063"/>
            <a:ext cx="3074035"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55000"/>
                  </a:srgbClr>
                </a:solidFill>
                <a:latin typeface="Arial" pitchFamily="34" charset="0"/>
                <a:ea typeface="Arial" pitchFamily="34" charset="-122"/>
                <a:cs typeface="Arial" pitchFamily="34" charset="-120"/>
              </a:rPr>
              <a:t>Some KPIs are not explicitly reported and must be reconstructed.</a:t>
            </a:r>
            <a:endParaRPr lang="en-US" sz="1200" dirty="0"/>
          </a:p>
        </p:txBody>
      </p:sp>
      <p:sp>
        <p:nvSpPr>
          <p:cNvPr id="26" name="Shape 24"/>
          <p:cNvSpPr/>
          <p:nvPr/>
        </p:nvSpPr>
        <p:spPr>
          <a:xfrm>
            <a:off x="8051800" y="3767138"/>
            <a:ext cx="3454400" cy="1714500"/>
          </a:xfrm>
          <a:prstGeom prst="roundRect">
            <a:avLst>
              <a:gd name="adj" fmla="val 2222"/>
            </a:avLst>
          </a:prstGeom>
          <a:solidFill>
            <a:srgbClr val="4E8BFF">
              <a:alpha val="14000"/>
            </a:srgbClr>
          </a:solidFill>
          <a:ln w="6350">
            <a:solidFill>
              <a:srgbClr val="4E8BFF"/>
            </a:solidFill>
            <a:prstDash val="solid"/>
          </a:ln>
        </p:spPr>
        <p:txBody>
          <a:bodyPr/>
          <a:lstStyle/>
          <a:p>
            <a:endParaRPr lang="en-US"/>
          </a:p>
        </p:txBody>
      </p:sp>
      <p:sp>
        <p:nvSpPr>
          <p:cNvPr id="27" name="Text 25"/>
          <p:cNvSpPr/>
          <p:nvPr/>
        </p:nvSpPr>
        <p:spPr>
          <a:xfrm>
            <a:off x="8286750" y="3963988"/>
            <a:ext cx="32829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06</a:t>
            </a:r>
            <a:endParaRPr lang="en-US" sz="975" dirty="0"/>
          </a:p>
        </p:txBody>
      </p:sp>
      <p:sp>
        <p:nvSpPr>
          <p:cNvPr id="28" name="Text 26"/>
          <p:cNvSpPr/>
          <p:nvPr/>
        </p:nvSpPr>
        <p:spPr>
          <a:xfrm>
            <a:off x="8286750" y="4225925"/>
            <a:ext cx="3282950"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Error propagation</a:t>
            </a:r>
            <a:endParaRPr lang="en-US" sz="1650" dirty="0"/>
          </a:p>
        </p:txBody>
      </p:sp>
      <p:sp>
        <p:nvSpPr>
          <p:cNvPr id="29" name="Text 27"/>
          <p:cNvSpPr/>
          <p:nvPr/>
        </p:nvSpPr>
        <p:spPr>
          <a:xfrm>
            <a:off x="8286750" y="4564063"/>
            <a:ext cx="3074035" cy="678061"/>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alpha val="72000"/>
                  </a:srgbClr>
                </a:solidFill>
                <a:latin typeface="Arial" pitchFamily="34" charset="0"/>
                <a:ea typeface="Arial" pitchFamily="34" charset="-122"/>
                <a:cs typeface="Arial" pitchFamily="34" charset="-120"/>
              </a:rPr>
              <a:t>A wrong interpretation early in the pipeline can affect several downstream KPIs.</a:t>
            </a:r>
            <a:endParaRPr lang="en-US" sz="1200" dirty="0"/>
          </a:p>
        </p:txBody>
      </p:sp>
      <p:sp>
        <p:nvSpPr>
          <p:cNvPr id="30" name="Text 28"/>
          <p:cNvSpPr/>
          <p:nvPr/>
        </p:nvSpPr>
        <p:spPr>
          <a:xfrm>
            <a:off x="685800" y="5748338"/>
            <a:ext cx="11902440"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This is not a simple PDF → LLM → number problem.</a:t>
            </a:r>
            <a:endParaRPr lang="en-US" sz="1650" dirty="0"/>
          </a:p>
        </p:txBody>
      </p:sp>
      <p:pic>
        <p:nvPicPr>
          <p:cNvPr id="31"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32" name="Text 29"/>
          <p:cNvSpPr/>
          <p:nvPr/>
        </p:nvSpPr>
        <p:spPr>
          <a:xfrm>
            <a:off x="10730012" y="6253163"/>
            <a:ext cx="551359"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38000"/>
                  </a:srgbClr>
                </a:solidFill>
                <a:latin typeface="Arial" pitchFamily="34" charset="0"/>
                <a:ea typeface="Arial" pitchFamily="34" charset="-122"/>
                <a:cs typeface="Arial" pitchFamily="34" charset="-120"/>
              </a:rPr>
              <a:t>Problem</a:t>
            </a:r>
            <a:endParaRPr lang="en-US" sz="975" dirty="0"/>
          </a:p>
        </p:txBody>
      </p:sp>
      <p:sp>
        <p:nvSpPr>
          <p:cNvPr id="33" name="Text 30"/>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04</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6096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04 — SOLUTION</a:t>
            </a:r>
            <a:endParaRPr lang="en-US" sz="825" dirty="0"/>
          </a:p>
        </p:txBody>
      </p:sp>
      <p:sp>
        <p:nvSpPr>
          <p:cNvPr id="4" name="Text 2"/>
          <p:cNvSpPr/>
          <p:nvPr/>
        </p:nvSpPr>
        <p:spPr>
          <a:xfrm>
            <a:off x="685800" y="8810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The solution </a:t>
            </a:r>
            <a:r>
              <a:rPr lang="en-US" sz="3000" kern="0" spc="-45" dirty="0" err="1">
                <a:solidFill>
                  <a:srgbClr val="FFFFFF"/>
                </a:solidFill>
                <a:latin typeface="Arial" pitchFamily="34" charset="0"/>
                <a:ea typeface="Arial" pitchFamily="34" charset="-122"/>
                <a:cs typeface="Arial" pitchFamily="34" charset="-120"/>
              </a:rPr>
              <a:t>Pipline</a:t>
            </a:r>
            <a:endParaRPr lang="en-US" sz="3000" dirty="0"/>
          </a:p>
        </p:txBody>
      </p:sp>
      <p:sp>
        <p:nvSpPr>
          <p:cNvPr id="5" name="Shape 3"/>
          <p:cNvSpPr/>
          <p:nvPr/>
        </p:nvSpPr>
        <p:spPr>
          <a:xfrm>
            <a:off x="685800" y="150971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862138"/>
            <a:ext cx="1246287"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7" name="Text 5"/>
          <p:cNvSpPr/>
          <p:nvPr/>
        </p:nvSpPr>
        <p:spPr>
          <a:xfrm>
            <a:off x="806450"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PDF reports</a:t>
            </a:r>
            <a:endParaRPr lang="en-US" sz="1200" dirty="0"/>
          </a:p>
        </p:txBody>
      </p:sp>
      <p:sp>
        <p:nvSpPr>
          <p:cNvPr id="8" name="Shape 6"/>
          <p:cNvSpPr/>
          <p:nvPr/>
        </p:nvSpPr>
        <p:spPr>
          <a:xfrm>
            <a:off x="2027337" y="2314575"/>
            <a:ext cx="152400" cy="9525"/>
          </a:xfrm>
          <a:prstGeom prst="rect">
            <a:avLst/>
          </a:prstGeom>
          <a:solidFill>
            <a:srgbClr val="FFFFFF">
              <a:alpha val="38000"/>
            </a:srgbClr>
          </a:solidFill>
          <a:ln/>
        </p:spPr>
        <p:txBody>
          <a:bodyPr/>
          <a:lstStyle/>
          <a:p>
            <a:endParaRPr lang="en-US"/>
          </a:p>
        </p:txBody>
      </p:sp>
      <p:sp>
        <p:nvSpPr>
          <p:cNvPr id="9" name="Shape 7"/>
          <p:cNvSpPr/>
          <p:nvPr/>
        </p:nvSpPr>
        <p:spPr>
          <a:xfrm>
            <a:off x="2274987" y="1862138"/>
            <a:ext cx="1285280" cy="914400"/>
          </a:xfrm>
          <a:prstGeom prst="roundRect">
            <a:avLst>
              <a:gd name="adj" fmla="val 4167"/>
            </a:avLst>
          </a:prstGeom>
          <a:solidFill>
            <a:srgbClr val="4E8BFF">
              <a:alpha val="14000"/>
            </a:srgbClr>
          </a:solidFill>
          <a:ln w="6350">
            <a:solidFill>
              <a:srgbClr val="4E8BFF"/>
            </a:solidFill>
            <a:prstDash val="solid"/>
          </a:ln>
        </p:spPr>
        <p:txBody>
          <a:bodyPr/>
          <a:lstStyle/>
          <a:p>
            <a:endParaRPr lang="en-US"/>
          </a:p>
        </p:txBody>
      </p:sp>
      <p:sp>
        <p:nvSpPr>
          <p:cNvPr id="10" name="Text 8"/>
          <p:cNvSpPr/>
          <p:nvPr/>
        </p:nvSpPr>
        <p:spPr>
          <a:xfrm>
            <a:off x="2395637" y="2001838"/>
            <a:ext cx="1120180"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Document understanding</a:t>
            </a:r>
            <a:endParaRPr lang="en-US" sz="1200" dirty="0"/>
          </a:p>
        </p:txBody>
      </p:sp>
      <p:sp>
        <p:nvSpPr>
          <p:cNvPr id="11" name="Shape 9"/>
          <p:cNvSpPr/>
          <p:nvPr/>
        </p:nvSpPr>
        <p:spPr>
          <a:xfrm>
            <a:off x="3655516" y="2314575"/>
            <a:ext cx="152400" cy="9525"/>
          </a:xfrm>
          <a:prstGeom prst="rect">
            <a:avLst/>
          </a:prstGeom>
          <a:solidFill>
            <a:srgbClr val="FFFFFF">
              <a:alpha val="38000"/>
            </a:srgbClr>
          </a:solidFill>
          <a:ln/>
        </p:spPr>
        <p:txBody>
          <a:bodyPr/>
          <a:lstStyle/>
          <a:p>
            <a:endParaRPr lang="en-US"/>
          </a:p>
        </p:txBody>
      </p:sp>
      <p:sp>
        <p:nvSpPr>
          <p:cNvPr id="12" name="Shape 10"/>
          <p:cNvSpPr/>
          <p:nvPr/>
        </p:nvSpPr>
        <p:spPr>
          <a:xfrm>
            <a:off x="3903166" y="1862138"/>
            <a:ext cx="1246287" cy="914400"/>
          </a:xfrm>
          <a:prstGeom prst="roundRect">
            <a:avLst>
              <a:gd name="adj" fmla="val 4167"/>
            </a:avLst>
          </a:prstGeom>
          <a:solidFill>
            <a:srgbClr val="4E8BFF">
              <a:alpha val="14000"/>
            </a:srgbClr>
          </a:solidFill>
          <a:ln w="6350">
            <a:solidFill>
              <a:srgbClr val="4E8BFF"/>
            </a:solidFill>
            <a:prstDash val="solid"/>
          </a:ln>
        </p:spPr>
        <p:txBody>
          <a:bodyPr/>
          <a:lstStyle/>
          <a:p>
            <a:endParaRPr lang="en-US"/>
          </a:p>
        </p:txBody>
      </p:sp>
      <p:sp>
        <p:nvSpPr>
          <p:cNvPr id="13" name="Text 11"/>
          <p:cNvSpPr/>
          <p:nvPr/>
        </p:nvSpPr>
        <p:spPr>
          <a:xfrm>
            <a:off x="4023816"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Context &amp; information retrieval</a:t>
            </a:r>
            <a:endParaRPr lang="en-US" sz="1200" dirty="0"/>
          </a:p>
        </p:txBody>
      </p:sp>
      <p:sp>
        <p:nvSpPr>
          <p:cNvPr id="14" name="Shape 12"/>
          <p:cNvSpPr/>
          <p:nvPr/>
        </p:nvSpPr>
        <p:spPr>
          <a:xfrm>
            <a:off x="5244703" y="2314575"/>
            <a:ext cx="152400" cy="9525"/>
          </a:xfrm>
          <a:prstGeom prst="rect">
            <a:avLst/>
          </a:prstGeom>
          <a:solidFill>
            <a:srgbClr val="FFFFFF">
              <a:alpha val="38000"/>
            </a:srgbClr>
          </a:solidFill>
          <a:ln/>
        </p:spPr>
        <p:txBody>
          <a:bodyPr/>
          <a:lstStyle/>
          <a:p>
            <a:endParaRPr lang="en-US"/>
          </a:p>
        </p:txBody>
      </p:sp>
      <p:sp>
        <p:nvSpPr>
          <p:cNvPr id="15" name="Shape 13"/>
          <p:cNvSpPr/>
          <p:nvPr/>
        </p:nvSpPr>
        <p:spPr>
          <a:xfrm>
            <a:off x="5492353" y="1862138"/>
            <a:ext cx="1246287" cy="914400"/>
          </a:xfrm>
          <a:prstGeom prst="roundRect">
            <a:avLst>
              <a:gd name="adj" fmla="val 4167"/>
            </a:avLst>
          </a:prstGeom>
          <a:solidFill>
            <a:srgbClr val="4E8BFF">
              <a:alpha val="14000"/>
            </a:srgbClr>
          </a:solidFill>
          <a:ln w="6350">
            <a:solidFill>
              <a:srgbClr val="4E8BFF"/>
            </a:solidFill>
            <a:prstDash val="solid"/>
          </a:ln>
        </p:spPr>
        <p:txBody>
          <a:bodyPr/>
          <a:lstStyle/>
          <a:p>
            <a:endParaRPr lang="en-US"/>
          </a:p>
        </p:txBody>
      </p:sp>
      <p:sp>
        <p:nvSpPr>
          <p:cNvPr id="16" name="Text 14"/>
          <p:cNvSpPr/>
          <p:nvPr/>
        </p:nvSpPr>
        <p:spPr>
          <a:xfrm>
            <a:off x="5613003"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Structured variable extraction</a:t>
            </a:r>
            <a:endParaRPr lang="en-US" sz="1200" dirty="0"/>
          </a:p>
        </p:txBody>
      </p:sp>
      <p:sp>
        <p:nvSpPr>
          <p:cNvPr id="17" name="Shape 15"/>
          <p:cNvSpPr/>
          <p:nvPr/>
        </p:nvSpPr>
        <p:spPr>
          <a:xfrm>
            <a:off x="6833890" y="2314575"/>
            <a:ext cx="152400" cy="9525"/>
          </a:xfrm>
          <a:prstGeom prst="rect">
            <a:avLst/>
          </a:prstGeom>
          <a:solidFill>
            <a:srgbClr val="FFFFFF">
              <a:alpha val="38000"/>
            </a:srgbClr>
          </a:solidFill>
          <a:ln/>
        </p:spPr>
        <p:txBody>
          <a:bodyPr/>
          <a:lstStyle/>
          <a:p>
            <a:endParaRPr lang="en-US"/>
          </a:p>
        </p:txBody>
      </p:sp>
      <p:sp>
        <p:nvSpPr>
          <p:cNvPr id="18" name="Shape 16"/>
          <p:cNvSpPr/>
          <p:nvPr/>
        </p:nvSpPr>
        <p:spPr>
          <a:xfrm>
            <a:off x="7081540" y="1862138"/>
            <a:ext cx="1246287"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19" name="Text 17"/>
          <p:cNvSpPr/>
          <p:nvPr/>
        </p:nvSpPr>
        <p:spPr>
          <a:xfrm>
            <a:off x="7202190"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Dependency resolution</a:t>
            </a:r>
            <a:endParaRPr lang="en-US" sz="1200" dirty="0"/>
          </a:p>
        </p:txBody>
      </p:sp>
      <p:sp>
        <p:nvSpPr>
          <p:cNvPr id="20" name="Shape 18"/>
          <p:cNvSpPr/>
          <p:nvPr/>
        </p:nvSpPr>
        <p:spPr>
          <a:xfrm>
            <a:off x="8423077" y="2314575"/>
            <a:ext cx="152400" cy="9525"/>
          </a:xfrm>
          <a:prstGeom prst="rect">
            <a:avLst/>
          </a:prstGeom>
          <a:solidFill>
            <a:srgbClr val="FFFFFF">
              <a:alpha val="38000"/>
            </a:srgbClr>
          </a:solidFill>
          <a:ln/>
        </p:spPr>
        <p:txBody>
          <a:bodyPr/>
          <a:lstStyle/>
          <a:p>
            <a:endParaRPr lang="en-US"/>
          </a:p>
        </p:txBody>
      </p:sp>
      <p:sp>
        <p:nvSpPr>
          <p:cNvPr id="21" name="Shape 19"/>
          <p:cNvSpPr/>
          <p:nvPr/>
        </p:nvSpPr>
        <p:spPr>
          <a:xfrm>
            <a:off x="8670727" y="1862138"/>
            <a:ext cx="1246287"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22" name="Text 20"/>
          <p:cNvSpPr/>
          <p:nvPr/>
        </p:nvSpPr>
        <p:spPr>
          <a:xfrm>
            <a:off x="8791377"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Deterministic computation &amp; validation</a:t>
            </a:r>
            <a:endParaRPr lang="en-US" sz="1200" dirty="0"/>
          </a:p>
        </p:txBody>
      </p:sp>
      <p:sp>
        <p:nvSpPr>
          <p:cNvPr id="23" name="Shape 21"/>
          <p:cNvSpPr/>
          <p:nvPr/>
        </p:nvSpPr>
        <p:spPr>
          <a:xfrm>
            <a:off x="10012263" y="2314575"/>
            <a:ext cx="152400" cy="9525"/>
          </a:xfrm>
          <a:prstGeom prst="rect">
            <a:avLst/>
          </a:prstGeom>
          <a:solidFill>
            <a:srgbClr val="FFFFFF">
              <a:alpha val="38000"/>
            </a:srgbClr>
          </a:solidFill>
          <a:ln/>
        </p:spPr>
        <p:txBody>
          <a:bodyPr/>
          <a:lstStyle/>
          <a:p>
            <a:endParaRPr lang="en-US"/>
          </a:p>
        </p:txBody>
      </p:sp>
      <p:sp>
        <p:nvSpPr>
          <p:cNvPr id="24" name="Shape 22"/>
          <p:cNvSpPr/>
          <p:nvPr/>
        </p:nvSpPr>
        <p:spPr>
          <a:xfrm>
            <a:off x="10259913" y="1862138"/>
            <a:ext cx="1246287"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25" name="Text 23"/>
          <p:cNvSpPr/>
          <p:nvPr/>
        </p:nvSpPr>
        <p:spPr>
          <a:xfrm>
            <a:off x="10380563" y="2001838"/>
            <a:ext cx="1081187" cy="673100"/>
          </a:xfrm>
          <a:prstGeom prst="rect">
            <a:avLst/>
          </a:prstGeom>
          <a:noFill/>
          <a:ln/>
        </p:spPr>
        <p:txBody>
          <a:bodyPr wrap="square" lIns="25400" tIns="25400" rIns="25400" bIns="25400" rtlCol="0" anchor="ctr">
            <a:normAutofit/>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Validated KPIs</a:t>
            </a:r>
            <a:endParaRPr lang="en-US" sz="1200" dirty="0"/>
          </a:p>
        </p:txBody>
      </p:sp>
      <p:sp>
        <p:nvSpPr>
          <p:cNvPr id="26" name="Shape 24"/>
          <p:cNvSpPr/>
          <p:nvPr/>
        </p:nvSpPr>
        <p:spPr>
          <a:xfrm>
            <a:off x="685800" y="3014663"/>
            <a:ext cx="133350" cy="133350"/>
          </a:xfrm>
          <a:prstGeom prst="roundRect">
            <a:avLst>
              <a:gd name="adj" fmla="val 14286"/>
            </a:avLst>
          </a:prstGeom>
          <a:solidFill>
            <a:srgbClr val="4E8BFF">
              <a:alpha val="14000"/>
            </a:srgbClr>
          </a:solidFill>
          <a:ln w="6350">
            <a:solidFill>
              <a:srgbClr val="4E8BFF"/>
            </a:solidFill>
            <a:prstDash val="solid"/>
          </a:ln>
        </p:spPr>
        <p:txBody>
          <a:bodyPr/>
          <a:lstStyle/>
          <a:p>
            <a:endParaRPr lang="en-US"/>
          </a:p>
        </p:txBody>
      </p:sp>
      <p:sp>
        <p:nvSpPr>
          <p:cNvPr id="27" name="Text 25"/>
          <p:cNvSpPr/>
          <p:nvPr/>
        </p:nvSpPr>
        <p:spPr>
          <a:xfrm>
            <a:off x="914400" y="2967038"/>
            <a:ext cx="4573975"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AI / probabilistic reasoning — understanding the document</a:t>
            </a:r>
            <a:endParaRPr lang="en-US" sz="1200" dirty="0"/>
          </a:p>
        </p:txBody>
      </p:sp>
      <p:sp>
        <p:nvSpPr>
          <p:cNvPr id="28" name="Shape 26"/>
          <p:cNvSpPr/>
          <p:nvPr/>
        </p:nvSpPr>
        <p:spPr>
          <a:xfrm>
            <a:off x="5453559" y="3014663"/>
            <a:ext cx="133350" cy="133350"/>
          </a:xfrm>
          <a:prstGeom prst="roundRect">
            <a:avLst>
              <a:gd name="adj" fmla="val 14286"/>
            </a:avLst>
          </a:prstGeom>
          <a:solidFill>
            <a:srgbClr val="FFFFFF">
              <a:alpha val="7000"/>
            </a:srgbClr>
          </a:solidFill>
          <a:ln w="6350">
            <a:solidFill>
              <a:srgbClr val="FFFFFF">
                <a:alpha val="38000"/>
              </a:srgbClr>
            </a:solidFill>
            <a:prstDash val="solid"/>
          </a:ln>
        </p:spPr>
        <p:txBody>
          <a:bodyPr/>
          <a:lstStyle/>
          <a:p>
            <a:endParaRPr lang="en-US"/>
          </a:p>
        </p:txBody>
      </p:sp>
      <p:sp>
        <p:nvSpPr>
          <p:cNvPr id="29" name="Text 27"/>
          <p:cNvSpPr/>
          <p:nvPr/>
        </p:nvSpPr>
        <p:spPr>
          <a:xfrm>
            <a:off x="5682159" y="2967038"/>
            <a:ext cx="3963879"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Deterministic software — calculation and validation</a:t>
            </a:r>
            <a:endParaRPr lang="en-US" sz="1200" dirty="0"/>
          </a:p>
        </p:txBody>
      </p:sp>
      <p:sp>
        <p:nvSpPr>
          <p:cNvPr id="30" name="Shape 28"/>
          <p:cNvSpPr/>
          <p:nvPr/>
        </p:nvSpPr>
        <p:spPr>
          <a:xfrm>
            <a:off x="685800" y="3538538"/>
            <a:ext cx="10820400" cy="765770"/>
          </a:xfrm>
          <a:prstGeom prst="rect">
            <a:avLst/>
          </a:prstGeom>
          <a:solidFill>
            <a:srgbClr val="FFFFFF">
              <a:alpha val="7000"/>
            </a:srgbClr>
          </a:solidFill>
          <a:ln/>
        </p:spPr>
        <p:txBody>
          <a:bodyPr/>
          <a:lstStyle/>
          <a:p>
            <a:endParaRPr lang="en-US"/>
          </a:p>
        </p:txBody>
      </p:sp>
      <p:sp>
        <p:nvSpPr>
          <p:cNvPr id="31" name="Shape 29"/>
          <p:cNvSpPr/>
          <p:nvPr/>
        </p:nvSpPr>
        <p:spPr>
          <a:xfrm>
            <a:off x="914400" y="3748087"/>
            <a:ext cx="28575" cy="346670"/>
          </a:xfrm>
          <a:prstGeom prst="rect">
            <a:avLst/>
          </a:prstGeom>
          <a:solidFill>
            <a:srgbClr val="4E8BFF"/>
          </a:solidFill>
          <a:ln/>
        </p:spPr>
        <p:txBody>
          <a:bodyPr/>
          <a:lstStyle/>
          <a:p>
            <a:endParaRPr lang="en-US"/>
          </a:p>
        </p:txBody>
      </p:sp>
      <p:sp>
        <p:nvSpPr>
          <p:cNvPr id="32" name="Text 30"/>
          <p:cNvSpPr/>
          <p:nvPr/>
        </p:nvSpPr>
        <p:spPr>
          <a:xfrm>
            <a:off x="1095375" y="3748087"/>
            <a:ext cx="8816380" cy="384770"/>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2100" dirty="0">
                <a:solidFill>
                  <a:srgbClr val="FFFFFF"/>
                </a:solidFill>
                <a:latin typeface="Arial" pitchFamily="34" charset="0"/>
                <a:ea typeface="Arial" pitchFamily="34" charset="-122"/>
                <a:cs typeface="Arial" pitchFamily="34" charset="-120"/>
              </a:rPr>
              <a:t>Use AI to understand. Use deterministic logic to calculate and verify.</a:t>
            </a:r>
            <a:endParaRPr lang="en-US" sz="2100" dirty="0"/>
          </a:p>
        </p:txBody>
      </p:sp>
      <p:sp>
        <p:nvSpPr>
          <p:cNvPr id="33" name="Text 31"/>
          <p:cNvSpPr/>
          <p:nvPr/>
        </p:nvSpPr>
        <p:spPr>
          <a:xfrm>
            <a:off x="685800" y="4609108"/>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FFFFF">
                    <a:alpha val="38000"/>
                  </a:srgbClr>
                </a:solidFill>
                <a:latin typeface="Arial" pitchFamily="34" charset="0"/>
                <a:ea typeface="Arial" pitchFamily="34" charset="-122"/>
                <a:cs typeface="Arial" pitchFamily="34" charset="-120"/>
              </a:rPr>
              <a:t>OPERATIONAL LAYER</a:t>
            </a:r>
            <a:endParaRPr lang="en-US" sz="825" dirty="0"/>
          </a:p>
        </p:txBody>
      </p:sp>
      <p:sp>
        <p:nvSpPr>
          <p:cNvPr id="34" name="Text 32"/>
          <p:cNvSpPr/>
          <p:nvPr/>
        </p:nvSpPr>
        <p:spPr>
          <a:xfrm>
            <a:off x="685800" y="4861520"/>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S3</a:t>
            </a:r>
            <a:endParaRPr lang="en-US" sz="975" dirty="0"/>
          </a:p>
        </p:txBody>
      </p:sp>
      <p:sp>
        <p:nvSpPr>
          <p:cNvPr id="35" name="Shape 33"/>
          <p:cNvSpPr/>
          <p:nvPr/>
        </p:nvSpPr>
        <p:spPr>
          <a:xfrm>
            <a:off x="948730" y="4949627"/>
            <a:ext cx="228600" cy="9525"/>
          </a:xfrm>
          <a:prstGeom prst="rect">
            <a:avLst/>
          </a:prstGeom>
          <a:solidFill>
            <a:srgbClr val="FFFFFF">
              <a:alpha val="14000"/>
            </a:srgbClr>
          </a:solidFill>
          <a:ln/>
        </p:spPr>
        <p:txBody>
          <a:bodyPr/>
          <a:lstStyle/>
          <a:p>
            <a:endParaRPr lang="en-US"/>
          </a:p>
        </p:txBody>
      </p:sp>
      <p:sp>
        <p:nvSpPr>
          <p:cNvPr id="36" name="Text 34"/>
          <p:cNvSpPr/>
          <p:nvPr/>
        </p:nvSpPr>
        <p:spPr>
          <a:xfrm>
            <a:off x="1291630" y="4861520"/>
            <a:ext cx="1552853"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Processing pipeline</a:t>
            </a:r>
            <a:endParaRPr lang="en-US" sz="975" dirty="0"/>
          </a:p>
        </p:txBody>
      </p:sp>
      <p:sp>
        <p:nvSpPr>
          <p:cNvPr id="37" name="Shape 35"/>
          <p:cNvSpPr/>
          <p:nvPr/>
        </p:nvSpPr>
        <p:spPr>
          <a:xfrm>
            <a:off x="2817614" y="4949627"/>
            <a:ext cx="228600" cy="9525"/>
          </a:xfrm>
          <a:prstGeom prst="rect">
            <a:avLst/>
          </a:prstGeom>
          <a:solidFill>
            <a:srgbClr val="FFFFFF">
              <a:alpha val="14000"/>
            </a:srgbClr>
          </a:solidFill>
          <a:ln/>
        </p:spPr>
        <p:txBody>
          <a:bodyPr/>
          <a:lstStyle/>
          <a:p>
            <a:endParaRPr lang="en-US"/>
          </a:p>
        </p:txBody>
      </p:sp>
      <p:sp>
        <p:nvSpPr>
          <p:cNvPr id="38" name="Text 36"/>
          <p:cNvSpPr/>
          <p:nvPr/>
        </p:nvSpPr>
        <p:spPr>
          <a:xfrm>
            <a:off x="3160514" y="4861520"/>
            <a:ext cx="81915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Validation</a:t>
            </a:r>
            <a:endParaRPr lang="en-US" sz="975" dirty="0"/>
          </a:p>
        </p:txBody>
      </p:sp>
      <p:sp>
        <p:nvSpPr>
          <p:cNvPr id="39" name="Shape 37"/>
          <p:cNvSpPr/>
          <p:nvPr/>
        </p:nvSpPr>
        <p:spPr>
          <a:xfrm>
            <a:off x="4017764" y="4949627"/>
            <a:ext cx="228600" cy="9525"/>
          </a:xfrm>
          <a:prstGeom prst="rect">
            <a:avLst/>
          </a:prstGeom>
          <a:solidFill>
            <a:srgbClr val="FFFFFF">
              <a:alpha val="14000"/>
            </a:srgbClr>
          </a:solidFill>
          <a:ln/>
        </p:spPr>
        <p:txBody>
          <a:bodyPr/>
          <a:lstStyle/>
          <a:p>
            <a:endParaRPr lang="en-US"/>
          </a:p>
        </p:txBody>
      </p:sp>
      <p:sp>
        <p:nvSpPr>
          <p:cNvPr id="40" name="Text 38"/>
          <p:cNvSpPr/>
          <p:nvPr/>
        </p:nvSpPr>
        <p:spPr>
          <a:xfrm>
            <a:off x="4360664" y="4861520"/>
            <a:ext cx="596305"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Results</a:t>
            </a:r>
            <a:endParaRPr lang="en-US" sz="975" dirty="0"/>
          </a:p>
        </p:txBody>
      </p:sp>
      <p:sp>
        <p:nvSpPr>
          <p:cNvPr id="41" name="Shape 39"/>
          <p:cNvSpPr/>
          <p:nvPr/>
        </p:nvSpPr>
        <p:spPr>
          <a:xfrm>
            <a:off x="4995069" y="4949627"/>
            <a:ext cx="228600" cy="9525"/>
          </a:xfrm>
          <a:prstGeom prst="rect">
            <a:avLst/>
          </a:prstGeom>
          <a:solidFill>
            <a:srgbClr val="FFFFFF">
              <a:alpha val="14000"/>
            </a:srgbClr>
          </a:solidFill>
          <a:ln/>
        </p:spPr>
        <p:txBody>
          <a:bodyPr/>
          <a:lstStyle/>
          <a:p>
            <a:endParaRPr lang="en-US"/>
          </a:p>
        </p:txBody>
      </p:sp>
      <p:sp>
        <p:nvSpPr>
          <p:cNvPr id="42" name="Text 40"/>
          <p:cNvSpPr/>
          <p:nvPr/>
        </p:nvSpPr>
        <p:spPr>
          <a:xfrm>
            <a:off x="5337969" y="4861520"/>
            <a:ext cx="1190625"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S3 / monitoring</a:t>
            </a:r>
            <a:endParaRPr lang="en-US" sz="975" dirty="0"/>
          </a:p>
        </p:txBody>
      </p:sp>
      <p:pic>
        <p:nvPicPr>
          <p:cNvPr id="43"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44" name="Text 41"/>
          <p:cNvSpPr/>
          <p:nvPr/>
        </p:nvSpPr>
        <p:spPr>
          <a:xfrm>
            <a:off x="10737553" y="6253163"/>
            <a:ext cx="543818"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38000"/>
                  </a:srgbClr>
                </a:solidFill>
                <a:latin typeface="Arial" pitchFamily="34" charset="0"/>
                <a:ea typeface="Arial" pitchFamily="34" charset="-122"/>
                <a:cs typeface="Arial" pitchFamily="34" charset="-120"/>
              </a:rPr>
              <a:t>Solution</a:t>
            </a:r>
            <a:endParaRPr lang="en-US" sz="975" dirty="0"/>
          </a:p>
        </p:txBody>
      </p:sp>
      <p:sp>
        <p:nvSpPr>
          <p:cNvPr id="45" name="Text 42"/>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05</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05 — WORKFLOW</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From uploaded PDFs to KPI results on S3</a:t>
            </a:r>
            <a:endParaRPr lang="en-US" sz="3000" dirty="0"/>
          </a:p>
        </p:txBody>
      </p:sp>
      <p:sp>
        <p:nvSpPr>
          <p:cNvPr id="5" name="Shape 3"/>
          <p:cNvSpPr/>
          <p:nvPr/>
        </p:nvSpPr>
        <p:spPr>
          <a:xfrm>
            <a:off x="685800" y="141446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652588"/>
            <a:ext cx="2347913"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7" name="Text 5"/>
          <p:cNvSpPr/>
          <p:nvPr/>
        </p:nvSpPr>
        <p:spPr>
          <a:xfrm>
            <a:off x="882650" y="1978819"/>
            <a:ext cx="2149634"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Upload PDFs to S3</a:t>
            </a:r>
            <a:endParaRPr lang="en-US" sz="1650" dirty="0"/>
          </a:p>
        </p:txBody>
      </p:sp>
      <p:sp>
        <p:nvSpPr>
          <p:cNvPr id="8" name="Shape 6"/>
          <p:cNvSpPr/>
          <p:nvPr/>
        </p:nvSpPr>
        <p:spPr>
          <a:xfrm>
            <a:off x="3167063" y="2105025"/>
            <a:ext cx="209550" cy="9525"/>
          </a:xfrm>
          <a:prstGeom prst="rect">
            <a:avLst/>
          </a:prstGeom>
          <a:solidFill>
            <a:srgbClr val="FFFFFF">
              <a:alpha val="38000"/>
            </a:srgbClr>
          </a:solidFill>
          <a:ln/>
        </p:spPr>
        <p:txBody>
          <a:bodyPr/>
          <a:lstStyle/>
          <a:p>
            <a:endParaRPr lang="en-US"/>
          </a:p>
        </p:txBody>
      </p:sp>
      <p:sp>
        <p:nvSpPr>
          <p:cNvPr id="9" name="Shape 7"/>
          <p:cNvSpPr/>
          <p:nvPr/>
        </p:nvSpPr>
        <p:spPr>
          <a:xfrm>
            <a:off x="3509963" y="1652588"/>
            <a:ext cx="2347913"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10" name="Text 8"/>
          <p:cNvSpPr/>
          <p:nvPr/>
        </p:nvSpPr>
        <p:spPr>
          <a:xfrm>
            <a:off x="3706813" y="1978819"/>
            <a:ext cx="2149634"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Trigger Jenkins job</a:t>
            </a:r>
            <a:endParaRPr lang="en-US" sz="1650" dirty="0"/>
          </a:p>
        </p:txBody>
      </p:sp>
      <p:sp>
        <p:nvSpPr>
          <p:cNvPr id="11" name="Shape 9"/>
          <p:cNvSpPr/>
          <p:nvPr/>
        </p:nvSpPr>
        <p:spPr>
          <a:xfrm>
            <a:off x="5991225" y="2105025"/>
            <a:ext cx="209550" cy="9525"/>
          </a:xfrm>
          <a:prstGeom prst="rect">
            <a:avLst/>
          </a:prstGeom>
          <a:solidFill>
            <a:srgbClr val="FFFFFF">
              <a:alpha val="38000"/>
            </a:srgbClr>
          </a:solidFill>
          <a:ln/>
        </p:spPr>
        <p:txBody>
          <a:bodyPr/>
          <a:lstStyle/>
          <a:p>
            <a:endParaRPr lang="en-US"/>
          </a:p>
        </p:txBody>
      </p:sp>
      <p:sp>
        <p:nvSpPr>
          <p:cNvPr id="12" name="Shape 10"/>
          <p:cNvSpPr/>
          <p:nvPr/>
        </p:nvSpPr>
        <p:spPr>
          <a:xfrm>
            <a:off x="6334125" y="1652588"/>
            <a:ext cx="2347913"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13" name="Text 11"/>
          <p:cNvSpPr/>
          <p:nvPr/>
        </p:nvSpPr>
        <p:spPr>
          <a:xfrm>
            <a:off x="6530975" y="1866900"/>
            <a:ext cx="2149634" cy="300038"/>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Pipeline processing</a:t>
            </a:r>
            <a:endParaRPr lang="en-US" sz="1650" dirty="0"/>
          </a:p>
        </p:txBody>
      </p:sp>
      <p:sp>
        <p:nvSpPr>
          <p:cNvPr id="14" name="Text 12"/>
          <p:cNvSpPr/>
          <p:nvPr/>
        </p:nvSpPr>
        <p:spPr>
          <a:xfrm>
            <a:off x="6530975" y="2166938"/>
            <a:ext cx="2149634"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55000"/>
                  </a:srgbClr>
                </a:solidFill>
                <a:latin typeface="Courier New" pitchFamily="34" charset="0"/>
                <a:ea typeface="Courier New" pitchFamily="34" charset="-122"/>
                <a:cs typeface="Courier New" pitchFamily="34" charset="-120"/>
              </a:rPr>
              <a:t>7–35 min / PDF</a:t>
            </a:r>
            <a:endParaRPr lang="en-US" sz="975" dirty="0"/>
          </a:p>
        </p:txBody>
      </p:sp>
      <p:sp>
        <p:nvSpPr>
          <p:cNvPr id="15" name="Shape 13"/>
          <p:cNvSpPr/>
          <p:nvPr/>
        </p:nvSpPr>
        <p:spPr>
          <a:xfrm>
            <a:off x="8815388" y="2105025"/>
            <a:ext cx="209550" cy="9525"/>
          </a:xfrm>
          <a:prstGeom prst="rect">
            <a:avLst/>
          </a:prstGeom>
          <a:solidFill>
            <a:srgbClr val="FFFFFF">
              <a:alpha val="38000"/>
            </a:srgbClr>
          </a:solidFill>
          <a:ln/>
        </p:spPr>
        <p:txBody>
          <a:bodyPr/>
          <a:lstStyle/>
          <a:p>
            <a:endParaRPr lang="en-US"/>
          </a:p>
        </p:txBody>
      </p:sp>
      <p:sp>
        <p:nvSpPr>
          <p:cNvPr id="16" name="Shape 14"/>
          <p:cNvSpPr/>
          <p:nvPr/>
        </p:nvSpPr>
        <p:spPr>
          <a:xfrm>
            <a:off x="9158288" y="1652588"/>
            <a:ext cx="2347913" cy="914400"/>
          </a:xfrm>
          <a:prstGeom prst="roundRect">
            <a:avLst>
              <a:gd name="adj" fmla="val 4167"/>
            </a:avLst>
          </a:prstGeom>
          <a:solidFill>
            <a:srgbClr val="FFFFFF">
              <a:alpha val="7000"/>
            </a:srgbClr>
          </a:solidFill>
          <a:ln w="6350">
            <a:solidFill>
              <a:srgbClr val="FFFFFF">
                <a:alpha val="14000"/>
              </a:srgbClr>
            </a:solidFill>
            <a:prstDash val="solid"/>
          </a:ln>
        </p:spPr>
        <p:txBody>
          <a:bodyPr/>
          <a:lstStyle/>
          <a:p>
            <a:endParaRPr lang="en-US"/>
          </a:p>
        </p:txBody>
      </p:sp>
      <p:sp>
        <p:nvSpPr>
          <p:cNvPr id="17" name="Text 15"/>
          <p:cNvSpPr/>
          <p:nvPr/>
        </p:nvSpPr>
        <p:spPr>
          <a:xfrm>
            <a:off x="9355138" y="1847850"/>
            <a:ext cx="2030413" cy="561975"/>
          </a:xfrm>
          <a:prstGeom prst="rect">
            <a:avLst/>
          </a:prstGeom>
          <a:noFill/>
          <a:ln/>
        </p:spPr>
        <p:txBody>
          <a:bodyPr wrap="square" lIns="25400" tIns="25400" rIns="25400" bIns="25400" rtlCol="0" anchor="t">
            <a:normAutofit lnSpcReduction="10000"/>
          </a:bodyPr>
          <a:lstStyle/>
          <a:p>
            <a:pPr marL="0" indent="0" algn="l">
              <a:lnSpc>
                <a:spcPct val="108553"/>
              </a:lnSpc>
              <a:buNone/>
            </a:pPr>
            <a:r>
              <a:rPr lang="en-US" sz="1650" dirty="0">
                <a:solidFill>
                  <a:srgbClr val="FFFFFF"/>
                </a:solidFill>
                <a:latin typeface="Arial" pitchFamily="34" charset="0"/>
                <a:ea typeface="Arial" pitchFamily="34" charset="-122"/>
                <a:cs typeface="Arial" pitchFamily="34" charset="-120"/>
              </a:rPr>
              <a:t>KPI CSV results to S3</a:t>
            </a:r>
            <a:endParaRPr lang="en-US" sz="1650" dirty="0"/>
          </a:p>
        </p:txBody>
      </p:sp>
      <p:sp>
        <p:nvSpPr>
          <p:cNvPr id="18" name="Text 16"/>
          <p:cNvSpPr/>
          <p:nvPr/>
        </p:nvSpPr>
        <p:spPr>
          <a:xfrm>
            <a:off x="685800" y="2814638"/>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AMONG OUTPUTS — ALL WRITTEN TO S3</a:t>
            </a:r>
            <a:endParaRPr lang="en-US" sz="825" dirty="0"/>
          </a:p>
        </p:txBody>
      </p:sp>
      <p:sp>
        <p:nvSpPr>
          <p:cNvPr id="19" name="Shape 17"/>
          <p:cNvSpPr/>
          <p:nvPr/>
        </p:nvSpPr>
        <p:spPr>
          <a:xfrm>
            <a:off x="685800" y="3086100"/>
            <a:ext cx="3517900" cy="682625"/>
          </a:xfrm>
          <a:prstGeom prst="roundRect">
            <a:avLst>
              <a:gd name="adj" fmla="val 5581"/>
            </a:avLst>
          </a:prstGeom>
          <a:solidFill>
            <a:srgbClr val="FFFFFF">
              <a:alpha val="7000"/>
            </a:srgbClr>
          </a:solidFill>
          <a:ln w="6350">
            <a:solidFill>
              <a:srgbClr val="FFFFFF">
                <a:alpha val="14000"/>
              </a:srgbClr>
            </a:solidFill>
            <a:prstDash val="solid"/>
          </a:ln>
        </p:spPr>
        <p:txBody>
          <a:bodyPr/>
          <a:lstStyle/>
          <a:p>
            <a:endParaRPr lang="en-US"/>
          </a:p>
        </p:txBody>
      </p:sp>
      <p:sp>
        <p:nvSpPr>
          <p:cNvPr id="20" name="Text 18"/>
          <p:cNvSpPr/>
          <p:nvPr/>
        </p:nvSpPr>
        <p:spPr>
          <a:xfrm>
            <a:off x="844550" y="3225800"/>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KPI CSV results</a:t>
            </a:r>
            <a:endParaRPr lang="en-US" sz="1200" dirty="0"/>
          </a:p>
        </p:txBody>
      </p:sp>
      <p:sp>
        <p:nvSpPr>
          <p:cNvPr id="21" name="Text 19"/>
          <p:cNvSpPr/>
          <p:nvPr/>
        </p:nvSpPr>
        <p:spPr>
          <a:xfrm>
            <a:off x="844550" y="3461941"/>
            <a:ext cx="3520440" cy="205184"/>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One row per airline × period, caret-delimited.</a:t>
            </a:r>
            <a:endParaRPr lang="en-US" sz="975" dirty="0"/>
          </a:p>
        </p:txBody>
      </p:sp>
      <p:sp>
        <p:nvSpPr>
          <p:cNvPr id="22" name="Shape 20"/>
          <p:cNvSpPr/>
          <p:nvPr/>
        </p:nvSpPr>
        <p:spPr>
          <a:xfrm>
            <a:off x="4337050" y="3086100"/>
            <a:ext cx="3517900" cy="682625"/>
          </a:xfrm>
          <a:prstGeom prst="roundRect">
            <a:avLst>
              <a:gd name="adj" fmla="val 5581"/>
            </a:avLst>
          </a:prstGeom>
          <a:solidFill>
            <a:srgbClr val="FFFFFF">
              <a:alpha val="7000"/>
            </a:srgbClr>
          </a:solidFill>
          <a:ln w="6350">
            <a:solidFill>
              <a:srgbClr val="FFFFFF">
                <a:alpha val="14000"/>
              </a:srgbClr>
            </a:solidFill>
            <a:prstDash val="solid"/>
          </a:ln>
        </p:spPr>
        <p:txBody>
          <a:bodyPr/>
          <a:lstStyle/>
          <a:p>
            <a:endParaRPr lang="en-US"/>
          </a:p>
        </p:txBody>
      </p:sp>
      <p:sp>
        <p:nvSpPr>
          <p:cNvPr id="23" name="Text 21"/>
          <p:cNvSpPr/>
          <p:nvPr/>
        </p:nvSpPr>
        <p:spPr>
          <a:xfrm>
            <a:off x="4495800" y="3225800"/>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Cost breakdown per component</a:t>
            </a:r>
            <a:endParaRPr lang="en-US" sz="1200" dirty="0"/>
          </a:p>
        </p:txBody>
      </p:sp>
      <p:sp>
        <p:nvSpPr>
          <p:cNvPr id="24" name="Text 22"/>
          <p:cNvSpPr/>
          <p:nvPr/>
        </p:nvSpPr>
        <p:spPr>
          <a:xfrm>
            <a:off x="4495800" y="3461941"/>
            <a:ext cx="3520440" cy="205184"/>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Token and compute cost attributed per pipeline stage.</a:t>
            </a:r>
            <a:endParaRPr lang="en-US" sz="975" dirty="0"/>
          </a:p>
        </p:txBody>
      </p:sp>
      <p:sp>
        <p:nvSpPr>
          <p:cNvPr id="25" name="Shape 23"/>
          <p:cNvSpPr/>
          <p:nvPr/>
        </p:nvSpPr>
        <p:spPr>
          <a:xfrm>
            <a:off x="7988300" y="3086100"/>
            <a:ext cx="3517900" cy="682625"/>
          </a:xfrm>
          <a:prstGeom prst="roundRect">
            <a:avLst>
              <a:gd name="adj" fmla="val 5581"/>
            </a:avLst>
          </a:prstGeom>
          <a:solidFill>
            <a:srgbClr val="FFFFFF">
              <a:alpha val="7000"/>
            </a:srgbClr>
          </a:solidFill>
          <a:ln w="6350">
            <a:solidFill>
              <a:srgbClr val="FFFFFF">
                <a:alpha val="14000"/>
              </a:srgbClr>
            </a:solidFill>
            <a:prstDash val="solid"/>
          </a:ln>
        </p:spPr>
        <p:txBody>
          <a:bodyPr/>
          <a:lstStyle/>
          <a:p>
            <a:endParaRPr lang="en-US"/>
          </a:p>
        </p:txBody>
      </p:sp>
      <p:sp>
        <p:nvSpPr>
          <p:cNvPr id="26" name="Text 24"/>
          <p:cNvSpPr/>
          <p:nvPr/>
        </p:nvSpPr>
        <p:spPr>
          <a:xfrm>
            <a:off x="8147050" y="3225800"/>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Pipeline and Jenkins logs</a:t>
            </a:r>
            <a:endParaRPr lang="en-US" sz="1200" dirty="0"/>
          </a:p>
        </p:txBody>
      </p:sp>
      <p:sp>
        <p:nvSpPr>
          <p:cNvPr id="27" name="Text 25"/>
          <p:cNvSpPr/>
          <p:nvPr/>
        </p:nvSpPr>
        <p:spPr>
          <a:xfrm>
            <a:off x="8147050" y="3461941"/>
            <a:ext cx="3520440" cy="205184"/>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Pipeline logs plus detailed Jenkins execution logs.</a:t>
            </a:r>
            <a:endParaRPr lang="en-US" sz="975" dirty="0"/>
          </a:p>
        </p:txBody>
      </p:sp>
      <p:sp>
        <p:nvSpPr>
          <p:cNvPr id="28" name="Shape 26"/>
          <p:cNvSpPr/>
          <p:nvPr/>
        </p:nvSpPr>
        <p:spPr>
          <a:xfrm>
            <a:off x="685800" y="3902075"/>
            <a:ext cx="3517900" cy="849709"/>
          </a:xfrm>
          <a:prstGeom prst="roundRect">
            <a:avLst>
              <a:gd name="adj" fmla="val 4484"/>
            </a:avLst>
          </a:prstGeom>
          <a:solidFill>
            <a:srgbClr val="FFFFFF">
              <a:alpha val="7000"/>
            </a:srgbClr>
          </a:solidFill>
          <a:ln w="6350">
            <a:solidFill>
              <a:srgbClr val="FFFFFF">
                <a:alpha val="14000"/>
              </a:srgbClr>
            </a:solidFill>
            <a:prstDash val="solid"/>
          </a:ln>
        </p:spPr>
        <p:txBody>
          <a:bodyPr/>
          <a:lstStyle/>
          <a:p>
            <a:endParaRPr lang="en-US"/>
          </a:p>
        </p:txBody>
      </p:sp>
      <p:sp>
        <p:nvSpPr>
          <p:cNvPr id="29" name="Text 27"/>
          <p:cNvSpPr/>
          <p:nvPr/>
        </p:nvSpPr>
        <p:spPr>
          <a:xfrm>
            <a:off x="844550" y="4041775"/>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Threshold warnings(New)</a:t>
            </a:r>
            <a:endParaRPr lang="en-US" sz="1200" dirty="0"/>
          </a:p>
        </p:txBody>
      </p:sp>
      <p:sp>
        <p:nvSpPr>
          <p:cNvPr id="30" name="Text 28"/>
          <p:cNvSpPr/>
          <p:nvPr/>
        </p:nvSpPr>
        <p:spPr>
          <a:xfrm>
            <a:off x="844550" y="4277916"/>
            <a:ext cx="3296412" cy="372269"/>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Raised when a KPI value exceeds the expected range for a given airline and period.</a:t>
            </a:r>
            <a:endParaRPr lang="en-US" sz="975" dirty="0"/>
          </a:p>
        </p:txBody>
      </p:sp>
      <p:sp>
        <p:nvSpPr>
          <p:cNvPr id="31" name="Shape 29"/>
          <p:cNvSpPr/>
          <p:nvPr/>
        </p:nvSpPr>
        <p:spPr>
          <a:xfrm>
            <a:off x="4337050" y="3902075"/>
            <a:ext cx="3517900" cy="849709"/>
          </a:xfrm>
          <a:prstGeom prst="roundRect">
            <a:avLst>
              <a:gd name="adj" fmla="val 4484"/>
            </a:avLst>
          </a:prstGeom>
          <a:solidFill>
            <a:srgbClr val="FFFFFF">
              <a:alpha val="7000"/>
            </a:srgbClr>
          </a:solidFill>
          <a:ln w="6350">
            <a:solidFill>
              <a:srgbClr val="FFFFFF">
                <a:alpha val="14000"/>
              </a:srgbClr>
            </a:solidFill>
            <a:prstDash val="solid"/>
          </a:ln>
        </p:spPr>
        <p:txBody>
          <a:bodyPr/>
          <a:lstStyle/>
          <a:p>
            <a:endParaRPr lang="en-US"/>
          </a:p>
        </p:txBody>
      </p:sp>
      <p:sp>
        <p:nvSpPr>
          <p:cNvPr id="32" name="Text 30"/>
          <p:cNvSpPr/>
          <p:nvPr/>
        </p:nvSpPr>
        <p:spPr>
          <a:xfrm>
            <a:off x="4495800" y="4041775"/>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Confidence score per output(New)</a:t>
            </a:r>
            <a:endParaRPr lang="en-US" sz="1200" dirty="0"/>
          </a:p>
        </p:txBody>
      </p:sp>
      <p:sp>
        <p:nvSpPr>
          <p:cNvPr id="33" name="Text 31"/>
          <p:cNvSpPr/>
          <p:nvPr/>
        </p:nvSpPr>
        <p:spPr>
          <a:xfrm>
            <a:off x="4495800" y="4277916"/>
            <a:ext cx="3520440" cy="205184"/>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One score per extracted row.</a:t>
            </a:r>
            <a:endParaRPr lang="en-US" sz="975" dirty="0"/>
          </a:p>
        </p:txBody>
      </p:sp>
      <p:sp>
        <p:nvSpPr>
          <p:cNvPr id="34" name="Shape 32"/>
          <p:cNvSpPr/>
          <p:nvPr/>
        </p:nvSpPr>
        <p:spPr>
          <a:xfrm>
            <a:off x="7988300" y="3902075"/>
            <a:ext cx="3517900" cy="849709"/>
          </a:xfrm>
          <a:prstGeom prst="roundRect">
            <a:avLst>
              <a:gd name="adj" fmla="val 4484"/>
            </a:avLst>
          </a:prstGeom>
          <a:solidFill>
            <a:srgbClr val="FFFFFF">
              <a:alpha val="7000"/>
            </a:srgbClr>
          </a:solidFill>
          <a:ln w="6350">
            <a:solidFill>
              <a:srgbClr val="FFFFFF">
                <a:alpha val="14000"/>
              </a:srgbClr>
            </a:solidFill>
            <a:prstDash val="solid"/>
          </a:ln>
        </p:spPr>
        <p:txBody>
          <a:bodyPr/>
          <a:lstStyle/>
          <a:p>
            <a:endParaRPr lang="en-US"/>
          </a:p>
        </p:txBody>
      </p:sp>
      <p:sp>
        <p:nvSpPr>
          <p:cNvPr id="35" name="Text 33"/>
          <p:cNvSpPr/>
          <p:nvPr/>
        </p:nvSpPr>
        <p:spPr>
          <a:xfrm>
            <a:off x="8147050" y="4041775"/>
            <a:ext cx="3520440" cy="23614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200" dirty="0">
                <a:solidFill>
                  <a:srgbClr val="FFFFFF"/>
                </a:solidFill>
                <a:latin typeface="Arial" pitchFamily="34" charset="0"/>
                <a:ea typeface="Arial" pitchFamily="34" charset="-122"/>
                <a:cs typeface="Arial" pitchFamily="34" charset="-120"/>
              </a:rPr>
              <a:t>Confidence score per KPI(New)</a:t>
            </a:r>
            <a:endParaRPr lang="en-US" sz="1200" dirty="0"/>
          </a:p>
        </p:txBody>
      </p:sp>
      <p:sp>
        <p:nvSpPr>
          <p:cNvPr id="36" name="Text 34"/>
          <p:cNvSpPr/>
          <p:nvPr/>
        </p:nvSpPr>
        <p:spPr>
          <a:xfrm>
            <a:off x="8147050" y="4277916"/>
            <a:ext cx="3296412" cy="372269"/>
          </a:xfrm>
          <a:prstGeom prst="rect">
            <a:avLst/>
          </a:prstGeom>
          <a:noFill/>
          <a:ln/>
        </p:spPr>
        <p:txBody>
          <a:bodyPr wrap="square" lIns="25400" tIns="25400" rIns="25400" bIns="25400" rtlCol="0" anchor="t">
            <a:normAutofit lnSpcReduction="10000"/>
          </a:bodyPr>
          <a:lstStyle/>
          <a:p>
            <a:pPr marL="0" indent="0" algn="l">
              <a:lnSpc>
                <a:spcPct val="114457"/>
              </a:lnSpc>
              <a:buNone/>
            </a:pPr>
            <a:r>
              <a:rPr lang="en-US" sz="975" dirty="0">
                <a:solidFill>
                  <a:srgbClr val="FFFFFF">
                    <a:alpha val="72000"/>
                  </a:srgbClr>
                </a:solidFill>
                <a:latin typeface="Arial" pitchFamily="34" charset="0"/>
                <a:ea typeface="Arial" pitchFamily="34" charset="-122"/>
                <a:cs typeface="Arial" pitchFamily="34" charset="-120"/>
              </a:rPr>
              <a:t>Field-level score, so a single weak value can be reviewed alone.</a:t>
            </a:r>
            <a:endParaRPr lang="en-US" sz="975" dirty="0"/>
          </a:p>
        </p:txBody>
      </p:sp>
      <p:pic>
        <p:nvPicPr>
          <p:cNvPr id="37"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38" name="Text 35"/>
          <p:cNvSpPr/>
          <p:nvPr/>
        </p:nvSpPr>
        <p:spPr>
          <a:xfrm>
            <a:off x="10313591" y="6253163"/>
            <a:ext cx="96778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S3 · Jenkins</a:t>
            </a:r>
            <a:endParaRPr lang="en-US" sz="975" dirty="0"/>
          </a:p>
        </p:txBody>
      </p:sp>
      <p:sp>
        <p:nvSpPr>
          <p:cNvPr id="39" name="Text 36"/>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06</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74A"/>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06 — WHAT CHANGED</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Key enhancements</a:t>
            </a:r>
            <a:endParaRPr lang="en-US" sz="3000" dirty="0"/>
          </a:p>
        </p:txBody>
      </p:sp>
      <p:sp>
        <p:nvSpPr>
          <p:cNvPr id="5" name="Shape 3"/>
          <p:cNvSpPr/>
          <p:nvPr/>
        </p:nvSpPr>
        <p:spPr>
          <a:xfrm>
            <a:off x="685800" y="141446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633538"/>
            <a:ext cx="5276850" cy="2138363"/>
          </a:xfrm>
          <a:prstGeom prst="roundRect">
            <a:avLst>
              <a:gd name="adj" fmla="val 1782"/>
            </a:avLst>
          </a:prstGeom>
          <a:solidFill>
            <a:srgbClr val="FFFFFF">
              <a:alpha val="7000"/>
            </a:srgbClr>
          </a:solidFill>
          <a:ln w="6350">
            <a:solidFill>
              <a:srgbClr val="FFFFFF">
                <a:alpha val="14000"/>
              </a:srgbClr>
            </a:solidFill>
            <a:prstDash val="solid"/>
          </a:ln>
        </p:spPr>
        <p:txBody>
          <a:bodyPr/>
          <a:lstStyle/>
          <a:p>
            <a:endParaRPr lang="en-US"/>
          </a:p>
        </p:txBody>
      </p:sp>
      <p:sp>
        <p:nvSpPr>
          <p:cNvPr id="7" name="Text 5"/>
          <p:cNvSpPr/>
          <p:nvPr/>
        </p:nvSpPr>
        <p:spPr>
          <a:xfrm>
            <a:off x="901700" y="1919288"/>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01</a:t>
            </a:r>
            <a:endParaRPr lang="en-US" sz="975" dirty="0"/>
          </a:p>
        </p:txBody>
      </p:sp>
      <p:sp>
        <p:nvSpPr>
          <p:cNvPr id="8" name="Text 6"/>
          <p:cNvSpPr/>
          <p:nvPr/>
        </p:nvSpPr>
        <p:spPr>
          <a:xfrm>
            <a:off x="1164630" y="1830388"/>
            <a:ext cx="1880166"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Dual-LLM routing</a:t>
            </a:r>
            <a:endParaRPr lang="en-US" sz="1650" dirty="0"/>
          </a:p>
        </p:txBody>
      </p:sp>
      <p:sp>
        <p:nvSpPr>
          <p:cNvPr id="9" name="Shape 7"/>
          <p:cNvSpPr/>
          <p:nvPr/>
        </p:nvSpPr>
        <p:spPr>
          <a:xfrm>
            <a:off x="901700" y="2285504"/>
            <a:ext cx="475159" cy="331788"/>
          </a:xfrm>
          <a:prstGeom prst="roundRect">
            <a:avLst>
              <a:gd name="adj" fmla="val 11483"/>
            </a:avLst>
          </a:prstGeom>
          <a:solidFill>
            <a:srgbClr val="FFFFFF">
              <a:alpha val="7000"/>
            </a:srgbClr>
          </a:solidFill>
          <a:ln w="6350">
            <a:solidFill>
              <a:srgbClr val="FFFFFF">
                <a:alpha val="14000"/>
              </a:srgbClr>
            </a:solidFill>
            <a:prstDash val="solid"/>
          </a:ln>
        </p:spPr>
        <p:txBody>
          <a:bodyPr/>
          <a:lstStyle/>
          <a:p>
            <a:endParaRPr lang="en-US"/>
          </a:p>
        </p:txBody>
      </p:sp>
      <p:sp>
        <p:nvSpPr>
          <p:cNvPr id="10" name="Text 8"/>
          <p:cNvSpPr/>
          <p:nvPr/>
        </p:nvSpPr>
        <p:spPr>
          <a:xfrm>
            <a:off x="1012825" y="2358529"/>
            <a:ext cx="329109"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Task</a:t>
            </a:r>
            <a:endParaRPr lang="en-US" sz="975" dirty="0"/>
          </a:p>
        </p:txBody>
      </p:sp>
      <p:sp>
        <p:nvSpPr>
          <p:cNvPr id="11" name="Shape 9"/>
          <p:cNvSpPr/>
          <p:nvPr/>
        </p:nvSpPr>
        <p:spPr>
          <a:xfrm>
            <a:off x="1491159" y="2446635"/>
            <a:ext cx="152400" cy="9525"/>
          </a:xfrm>
          <a:prstGeom prst="rect">
            <a:avLst/>
          </a:prstGeom>
          <a:solidFill>
            <a:srgbClr val="FFFFFF">
              <a:alpha val="38000"/>
            </a:srgbClr>
          </a:solidFill>
          <a:ln/>
        </p:spPr>
        <p:txBody>
          <a:bodyPr/>
          <a:lstStyle/>
          <a:p>
            <a:endParaRPr lang="en-US"/>
          </a:p>
        </p:txBody>
      </p:sp>
      <p:sp>
        <p:nvSpPr>
          <p:cNvPr id="12" name="Shape 10"/>
          <p:cNvSpPr/>
          <p:nvPr/>
        </p:nvSpPr>
        <p:spPr>
          <a:xfrm>
            <a:off x="1757859" y="2285504"/>
            <a:ext cx="1316931" cy="331788"/>
          </a:xfrm>
          <a:prstGeom prst="roundRect">
            <a:avLst>
              <a:gd name="adj" fmla="val 11483"/>
            </a:avLst>
          </a:prstGeom>
          <a:solidFill>
            <a:srgbClr val="4E8BFF">
              <a:alpha val="14000"/>
            </a:srgbClr>
          </a:solidFill>
          <a:ln w="6350">
            <a:solidFill>
              <a:srgbClr val="4E8BFF"/>
            </a:solidFill>
            <a:prstDash val="solid"/>
          </a:ln>
        </p:spPr>
        <p:txBody>
          <a:bodyPr/>
          <a:lstStyle/>
          <a:p>
            <a:endParaRPr lang="en-US"/>
          </a:p>
        </p:txBody>
      </p:sp>
      <p:sp>
        <p:nvSpPr>
          <p:cNvPr id="13" name="Text 11"/>
          <p:cNvSpPr/>
          <p:nvPr/>
        </p:nvSpPr>
        <p:spPr>
          <a:xfrm>
            <a:off x="1868984" y="2358529"/>
            <a:ext cx="1170881"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Complexity routing</a:t>
            </a:r>
            <a:endParaRPr lang="en-US" sz="975" dirty="0"/>
          </a:p>
        </p:txBody>
      </p:sp>
      <p:sp>
        <p:nvSpPr>
          <p:cNvPr id="14" name="Text 12"/>
          <p:cNvSpPr/>
          <p:nvPr/>
        </p:nvSpPr>
        <p:spPr>
          <a:xfrm>
            <a:off x="3227189" y="2239963"/>
            <a:ext cx="1259979" cy="220960"/>
          </a:xfrm>
          <a:prstGeom prst="rect">
            <a:avLst/>
          </a:prstGeom>
          <a:noFill/>
          <a:ln/>
        </p:spPr>
        <p:txBody>
          <a:bodyPr wrap="none" lIns="25400" tIns="25400" rIns="25400" bIns="25400" rtlCol="0" anchor="t">
            <a:normAutofit lnSpcReduction="10000"/>
          </a:bodyPr>
          <a:lstStyle/>
          <a:p>
            <a:pPr marL="0" indent="0" algn="l">
              <a:lnSpc>
                <a:spcPct val="102857"/>
              </a:lnSpc>
              <a:buNone/>
            </a:pPr>
            <a:r>
              <a:rPr lang="en-US" sz="1200" dirty="0">
                <a:solidFill>
                  <a:srgbClr val="FFFFFF"/>
                </a:solidFill>
                <a:latin typeface="Arial" pitchFamily="34" charset="0"/>
                <a:ea typeface="Arial" pitchFamily="34" charset="-122"/>
                <a:cs typeface="Arial" pitchFamily="34" charset="-120"/>
              </a:rPr>
              <a:t>Sonnet 4.5 </a:t>
            </a:r>
            <a:r>
              <a:rPr lang="en-US" sz="975" dirty="0">
                <a:solidFill>
                  <a:srgbClr val="FFFFFF">
                    <a:alpha val="55000"/>
                  </a:srgbClr>
                </a:solidFill>
                <a:latin typeface="Arial" pitchFamily="34" charset="0"/>
                <a:ea typeface="Arial" pitchFamily="34" charset="-122"/>
                <a:cs typeface="Arial" pitchFamily="34" charset="-120"/>
              </a:rPr>
              <a:t>simple</a:t>
            </a:r>
            <a:endParaRPr lang="en-US" sz="1200" dirty="0"/>
          </a:p>
        </p:txBody>
      </p:sp>
      <p:sp>
        <p:nvSpPr>
          <p:cNvPr id="15" name="Text 13"/>
          <p:cNvSpPr/>
          <p:nvPr/>
        </p:nvSpPr>
        <p:spPr>
          <a:xfrm>
            <a:off x="3227189" y="2479973"/>
            <a:ext cx="1259979" cy="220960"/>
          </a:xfrm>
          <a:prstGeom prst="rect">
            <a:avLst/>
          </a:prstGeom>
          <a:noFill/>
          <a:ln/>
        </p:spPr>
        <p:txBody>
          <a:bodyPr wrap="none" lIns="25400" tIns="25400" rIns="25400" bIns="25400" rtlCol="0" anchor="t">
            <a:normAutofit lnSpcReduction="10000"/>
          </a:bodyPr>
          <a:lstStyle/>
          <a:p>
            <a:pPr marL="0" indent="0" algn="l">
              <a:lnSpc>
                <a:spcPct val="102857"/>
              </a:lnSpc>
              <a:buNone/>
            </a:pPr>
            <a:r>
              <a:rPr lang="en-US" sz="1200" dirty="0">
                <a:solidFill>
                  <a:srgbClr val="FFFFFF"/>
                </a:solidFill>
                <a:latin typeface="Arial" pitchFamily="34" charset="0"/>
                <a:ea typeface="Arial" pitchFamily="34" charset="-122"/>
                <a:cs typeface="Arial" pitchFamily="34" charset="-120"/>
              </a:rPr>
              <a:t>Opus 5 </a:t>
            </a:r>
            <a:r>
              <a:rPr lang="en-US" sz="975" dirty="0">
                <a:solidFill>
                  <a:srgbClr val="FFFFFF">
                    <a:alpha val="55000"/>
                  </a:srgbClr>
                </a:solidFill>
                <a:latin typeface="Arial" pitchFamily="34" charset="0"/>
                <a:ea typeface="Arial" pitchFamily="34" charset="-122"/>
                <a:cs typeface="Arial" pitchFamily="34" charset="-120"/>
              </a:rPr>
              <a:t>complex</a:t>
            </a:r>
            <a:endParaRPr lang="en-US" sz="1200" dirty="0"/>
          </a:p>
        </p:txBody>
      </p:sp>
      <p:sp>
        <p:nvSpPr>
          <p:cNvPr id="16" name="Text 14"/>
          <p:cNvSpPr/>
          <p:nvPr/>
        </p:nvSpPr>
        <p:spPr>
          <a:xfrm>
            <a:off x="901700" y="3361730"/>
            <a:ext cx="5329555" cy="25142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72000"/>
                  </a:srgbClr>
                </a:solidFill>
                <a:latin typeface="Arial" pitchFamily="34" charset="0"/>
                <a:ea typeface="Arial" pitchFamily="34" charset="-122"/>
                <a:cs typeface="Arial" pitchFamily="34" charset="-120"/>
              </a:rPr>
              <a:t>Expensive reasoning only where complexity requires it.</a:t>
            </a:r>
            <a:endParaRPr lang="en-US" sz="1200" dirty="0"/>
          </a:p>
        </p:txBody>
      </p:sp>
      <p:sp>
        <p:nvSpPr>
          <p:cNvPr id="17" name="Shape 15"/>
          <p:cNvSpPr/>
          <p:nvPr/>
        </p:nvSpPr>
        <p:spPr>
          <a:xfrm>
            <a:off x="6229350" y="1633538"/>
            <a:ext cx="5276850" cy="2138363"/>
          </a:xfrm>
          <a:prstGeom prst="roundRect">
            <a:avLst>
              <a:gd name="adj" fmla="val 1782"/>
            </a:avLst>
          </a:prstGeom>
          <a:solidFill>
            <a:srgbClr val="4E8BFF">
              <a:alpha val="14000"/>
            </a:srgbClr>
          </a:solidFill>
          <a:ln w="6350">
            <a:solidFill>
              <a:srgbClr val="4E8BFF"/>
            </a:solidFill>
            <a:prstDash val="solid"/>
          </a:ln>
        </p:spPr>
        <p:txBody>
          <a:bodyPr/>
          <a:lstStyle/>
          <a:p>
            <a:endParaRPr lang="en-US"/>
          </a:p>
        </p:txBody>
      </p:sp>
      <p:sp>
        <p:nvSpPr>
          <p:cNvPr id="18" name="Text 16"/>
          <p:cNvSpPr/>
          <p:nvPr/>
        </p:nvSpPr>
        <p:spPr>
          <a:xfrm>
            <a:off x="6445250" y="1919288"/>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02</a:t>
            </a:r>
            <a:endParaRPr lang="en-US" sz="975" dirty="0"/>
          </a:p>
        </p:txBody>
      </p:sp>
      <p:sp>
        <p:nvSpPr>
          <p:cNvPr id="19" name="Text 17"/>
          <p:cNvSpPr/>
          <p:nvPr/>
        </p:nvSpPr>
        <p:spPr>
          <a:xfrm>
            <a:off x="6708180" y="1830388"/>
            <a:ext cx="2264886"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Two-layer correction</a:t>
            </a:r>
            <a:endParaRPr lang="en-US" sz="1650" dirty="0"/>
          </a:p>
        </p:txBody>
      </p:sp>
      <p:sp>
        <p:nvSpPr>
          <p:cNvPr id="20" name="Shape 18"/>
          <p:cNvSpPr/>
          <p:nvPr/>
        </p:nvSpPr>
        <p:spPr>
          <a:xfrm>
            <a:off x="6445250" y="2220913"/>
            <a:ext cx="4845050" cy="581918"/>
          </a:xfrm>
          <a:prstGeom prst="rect">
            <a:avLst/>
          </a:prstGeom>
          <a:solidFill>
            <a:srgbClr val="FFFFFF">
              <a:alpha val="7000"/>
            </a:srgbClr>
          </a:solidFill>
          <a:ln/>
        </p:spPr>
        <p:txBody>
          <a:bodyPr/>
          <a:lstStyle/>
          <a:p>
            <a:endParaRPr lang="en-US"/>
          </a:p>
        </p:txBody>
      </p:sp>
      <p:sp>
        <p:nvSpPr>
          <p:cNvPr id="21" name="Shape 19"/>
          <p:cNvSpPr/>
          <p:nvPr/>
        </p:nvSpPr>
        <p:spPr>
          <a:xfrm>
            <a:off x="6445250" y="2220913"/>
            <a:ext cx="19050" cy="581918"/>
          </a:xfrm>
          <a:prstGeom prst="rect">
            <a:avLst/>
          </a:prstGeom>
          <a:solidFill>
            <a:srgbClr val="FFFFFF">
              <a:alpha val="38000"/>
            </a:srgbClr>
          </a:solidFill>
          <a:ln/>
        </p:spPr>
        <p:txBody>
          <a:bodyPr/>
          <a:lstStyle/>
          <a:p>
            <a:endParaRPr lang="en-US"/>
          </a:p>
        </p:txBody>
      </p:sp>
      <p:sp>
        <p:nvSpPr>
          <p:cNvPr id="22" name="Text 20"/>
          <p:cNvSpPr/>
          <p:nvPr/>
        </p:nvSpPr>
        <p:spPr>
          <a:xfrm>
            <a:off x="6597650" y="2316163"/>
            <a:ext cx="501523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DETERMINISTIC — PROVE AND FIX</a:t>
            </a:r>
            <a:endParaRPr lang="en-US" sz="825" dirty="0"/>
          </a:p>
        </p:txBody>
      </p:sp>
      <p:sp>
        <p:nvSpPr>
          <p:cNvPr id="23" name="Text 21"/>
          <p:cNvSpPr/>
          <p:nvPr/>
        </p:nvSpPr>
        <p:spPr>
          <a:xfrm>
            <a:off x="6597650" y="2501900"/>
            <a:ext cx="5015230"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Formulas, periods, hierarchy, units — recompute or defer.</a:t>
            </a:r>
            <a:endParaRPr lang="en-US" sz="1200" dirty="0"/>
          </a:p>
        </p:txBody>
      </p:sp>
      <p:sp>
        <p:nvSpPr>
          <p:cNvPr id="24" name="Shape 22"/>
          <p:cNvSpPr/>
          <p:nvPr/>
        </p:nvSpPr>
        <p:spPr>
          <a:xfrm>
            <a:off x="6445250" y="2859981"/>
            <a:ext cx="4845050" cy="581918"/>
          </a:xfrm>
          <a:prstGeom prst="rect">
            <a:avLst/>
          </a:prstGeom>
          <a:solidFill>
            <a:srgbClr val="FFFFFF">
              <a:alpha val="7000"/>
            </a:srgbClr>
          </a:solidFill>
          <a:ln/>
        </p:spPr>
        <p:txBody>
          <a:bodyPr/>
          <a:lstStyle/>
          <a:p>
            <a:endParaRPr lang="en-US"/>
          </a:p>
        </p:txBody>
      </p:sp>
      <p:sp>
        <p:nvSpPr>
          <p:cNvPr id="25" name="Shape 23"/>
          <p:cNvSpPr/>
          <p:nvPr/>
        </p:nvSpPr>
        <p:spPr>
          <a:xfrm>
            <a:off x="6445250" y="2859981"/>
            <a:ext cx="19050" cy="581918"/>
          </a:xfrm>
          <a:prstGeom prst="rect">
            <a:avLst/>
          </a:prstGeom>
          <a:solidFill>
            <a:srgbClr val="4E8BFF"/>
          </a:solidFill>
          <a:ln/>
        </p:spPr>
        <p:txBody>
          <a:bodyPr/>
          <a:lstStyle/>
          <a:p>
            <a:endParaRPr lang="en-US"/>
          </a:p>
        </p:txBody>
      </p:sp>
      <p:sp>
        <p:nvSpPr>
          <p:cNvPr id="26" name="Text 24"/>
          <p:cNvSpPr/>
          <p:nvPr/>
        </p:nvSpPr>
        <p:spPr>
          <a:xfrm>
            <a:off x="6597650" y="2955231"/>
            <a:ext cx="501523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LLM — DIAGNOSE AND REPAIR</a:t>
            </a:r>
            <a:endParaRPr lang="en-US" sz="825" dirty="0"/>
          </a:p>
        </p:txBody>
      </p:sp>
      <p:sp>
        <p:nvSpPr>
          <p:cNvPr id="27" name="Text 25"/>
          <p:cNvSpPr/>
          <p:nvPr/>
        </p:nvSpPr>
        <p:spPr>
          <a:xfrm>
            <a:off x="6597650" y="3140968"/>
            <a:ext cx="5015230"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On incoherence: finds why, proposes field-level actions.</a:t>
            </a:r>
            <a:endParaRPr lang="en-US" sz="1200" dirty="0"/>
          </a:p>
        </p:txBody>
      </p:sp>
      <p:sp>
        <p:nvSpPr>
          <p:cNvPr id="28" name="Shape 26"/>
          <p:cNvSpPr/>
          <p:nvPr/>
        </p:nvSpPr>
        <p:spPr>
          <a:xfrm>
            <a:off x="685800" y="3962400"/>
            <a:ext cx="5276850" cy="2138363"/>
          </a:xfrm>
          <a:prstGeom prst="roundRect">
            <a:avLst>
              <a:gd name="adj" fmla="val 1782"/>
            </a:avLst>
          </a:prstGeom>
          <a:solidFill>
            <a:srgbClr val="FFFFFF">
              <a:alpha val="7000"/>
            </a:srgbClr>
          </a:solidFill>
          <a:ln w="6350">
            <a:solidFill>
              <a:srgbClr val="FFFFFF">
                <a:alpha val="14000"/>
              </a:srgbClr>
            </a:solidFill>
            <a:prstDash val="solid"/>
          </a:ln>
        </p:spPr>
        <p:txBody>
          <a:bodyPr/>
          <a:lstStyle/>
          <a:p>
            <a:endParaRPr lang="en-US"/>
          </a:p>
        </p:txBody>
      </p:sp>
      <p:sp>
        <p:nvSpPr>
          <p:cNvPr id="29" name="Text 27"/>
          <p:cNvSpPr/>
          <p:nvPr/>
        </p:nvSpPr>
        <p:spPr>
          <a:xfrm>
            <a:off x="901700" y="4248150"/>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03</a:t>
            </a:r>
            <a:endParaRPr lang="en-US" sz="975" dirty="0"/>
          </a:p>
        </p:txBody>
      </p:sp>
      <p:sp>
        <p:nvSpPr>
          <p:cNvPr id="30" name="Text 28"/>
          <p:cNvSpPr/>
          <p:nvPr/>
        </p:nvSpPr>
        <p:spPr>
          <a:xfrm>
            <a:off x="1164630" y="4159250"/>
            <a:ext cx="2991654"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Agentic pipeline monitoring</a:t>
            </a:r>
            <a:endParaRPr lang="en-US" sz="1650" dirty="0"/>
          </a:p>
        </p:txBody>
      </p:sp>
      <p:sp>
        <p:nvSpPr>
          <p:cNvPr id="31" name="Shape 29"/>
          <p:cNvSpPr/>
          <p:nvPr/>
        </p:nvSpPr>
        <p:spPr>
          <a:xfrm>
            <a:off x="901700" y="4568825"/>
            <a:ext cx="548084" cy="331788"/>
          </a:xfrm>
          <a:prstGeom prst="roundRect">
            <a:avLst>
              <a:gd name="adj" fmla="val 11483"/>
            </a:avLst>
          </a:prstGeom>
          <a:solidFill>
            <a:srgbClr val="FFFFFF">
              <a:alpha val="7000"/>
            </a:srgbClr>
          </a:solidFill>
          <a:ln w="6350">
            <a:solidFill>
              <a:srgbClr val="FFFFFF">
                <a:alpha val="14000"/>
              </a:srgbClr>
            </a:solidFill>
            <a:prstDash val="solid"/>
          </a:ln>
        </p:spPr>
        <p:txBody>
          <a:bodyPr/>
          <a:lstStyle/>
          <a:p>
            <a:endParaRPr lang="en-US"/>
          </a:p>
        </p:txBody>
      </p:sp>
      <p:sp>
        <p:nvSpPr>
          <p:cNvPr id="32" name="Text 30"/>
          <p:cNvSpPr/>
          <p:nvPr/>
        </p:nvSpPr>
        <p:spPr>
          <a:xfrm>
            <a:off x="1012825" y="4641850"/>
            <a:ext cx="402034"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Stage</a:t>
            </a:r>
            <a:endParaRPr lang="en-US" sz="975" dirty="0"/>
          </a:p>
        </p:txBody>
      </p:sp>
      <p:sp>
        <p:nvSpPr>
          <p:cNvPr id="33" name="Shape 31"/>
          <p:cNvSpPr/>
          <p:nvPr/>
        </p:nvSpPr>
        <p:spPr>
          <a:xfrm>
            <a:off x="1525984" y="4729956"/>
            <a:ext cx="152400" cy="9525"/>
          </a:xfrm>
          <a:prstGeom prst="rect">
            <a:avLst/>
          </a:prstGeom>
          <a:solidFill>
            <a:srgbClr val="FFFFFF">
              <a:alpha val="38000"/>
            </a:srgbClr>
          </a:solidFill>
          <a:ln/>
        </p:spPr>
        <p:txBody>
          <a:bodyPr/>
          <a:lstStyle/>
          <a:p>
            <a:endParaRPr lang="en-US"/>
          </a:p>
        </p:txBody>
      </p:sp>
      <p:sp>
        <p:nvSpPr>
          <p:cNvPr id="34" name="Shape 32"/>
          <p:cNvSpPr/>
          <p:nvPr/>
        </p:nvSpPr>
        <p:spPr>
          <a:xfrm>
            <a:off x="1754584" y="4568825"/>
            <a:ext cx="650776" cy="331788"/>
          </a:xfrm>
          <a:prstGeom prst="roundRect">
            <a:avLst>
              <a:gd name="adj" fmla="val 11483"/>
            </a:avLst>
          </a:prstGeom>
          <a:solidFill>
            <a:srgbClr val="E6A43C">
              <a:alpha val="16000"/>
            </a:srgbClr>
          </a:solidFill>
          <a:ln w="6350">
            <a:solidFill>
              <a:srgbClr val="F2B44A"/>
            </a:solidFill>
            <a:prstDash val="solid"/>
          </a:ln>
        </p:spPr>
        <p:txBody>
          <a:bodyPr/>
          <a:lstStyle/>
          <a:p>
            <a:endParaRPr lang="en-US"/>
          </a:p>
        </p:txBody>
      </p:sp>
      <p:sp>
        <p:nvSpPr>
          <p:cNvPr id="35" name="Text 33"/>
          <p:cNvSpPr/>
          <p:nvPr/>
        </p:nvSpPr>
        <p:spPr>
          <a:xfrm>
            <a:off x="1865709" y="4641850"/>
            <a:ext cx="504726"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Inspect</a:t>
            </a:r>
            <a:endParaRPr lang="en-US" sz="975" dirty="0"/>
          </a:p>
        </p:txBody>
      </p:sp>
      <p:sp>
        <p:nvSpPr>
          <p:cNvPr id="36" name="Shape 34"/>
          <p:cNvSpPr/>
          <p:nvPr/>
        </p:nvSpPr>
        <p:spPr>
          <a:xfrm>
            <a:off x="2481560" y="4729956"/>
            <a:ext cx="152400" cy="9525"/>
          </a:xfrm>
          <a:prstGeom prst="rect">
            <a:avLst/>
          </a:prstGeom>
          <a:solidFill>
            <a:srgbClr val="FFFFFF">
              <a:alpha val="38000"/>
            </a:srgbClr>
          </a:solidFill>
          <a:ln/>
        </p:spPr>
        <p:txBody>
          <a:bodyPr/>
          <a:lstStyle/>
          <a:p>
            <a:endParaRPr lang="en-US"/>
          </a:p>
        </p:txBody>
      </p:sp>
      <p:sp>
        <p:nvSpPr>
          <p:cNvPr id="37" name="Shape 35"/>
          <p:cNvSpPr/>
          <p:nvPr/>
        </p:nvSpPr>
        <p:spPr>
          <a:xfrm>
            <a:off x="2710160" y="4568825"/>
            <a:ext cx="1151930" cy="331788"/>
          </a:xfrm>
          <a:prstGeom prst="roundRect">
            <a:avLst>
              <a:gd name="adj" fmla="val 11483"/>
            </a:avLst>
          </a:prstGeom>
          <a:solidFill>
            <a:srgbClr val="4E8BFF">
              <a:alpha val="14000"/>
            </a:srgbClr>
          </a:solidFill>
          <a:ln w="6350">
            <a:solidFill>
              <a:srgbClr val="4E8BFF"/>
            </a:solidFill>
            <a:prstDash val="solid"/>
          </a:ln>
        </p:spPr>
        <p:txBody>
          <a:bodyPr/>
          <a:lstStyle/>
          <a:p>
            <a:endParaRPr lang="en-US"/>
          </a:p>
        </p:txBody>
      </p:sp>
      <p:sp>
        <p:nvSpPr>
          <p:cNvPr id="38" name="Text 36"/>
          <p:cNvSpPr/>
          <p:nvPr/>
        </p:nvSpPr>
        <p:spPr>
          <a:xfrm>
            <a:off x="2821285" y="4641850"/>
            <a:ext cx="100588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Correct or rerun</a:t>
            </a:r>
            <a:endParaRPr lang="en-US" sz="975" dirty="0"/>
          </a:p>
        </p:txBody>
      </p:sp>
      <p:sp>
        <p:nvSpPr>
          <p:cNvPr id="39" name="Text 37"/>
          <p:cNvSpPr/>
          <p:nvPr/>
        </p:nvSpPr>
        <p:spPr>
          <a:xfrm>
            <a:off x="901700" y="5690592"/>
            <a:ext cx="5329555" cy="25142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72000"/>
                  </a:srgbClr>
                </a:solidFill>
                <a:latin typeface="Arial" pitchFamily="34" charset="0"/>
                <a:ea typeface="Arial" pitchFamily="34" charset="-122"/>
                <a:cs typeface="Arial" pitchFamily="34" charset="-120"/>
              </a:rPr>
              <a:t>Errors caught close to their source, before they propagate.</a:t>
            </a:r>
            <a:endParaRPr lang="en-US" sz="1200" dirty="0"/>
          </a:p>
        </p:txBody>
      </p:sp>
      <p:sp>
        <p:nvSpPr>
          <p:cNvPr id="40" name="Shape 38"/>
          <p:cNvSpPr/>
          <p:nvPr/>
        </p:nvSpPr>
        <p:spPr>
          <a:xfrm>
            <a:off x="6229350" y="3962400"/>
            <a:ext cx="5276850" cy="2138363"/>
          </a:xfrm>
          <a:prstGeom prst="roundRect">
            <a:avLst>
              <a:gd name="adj" fmla="val 1782"/>
            </a:avLst>
          </a:prstGeom>
          <a:solidFill>
            <a:srgbClr val="FFFFFF">
              <a:alpha val="7000"/>
            </a:srgbClr>
          </a:solidFill>
          <a:ln w="6350">
            <a:solidFill>
              <a:srgbClr val="FFFFFF">
                <a:alpha val="14000"/>
              </a:srgbClr>
            </a:solidFill>
            <a:prstDash val="solid"/>
          </a:ln>
        </p:spPr>
        <p:txBody>
          <a:bodyPr/>
          <a:lstStyle/>
          <a:p>
            <a:endParaRPr lang="en-US"/>
          </a:p>
        </p:txBody>
      </p:sp>
      <p:sp>
        <p:nvSpPr>
          <p:cNvPr id="41" name="Text 39"/>
          <p:cNvSpPr/>
          <p:nvPr/>
        </p:nvSpPr>
        <p:spPr>
          <a:xfrm>
            <a:off x="6445250" y="4248150"/>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4E8BFF"/>
                </a:solidFill>
                <a:latin typeface="Courier New" pitchFamily="34" charset="0"/>
                <a:ea typeface="Courier New" pitchFamily="34" charset="-122"/>
                <a:cs typeface="Courier New" pitchFamily="34" charset="-120"/>
              </a:rPr>
              <a:t>04</a:t>
            </a:r>
            <a:endParaRPr lang="en-US" sz="975" dirty="0"/>
          </a:p>
        </p:txBody>
      </p:sp>
      <p:sp>
        <p:nvSpPr>
          <p:cNvPr id="42" name="Text 40"/>
          <p:cNvSpPr/>
          <p:nvPr/>
        </p:nvSpPr>
        <p:spPr>
          <a:xfrm>
            <a:off x="6708180" y="4159250"/>
            <a:ext cx="2802731"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Cathay Pacific processing</a:t>
            </a:r>
            <a:endParaRPr lang="en-US" sz="1650" dirty="0"/>
          </a:p>
        </p:txBody>
      </p:sp>
      <p:sp>
        <p:nvSpPr>
          <p:cNvPr id="43" name="Text 41"/>
          <p:cNvSpPr/>
          <p:nvPr/>
        </p:nvSpPr>
        <p:spPr>
          <a:xfrm>
            <a:off x="6445250" y="4568825"/>
            <a:ext cx="4990402"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dirty="0">
                <a:solidFill>
                  <a:srgbClr val="FFFFFF">
                    <a:alpha val="72000"/>
                  </a:srgbClr>
                </a:solidFill>
                <a:latin typeface="Arial" pitchFamily="34" charset="0"/>
                <a:ea typeface="Arial" pitchFamily="34" charset="-122"/>
                <a:cs typeface="Arial" pitchFamily="34" charset="-120"/>
              </a:rPr>
              <a:t>Dedicated handling for reporting characteristics the generic pipeline did not cover.</a:t>
            </a:r>
            <a:endParaRPr lang="en-US" sz="1200" dirty="0"/>
          </a:p>
        </p:txBody>
      </p:sp>
      <p:sp>
        <p:nvSpPr>
          <p:cNvPr id="44" name="Text 42"/>
          <p:cNvSpPr/>
          <p:nvPr/>
        </p:nvSpPr>
        <p:spPr>
          <a:xfrm>
            <a:off x="6445250" y="5718175"/>
            <a:ext cx="5329555"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Generic architecture, targeted specialization.</a:t>
            </a:r>
            <a:endParaRPr lang="en-US" sz="975" dirty="0"/>
          </a:p>
        </p:txBody>
      </p:sp>
      <p:pic>
        <p:nvPicPr>
          <p:cNvPr id="45"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46" name="Text 43"/>
          <p:cNvSpPr/>
          <p:nvPr/>
        </p:nvSpPr>
        <p:spPr>
          <a:xfrm>
            <a:off x="10370245" y="6253163"/>
            <a:ext cx="911126"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38000"/>
                  </a:srgbClr>
                </a:solidFill>
                <a:latin typeface="Arial" pitchFamily="34" charset="0"/>
                <a:ea typeface="Arial" pitchFamily="34" charset="-122"/>
                <a:cs typeface="Arial" pitchFamily="34" charset="-120"/>
              </a:rPr>
              <a:t>What changed</a:t>
            </a:r>
            <a:endParaRPr lang="en-US" sz="975" dirty="0"/>
          </a:p>
        </p:txBody>
      </p:sp>
      <p:sp>
        <p:nvSpPr>
          <p:cNvPr id="47" name="Text 44"/>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07</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07 — AGENTIC CONTROL</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Monitor, inspect, correct — or rerun</a:t>
            </a:r>
            <a:endParaRPr lang="en-US" sz="3000" dirty="0"/>
          </a:p>
        </p:txBody>
      </p:sp>
      <p:sp>
        <p:nvSpPr>
          <p:cNvPr id="5" name="Shape 3"/>
          <p:cNvSpPr/>
          <p:nvPr/>
        </p:nvSpPr>
        <p:spPr>
          <a:xfrm>
            <a:off x="685800" y="141446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2064544"/>
            <a:ext cx="10820400" cy="2433638"/>
          </a:xfrm>
          <a:prstGeom prst="roundRect">
            <a:avLst>
              <a:gd name="adj" fmla="val 1566"/>
            </a:avLst>
          </a:prstGeom>
          <a:ln w="6350">
            <a:solidFill>
              <a:srgbClr val="FFFFFF">
                <a:alpha val="38000"/>
              </a:srgbClr>
            </a:solidFill>
            <a:prstDash val="dash"/>
          </a:ln>
        </p:spPr>
        <p:txBody>
          <a:bodyPr/>
          <a:lstStyle/>
          <a:p>
            <a:endParaRPr lang="en-US"/>
          </a:p>
        </p:txBody>
      </p:sp>
      <p:sp>
        <p:nvSpPr>
          <p:cNvPr id="7" name="Text 5"/>
          <p:cNvSpPr/>
          <p:nvPr/>
        </p:nvSpPr>
        <p:spPr>
          <a:xfrm>
            <a:off x="920750" y="2280444"/>
            <a:ext cx="11385551"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FFFFF">
                    <a:alpha val="38000"/>
                  </a:srgbClr>
                </a:solidFill>
                <a:latin typeface="Arial" pitchFamily="34" charset="0"/>
                <a:ea typeface="Arial" pitchFamily="34" charset="-122"/>
                <a:cs typeface="Arial" pitchFamily="34" charset="-120"/>
              </a:rPr>
              <a:t>MONITORED EXECUTION</a:t>
            </a:r>
            <a:endParaRPr lang="en-US" sz="825" dirty="0"/>
          </a:p>
        </p:txBody>
      </p:sp>
      <p:sp>
        <p:nvSpPr>
          <p:cNvPr id="8" name="Shape 6"/>
          <p:cNvSpPr/>
          <p:nvPr/>
        </p:nvSpPr>
        <p:spPr>
          <a:xfrm>
            <a:off x="920750" y="2609056"/>
            <a:ext cx="1257300" cy="731838"/>
          </a:xfrm>
          <a:prstGeom prst="roundRect">
            <a:avLst>
              <a:gd name="adj" fmla="val 5206"/>
            </a:avLst>
          </a:prstGeom>
          <a:solidFill>
            <a:srgbClr val="FFFFFF">
              <a:alpha val="7000"/>
            </a:srgbClr>
          </a:solidFill>
          <a:ln w="6350">
            <a:solidFill>
              <a:srgbClr val="FFFFFF">
                <a:alpha val="14000"/>
              </a:srgbClr>
            </a:solidFill>
            <a:prstDash val="solid"/>
          </a:ln>
        </p:spPr>
        <p:txBody>
          <a:bodyPr/>
          <a:lstStyle/>
          <a:p>
            <a:endParaRPr lang="en-US"/>
          </a:p>
        </p:txBody>
      </p:sp>
      <p:sp>
        <p:nvSpPr>
          <p:cNvPr id="9" name="Text 7"/>
          <p:cNvSpPr/>
          <p:nvPr/>
        </p:nvSpPr>
        <p:spPr>
          <a:xfrm>
            <a:off x="10795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Retrieval</a:t>
            </a:r>
            <a:endParaRPr lang="en-US" sz="1200" dirty="0"/>
          </a:p>
        </p:txBody>
      </p:sp>
      <p:sp>
        <p:nvSpPr>
          <p:cNvPr id="10" name="Text 8"/>
          <p:cNvSpPr/>
          <p:nvPr/>
        </p:nvSpPr>
        <p:spPr>
          <a:xfrm>
            <a:off x="10795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KPI description</a:t>
            </a:r>
            <a:endParaRPr lang="en-US" sz="975" dirty="0"/>
          </a:p>
        </p:txBody>
      </p:sp>
      <p:sp>
        <p:nvSpPr>
          <p:cNvPr id="11" name="Shape 9"/>
          <p:cNvSpPr/>
          <p:nvPr/>
        </p:nvSpPr>
        <p:spPr>
          <a:xfrm>
            <a:off x="2292350" y="2609056"/>
            <a:ext cx="152400" cy="9525"/>
          </a:xfrm>
          <a:prstGeom prst="rect">
            <a:avLst/>
          </a:prstGeom>
          <a:solidFill>
            <a:srgbClr val="FFFFFF">
              <a:alpha val="38000"/>
            </a:srgbClr>
          </a:solidFill>
          <a:ln/>
        </p:spPr>
        <p:txBody>
          <a:bodyPr/>
          <a:lstStyle/>
          <a:p>
            <a:endParaRPr lang="en-US"/>
          </a:p>
        </p:txBody>
      </p:sp>
      <p:sp>
        <p:nvSpPr>
          <p:cNvPr id="12" name="Shape 10"/>
          <p:cNvSpPr/>
          <p:nvPr/>
        </p:nvSpPr>
        <p:spPr>
          <a:xfrm>
            <a:off x="2559050" y="2609056"/>
            <a:ext cx="1257300" cy="731838"/>
          </a:xfrm>
          <a:prstGeom prst="roundRect">
            <a:avLst>
              <a:gd name="adj" fmla="val 5206"/>
            </a:avLst>
          </a:prstGeom>
          <a:solidFill>
            <a:srgbClr val="FFFFFF">
              <a:alpha val="7000"/>
            </a:srgbClr>
          </a:solidFill>
          <a:ln w="6350">
            <a:solidFill>
              <a:srgbClr val="FFFFFF">
                <a:alpha val="14000"/>
              </a:srgbClr>
            </a:solidFill>
            <a:prstDash val="solid"/>
          </a:ln>
        </p:spPr>
        <p:txBody>
          <a:bodyPr/>
          <a:lstStyle/>
          <a:p>
            <a:endParaRPr lang="en-US"/>
          </a:p>
        </p:txBody>
      </p:sp>
      <p:sp>
        <p:nvSpPr>
          <p:cNvPr id="13" name="Text 11"/>
          <p:cNvSpPr/>
          <p:nvPr/>
        </p:nvSpPr>
        <p:spPr>
          <a:xfrm>
            <a:off x="27178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Structured</a:t>
            </a:r>
            <a:endParaRPr lang="en-US" sz="1200" dirty="0"/>
          </a:p>
        </p:txBody>
      </p:sp>
      <p:sp>
        <p:nvSpPr>
          <p:cNvPr id="14" name="Text 12"/>
          <p:cNvSpPr/>
          <p:nvPr/>
        </p:nvSpPr>
        <p:spPr>
          <a:xfrm>
            <a:off x="27178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JSON</a:t>
            </a:r>
            <a:endParaRPr lang="en-US" sz="975" dirty="0"/>
          </a:p>
        </p:txBody>
      </p:sp>
      <p:sp>
        <p:nvSpPr>
          <p:cNvPr id="15" name="Shape 13"/>
          <p:cNvSpPr/>
          <p:nvPr/>
        </p:nvSpPr>
        <p:spPr>
          <a:xfrm>
            <a:off x="3930650" y="2609056"/>
            <a:ext cx="152400" cy="9525"/>
          </a:xfrm>
          <a:prstGeom prst="rect">
            <a:avLst/>
          </a:prstGeom>
          <a:solidFill>
            <a:srgbClr val="FFFFFF">
              <a:alpha val="38000"/>
            </a:srgbClr>
          </a:solidFill>
          <a:ln/>
        </p:spPr>
        <p:txBody>
          <a:bodyPr/>
          <a:lstStyle/>
          <a:p>
            <a:endParaRPr lang="en-US"/>
          </a:p>
        </p:txBody>
      </p:sp>
      <p:sp>
        <p:nvSpPr>
          <p:cNvPr id="16" name="Shape 14"/>
          <p:cNvSpPr/>
          <p:nvPr/>
        </p:nvSpPr>
        <p:spPr>
          <a:xfrm>
            <a:off x="4197350" y="2609056"/>
            <a:ext cx="1257300" cy="731838"/>
          </a:xfrm>
          <a:prstGeom prst="roundRect">
            <a:avLst>
              <a:gd name="adj" fmla="val 5206"/>
            </a:avLst>
          </a:prstGeom>
          <a:solidFill>
            <a:srgbClr val="E6A43C">
              <a:alpha val="16000"/>
            </a:srgbClr>
          </a:solidFill>
          <a:ln w="6350">
            <a:solidFill>
              <a:srgbClr val="F2B44A"/>
            </a:solidFill>
            <a:prstDash val="solid"/>
          </a:ln>
        </p:spPr>
        <p:txBody>
          <a:bodyPr/>
          <a:lstStyle/>
          <a:p>
            <a:endParaRPr lang="en-US"/>
          </a:p>
        </p:txBody>
      </p:sp>
      <p:sp>
        <p:nvSpPr>
          <p:cNvPr id="17" name="Text 15"/>
          <p:cNvSpPr/>
          <p:nvPr/>
        </p:nvSpPr>
        <p:spPr>
          <a:xfrm>
            <a:off x="43561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Check</a:t>
            </a:r>
            <a:endParaRPr lang="en-US" sz="1200" dirty="0"/>
          </a:p>
        </p:txBody>
      </p:sp>
      <p:sp>
        <p:nvSpPr>
          <p:cNvPr id="18" name="Text 16"/>
          <p:cNvSpPr/>
          <p:nvPr/>
        </p:nvSpPr>
        <p:spPr>
          <a:xfrm>
            <a:off x="43561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deterministic</a:t>
            </a:r>
            <a:endParaRPr lang="en-US" sz="975" dirty="0"/>
          </a:p>
        </p:txBody>
      </p:sp>
      <p:sp>
        <p:nvSpPr>
          <p:cNvPr id="19" name="Shape 17"/>
          <p:cNvSpPr/>
          <p:nvPr/>
        </p:nvSpPr>
        <p:spPr>
          <a:xfrm>
            <a:off x="5568950" y="2609056"/>
            <a:ext cx="152400" cy="9525"/>
          </a:xfrm>
          <a:prstGeom prst="rect">
            <a:avLst/>
          </a:prstGeom>
          <a:solidFill>
            <a:srgbClr val="FFFFFF">
              <a:alpha val="38000"/>
            </a:srgbClr>
          </a:solidFill>
          <a:ln/>
        </p:spPr>
        <p:txBody>
          <a:bodyPr/>
          <a:lstStyle/>
          <a:p>
            <a:endParaRPr lang="en-US"/>
          </a:p>
        </p:txBody>
      </p:sp>
      <p:sp>
        <p:nvSpPr>
          <p:cNvPr id="20" name="Shape 18"/>
          <p:cNvSpPr/>
          <p:nvPr/>
        </p:nvSpPr>
        <p:spPr>
          <a:xfrm>
            <a:off x="5835650" y="2609056"/>
            <a:ext cx="1257300" cy="731838"/>
          </a:xfrm>
          <a:prstGeom prst="roundRect">
            <a:avLst>
              <a:gd name="adj" fmla="val 5206"/>
            </a:avLst>
          </a:prstGeom>
          <a:solidFill>
            <a:srgbClr val="FFFFFF">
              <a:alpha val="7000"/>
            </a:srgbClr>
          </a:solidFill>
          <a:ln w="6350">
            <a:solidFill>
              <a:srgbClr val="FFFFFF">
                <a:alpha val="14000"/>
              </a:srgbClr>
            </a:solidFill>
            <a:prstDash val="solid"/>
          </a:ln>
        </p:spPr>
        <p:txBody>
          <a:bodyPr/>
          <a:lstStyle/>
          <a:p>
            <a:endParaRPr lang="en-US"/>
          </a:p>
        </p:txBody>
      </p:sp>
      <p:sp>
        <p:nvSpPr>
          <p:cNvPr id="21" name="Text 19"/>
          <p:cNvSpPr/>
          <p:nvPr/>
        </p:nvSpPr>
        <p:spPr>
          <a:xfrm>
            <a:off x="59944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Calculated</a:t>
            </a:r>
            <a:endParaRPr lang="en-US" sz="1200" dirty="0"/>
          </a:p>
        </p:txBody>
      </p:sp>
      <p:sp>
        <p:nvSpPr>
          <p:cNvPr id="22" name="Text 20"/>
          <p:cNvSpPr/>
          <p:nvPr/>
        </p:nvSpPr>
        <p:spPr>
          <a:xfrm>
            <a:off x="59944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JSON</a:t>
            </a:r>
            <a:endParaRPr lang="en-US" sz="975" dirty="0"/>
          </a:p>
        </p:txBody>
      </p:sp>
      <p:sp>
        <p:nvSpPr>
          <p:cNvPr id="23" name="Shape 21"/>
          <p:cNvSpPr/>
          <p:nvPr/>
        </p:nvSpPr>
        <p:spPr>
          <a:xfrm>
            <a:off x="7207250" y="2609056"/>
            <a:ext cx="152400" cy="9525"/>
          </a:xfrm>
          <a:prstGeom prst="rect">
            <a:avLst/>
          </a:prstGeom>
          <a:solidFill>
            <a:srgbClr val="FFFFFF">
              <a:alpha val="38000"/>
            </a:srgbClr>
          </a:solidFill>
          <a:ln/>
        </p:spPr>
        <p:txBody>
          <a:bodyPr/>
          <a:lstStyle/>
          <a:p>
            <a:endParaRPr lang="en-US"/>
          </a:p>
        </p:txBody>
      </p:sp>
      <p:sp>
        <p:nvSpPr>
          <p:cNvPr id="24" name="Shape 22"/>
          <p:cNvSpPr/>
          <p:nvPr/>
        </p:nvSpPr>
        <p:spPr>
          <a:xfrm>
            <a:off x="7473950" y="2609056"/>
            <a:ext cx="1257300" cy="731838"/>
          </a:xfrm>
          <a:prstGeom prst="roundRect">
            <a:avLst>
              <a:gd name="adj" fmla="val 5206"/>
            </a:avLst>
          </a:prstGeom>
          <a:solidFill>
            <a:srgbClr val="E6A43C">
              <a:alpha val="16000"/>
            </a:srgbClr>
          </a:solidFill>
          <a:ln w="6350">
            <a:solidFill>
              <a:srgbClr val="F2B44A"/>
            </a:solidFill>
            <a:prstDash val="solid"/>
          </a:ln>
        </p:spPr>
        <p:txBody>
          <a:bodyPr/>
          <a:lstStyle/>
          <a:p>
            <a:endParaRPr lang="en-US"/>
          </a:p>
        </p:txBody>
      </p:sp>
      <p:sp>
        <p:nvSpPr>
          <p:cNvPr id="25" name="Text 23"/>
          <p:cNvSpPr/>
          <p:nvPr/>
        </p:nvSpPr>
        <p:spPr>
          <a:xfrm>
            <a:off x="76327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Check</a:t>
            </a:r>
            <a:endParaRPr lang="en-US" sz="1200" dirty="0"/>
          </a:p>
        </p:txBody>
      </p:sp>
      <p:sp>
        <p:nvSpPr>
          <p:cNvPr id="26" name="Text 24"/>
          <p:cNvSpPr/>
          <p:nvPr/>
        </p:nvSpPr>
        <p:spPr>
          <a:xfrm>
            <a:off x="76327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deterministic</a:t>
            </a:r>
            <a:endParaRPr lang="en-US" sz="975" dirty="0"/>
          </a:p>
        </p:txBody>
      </p:sp>
      <p:sp>
        <p:nvSpPr>
          <p:cNvPr id="27" name="Shape 25"/>
          <p:cNvSpPr/>
          <p:nvPr/>
        </p:nvSpPr>
        <p:spPr>
          <a:xfrm>
            <a:off x="8845550" y="2609056"/>
            <a:ext cx="152400" cy="9525"/>
          </a:xfrm>
          <a:prstGeom prst="rect">
            <a:avLst/>
          </a:prstGeom>
          <a:solidFill>
            <a:srgbClr val="FFFFFF">
              <a:alpha val="38000"/>
            </a:srgbClr>
          </a:solidFill>
          <a:ln/>
        </p:spPr>
        <p:txBody>
          <a:bodyPr/>
          <a:lstStyle/>
          <a:p>
            <a:endParaRPr lang="en-US"/>
          </a:p>
        </p:txBody>
      </p:sp>
      <p:sp>
        <p:nvSpPr>
          <p:cNvPr id="28" name="Shape 26"/>
          <p:cNvSpPr/>
          <p:nvPr/>
        </p:nvSpPr>
        <p:spPr>
          <a:xfrm>
            <a:off x="9112250" y="2609056"/>
            <a:ext cx="1257300" cy="731838"/>
          </a:xfrm>
          <a:prstGeom prst="roundRect">
            <a:avLst>
              <a:gd name="adj" fmla="val 5206"/>
            </a:avLst>
          </a:prstGeom>
          <a:solidFill>
            <a:srgbClr val="FFFFFF">
              <a:alpha val="7000"/>
            </a:srgbClr>
          </a:solidFill>
          <a:ln w="6350">
            <a:solidFill>
              <a:srgbClr val="FFFFFF">
                <a:alpha val="14000"/>
              </a:srgbClr>
            </a:solidFill>
            <a:prstDash val="solid"/>
          </a:ln>
        </p:spPr>
        <p:txBody>
          <a:bodyPr/>
          <a:lstStyle/>
          <a:p>
            <a:endParaRPr lang="en-US"/>
          </a:p>
        </p:txBody>
      </p:sp>
      <p:sp>
        <p:nvSpPr>
          <p:cNvPr id="29" name="Text 27"/>
          <p:cNvSpPr/>
          <p:nvPr/>
        </p:nvSpPr>
        <p:spPr>
          <a:xfrm>
            <a:off x="9271000" y="2748756"/>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Display</a:t>
            </a:r>
            <a:endParaRPr lang="en-US" sz="1200" dirty="0"/>
          </a:p>
        </p:txBody>
      </p:sp>
      <p:sp>
        <p:nvSpPr>
          <p:cNvPr id="30" name="Text 28"/>
          <p:cNvSpPr/>
          <p:nvPr/>
        </p:nvSpPr>
        <p:spPr>
          <a:xfrm>
            <a:off x="9271000" y="3015456"/>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final KPI</a:t>
            </a:r>
            <a:endParaRPr lang="en-US" sz="975" dirty="0"/>
          </a:p>
        </p:txBody>
      </p:sp>
      <p:sp>
        <p:nvSpPr>
          <p:cNvPr id="31" name="Text 29"/>
          <p:cNvSpPr/>
          <p:nvPr/>
        </p:nvSpPr>
        <p:spPr>
          <a:xfrm>
            <a:off x="920750" y="3837781"/>
            <a:ext cx="138303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2B44A"/>
                </a:solidFill>
                <a:latin typeface="Arial" pitchFamily="34" charset="0"/>
                <a:ea typeface="Arial" pitchFamily="34" charset="-122"/>
                <a:cs typeface="Arial" pitchFamily="34" charset="-120"/>
              </a:rPr>
              <a:t>INCOHERENT</a:t>
            </a:r>
            <a:endParaRPr lang="en-US" sz="825" dirty="0"/>
          </a:p>
        </p:txBody>
      </p:sp>
      <p:sp>
        <p:nvSpPr>
          <p:cNvPr id="32" name="Shape 30"/>
          <p:cNvSpPr/>
          <p:nvPr/>
        </p:nvSpPr>
        <p:spPr>
          <a:xfrm>
            <a:off x="2292350" y="3550444"/>
            <a:ext cx="1333302" cy="731838"/>
          </a:xfrm>
          <a:prstGeom prst="roundRect">
            <a:avLst>
              <a:gd name="adj" fmla="val 5206"/>
            </a:avLst>
          </a:prstGeom>
          <a:solidFill>
            <a:srgbClr val="4E8BFF">
              <a:alpha val="14000"/>
            </a:srgbClr>
          </a:solidFill>
          <a:ln w="6350">
            <a:solidFill>
              <a:srgbClr val="4E8BFF"/>
            </a:solidFill>
            <a:prstDash val="solid"/>
          </a:ln>
        </p:spPr>
        <p:txBody>
          <a:bodyPr/>
          <a:lstStyle/>
          <a:p>
            <a:endParaRPr lang="en-US"/>
          </a:p>
        </p:txBody>
      </p:sp>
      <p:sp>
        <p:nvSpPr>
          <p:cNvPr id="33" name="Text 31"/>
          <p:cNvSpPr/>
          <p:nvPr/>
        </p:nvSpPr>
        <p:spPr>
          <a:xfrm>
            <a:off x="2451100" y="3690144"/>
            <a:ext cx="1092002"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Diagnose</a:t>
            </a:r>
            <a:endParaRPr lang="en-US" sz="1200" dirty="0"/>
          </a:p>
        </p:txBody>
      </p:sp>
      <p:sp>
        <p:nvSpPr>
          <p:cNvPr id="34" name="Text 32"/>
          <p:cNvSpPr/>
          <p:nvPr/>
        </p:nvSpPr>
        <p:spPr>
          <a:xfrm>
            <a:off x="2451100" y="3956844"/>
            <a:ext cx="1092002"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LLM, full evidence</a:t>
            </a:r>
            <a:endParaRPr lang="en-US" sz="975" dirty="0"/>
          </a:p>
        </p:txBody>
      </p:sp>
      <p:sp>
        <p:nvSpPr>
          <p:cNvPr id="35" name="Shape 33"/>
          <p:cNvSpPr/>
          <p:nvPr/>
        </p:nvSpPr>
        <p:spPr>
          <a:xfrm>
            <a:off x="3739952" y="3911600"/>
            <a:ext cx="152400" cy="9525"/>
          </a:xfrm>
          <a:prstGeom prst="rect">
            <a:avLst/>
          </a:prstGeom>
          <a:solidFill>
            <a:srgbClr val="FFFFFF">
              <a:alpha val="38000"/>
            </a:srgbClr>
          </a:solidFill>
          <a:ln/>
        </p:spPr>
        <p:txBody>
          <a:bodyPr/>
          <a:lstStyle/>
          <a:p>
            <a:endParaRPr lang="en-US"/>
          </a:p>
        </p:txBody>
      </p:sp>
      <p:sp>
        <p:nvSpPr>
          <p:cNvPr id="36" name="Shape 34"/>
          <p:cNvSpPr/>
          <p:nvPr/>
        </p:nvSpPr>
        <p:spPr>
          <a:xfrm>
            <a:off x="4006652" y="3550444"/>
            <a:ext cx="1257300" cy="731838"/>
          </a:xfrm>
          <a:prstGeom prst="roundRect">
            <a:avLst>
              <a:gd name="adj" fmla="val 5206"/>
            </a:avLst>
          </a:prstGeom>
          <a:solidFill>
            <a:srgbClr val="4E8BFF">
              <a:alpha val="14000"/>
            </a:srgbClr>
          </a:solidFill>
          <a:ln w="6350">
            <a:solidFill>
              <a:srgbClr val="4E8BFF"/>
            </a:solidFill>
            <a:prstDash val="solid"/>
          </a:ln>
        </p:spPr>
        <p:txBody>
          <a:bodyPr/>
          <a:lstStyle/>
          <a:p>
            <a:endParaRPr lang="en-US"/>
          </a:p>
        </p:txBody>
      </p:sp>
      <p:sp>
        <p:nvSpPr>
          <p:cNvPr id="37" name="Text 35"/>
          <p:cNvSpPr/>
          <p:nvPr/>
        </p:nvSpPr>
        <p:spPr>
          <a:xfrm>
            <a:off x="4165402" y="3690144"/>
            <a:ext cx="1016000"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Field action</a:t>
            </a:r>
            <a:endParaRPr lang="en-US" sz="1200" dirty="0"/>
          </a:p>
        </p:txBody>
      </p:sp>
      <p:sp>
        <p:nvSpPr>
          <p:cNvPr id="38" name="Text 36"/>
          <p:cNvSpPr/>
          <p:nvPr/>
        </p:nvSpPr>
        <p:spPr>
          <a:xfrm>
            <a:off x="4165402" y="3956844"/>
            <a:ext cx="1016000"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earliest artifact</a:t>
            </a:r>
            <a:endParaRPr lang="en-US" sz="975" dirty="0"/>
          </a:p>
        </p:txBody>
      </p:sp>
      <p:sp>
        <p:nvSpPr>
          <p:cNvPr id="39" name="Shape 37"/>
          <p:cNvSpPr/>
          <p:nvPr/>
        </p:nvSpPr>
        <p:spPr>
          <a:xfrm>
            <a:off x="5378252" y="3911600"/>
            <a:ext cx="152400" cy="9525"/>
          </a:xfrm>
          <a:prstGeom prst="rect">
            <a:avLst/>
          </a:prstGeom>
          <a:solidFill>
            <a:srgbClr val="FFFFFF">
              <a:alpha val="38000"/>
            </a:srgbClr>
          </a:solidFill>
          <a:ln/>
        </p:spPr>
        <p:txBody>
          <a:bodyPr/>
          <a:lstStyle/>
          <a:p>
            <a:endParaRPr lang="en-US"/>
          </a:p>
        </p:txBody>
      </p:sp>
      <p:sp>
        <p:nvSpPr>
          <p:cNvPr id="40" name="Shape 38"/>
          <p:cNvSpPr/>
          <p:nvPr/>
        </p:nvSpPr>
        <p:spPr>
          <a:xfrm>
            <a:off x="5644952" y="3550444"/>
            <a:ext cx="1442045" cy="731838"/>
          </a:xfrm>
          <a:prstGeom prst="roundRect">
            <a:avLst>
              <a:gd name="adj" fmla="val 5206"/>
            </a:avLst>
          </a:prstGeom>
          <a:solidFill>
            <a:srgbClr val="4E8BFF">
              <a:alpha val="14000"/>
            </a:srgbClr>
          </a:solidFill>
          <a:ln w="6350">
            <a:solidFill>
              <a:srgbClr val="4E8BFF"/>
            </a:solidFill>
            <a:prstDash val="solid"/>
          </a:ln>
        </p:spPr>
        <p:txBody>
          <a:bodyPr/>
          <a:lstStyle/>
          <a:p>
            <a:endParaRPr lang="en-US"/>
          </a:p>
        </p:txBody>
      </p:sp>
      <p:sp>
        <p:nvSpPr>
          <p:cNvPr id="41" name="Text 39"/>
          <p:cNvSpPr/>
          <p:nvPr/>
        </p:nvSpPr>
        <p:spPr>
          <a:xfrm>
            <a:off x="5803702" y="3690144"/>
            <a:ext cx="1200745"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Rerun</a:t>
            </a:r>
            <a:endParaRPr lang="en-US" sz="1200" dirty="0"/>
          </a:p>
        </p:txBody>
      </p:sp>
      <p:sp>
        <p:nvSpPr>
          <p:cNvPr id="42" name="Text 40"/>
          <p:cNvSpPr/>
          <p:nvPr/>
        </p:nvSpPr>
        <p:spPr>
          <a:xfrm>
            <a:off x="5803702" y="3956844"/>
            <a:ext cx="1200745"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downstream stages</a:t>
            </a:r>
            <a:endParaRPr lang="en-US" sz="975" dirty="0"/>
          </a:p>
        </p:txBody>
      </p:sp>
      <p:sp>
        <p:nvSpPr>
          <p:cNvPr id="43" name="Shape 41"/>
          <p:cNvSpPr/>
          <p:nvPr/>
        </p:nvSpPr>
        <p:spPr>
          <a:xfrm>
            <a:off x="7201297" y="3911600"/>
            <a:ext cx="152400" cy="9525"/>
          </a:xfrm>
          <a:prstGeom prst="rect">
            <a:avLst/>
          </a:prstGeom>
          <a:solidFill>
            <a:srgbClr val="FFFFFF">
              <a:alpha val="38000"/>
            </a:srgbClr>
          </a:solidFill>
          <a:ln/>
        </p:spPr>
        <p:txBody>
          <a:bodyPr/>
          <a:lstStyle/>
          <a:p>
            <a:endParaRPr lang="en-US"/>
          </a:p>
        </p:txBody>
      </p:sp>
      <p:sp>
        <p:nvSpPr>
          <p:cNvPr id="44" name="Shape 42"/>
          <p:cNvSpPr/>
          <p:nvPr/>
        </p:nvSpPr>
        <p:spPr>
          <a:xfrm>
            <a:off x="7467997" y="3550444"/>
            <a:ext cx="1346398" cy="731838"/>
          </a:xfrm>
          <a:prstGeom prst="roundRect">
            <a:avLst>
              <a:gd name="adj" fmla="val 5206"/>
            </a:avLst>
          </a:prstGeom>
          <a:solidFill>
            <a:srgbClr val="4E8BFF">
              <a:alpha val="14000"/>
            </a:srgbClr>
          </a:solidFill>
          <a:ln w="6350">
            <a:solidFill>
              <a:srgbClr val="4E8BFF"/>
            </a:solidFill>
            <a:prstDash val="solid"/>
          </a:ln>
        </p:spPr>
        <p:txBody>
          <a:bodyPr/>
          <a:lstStyle/>
          <a:p>
            <a:endParaRPr lang="en-US"/>
          </a:p>
        </p:txBody>
      </p:sp>
      <p:sp>
        <p:nvSpPr>
          <p:cNvPr id="45" name="Text 43"/>
          <p:cNvSpPr/>
          <p:nvPr/>
        </p:nvSpPr>
        <p:spPr>
          <a:xfrm>
            <a:off x="7626747" y="3690144"/>
            <a:ext cx="1105098" cy="266700"/>
          </a:xfrm>
          <a:prstGeom prst="rect">
            <a:avLst/>
          </a:prstGeom>
          <a:noFill/>
          <a:ln/>
        </p:spPr>
        <p:txBody>
          <a:bodyPr wrap="none" lIns="25400" tIns="25400" rIns="25400" bIns="25400" rtlCol="0" anchor="t">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Or rerun stage</a:t>
            </a:r>
            <a:endParaRPr lang="en-US" sz="1200" dirty="0"/>
          </a:p>
        </p:txBody>
      </p:sp>
      <p:sp>
        <p:nvSpPr>
          <p:cNvPr id="46" name="Text 44"/>
          <p:cNvSpPr/>
          <p:nvPr/>
        </p:nvSpPr>
        <p:spPr>
          <a:xfrm>
            <a:off x="7626747" y="3956844"/>
            <a:ext cx="1105098"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alpha val="55000"/>
                  </a:srgbClr>
                </a:solidFill>
                <a:latin typeface="Arial" pitchFamily="34" charset="0"/>
                <a:ea typeface="Arial" pitchFamily="34" charset="-122"/>
                <a:cs typeface="Arial" pitchFamily="34" charset="-120"/>
              </a:rPr>
              <a:t>error in prompt</a:t>
            </a:r>
            <a:endParaRPr lang="en-US" sz="975" dirty="0"/>
          </a:p>
        </p:txBody>
      </p:sp>
      <p:sp>
        <p:nvSpPr>
          <p:cNvPr id="47" name="Text 45"/>
          <p:cNvSpPr/>
          <p:nvPr/>
        </p:nvSpPr>
        <p:spPr>
          <a:xfrm>
            <a:off x="685800" y="4745831"/>
            <a:ext cx="3799840" cy="523875"/>
          </a:xfrm>
          <a:prstGeom prst="rect">
            <a:avLst/>
          </a:prstGeom>
          <a:noFill/>
          <a:ln/>
        </p:spPr>
        <p:txBody>
          <a:bodyPr wrap="square" lIns="25400" tIns="25400" rIns="25400" bIns="25400" rtlCol="0" anchor="t">
            <a:normAutofit/>
          </a:bodyPr>
          <a:lstStyle/>
          <a:p>
            <a:pPr marL="0" indent="0" algn="l">
              <a:lnSpc>
                <a:spcPct val="129661"/>
              </a:lnSpc>
              <a:buNone/>
            </a:pPr>
            <a:r>
              <a:rPr lang="en-US" sz="2550" dirty="0">
                <a:solidFill>
                  <a:srgbClr val="4E8BFF"/>
                </a:solidFill>
                <a:latin typeface="Arial" pitchFamily="34" charset="0"/>
                <a:ea typeface="Arial" pitchFamily="34" charset="-122"/>
                <a:cs typeface="Arial" pitchFamily="34" charset="-120"/>
              </a:rPr>
              <a:t>Prove</a:t>
            </a:r>
            <a:endParaRPr lang="en-US" sz="2550" dirty="0"/>
          </a:p>
        </p:txBody>
      </p:sp>
      <p:sp>
        <p:nvSpPr>
          <p:cNvPr id="48" name="Text 46"/>
          <p:cNvSpPr/>
          <p:nvPr/>
        </p:nvSpPr>
        <p:spPr>
          <a:xfrm>
            <a:off x="685800" y="5269706"/>
            <a:ext cx="3799840"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Rules fix what can be proven</a:t>
            </a:r>
            <a:endParaRPr lang="en-US" sz="1200" dirty="0"/>
          </a:p>
        </p:txBody>
      </p:sp>
      <p:sp>
        <p:nvSpPr>
          <p:cNvPr id="49" name="Text 47"/>
          <p:cNvSpPr/>
          <p:nvPr/>
        </p:nvSpPr>
        <p:spPr>
          <a:xfrm>
            <a:off x="4368800" y="4745831"/>
            <a:ext cx="3799840" cy="523875"/>
          </a:xfrm>
          <a:prstGeom prst="rect">
            <a:avLst/>
          </a:prstGeom>
          <a:noFill/>
          <a:ln/>
        </p:spPr>
        <p:txBody>
          <a:bodyPr wrap="square" lIns="25400" tIns="25400" rIns="25400" bIns="25400" rtlCol="0" anchor="t">
            <a:normAutofit/>
          </a:bodyPr>
          <a:lstStyle/>
          <a:p>
            <a:pPr marL="0" indent="0" algn="l">
              <a:lnSpc>
                <a:spcPct val="129661"/>
              </a:lnSpc>
              <a:buNone/>
            </a:pPr>
            <a:r>
              <a:rPr lang="en-US" sz="2550" dirty="0">
                <a:solidFill>
                  <a:srgbClr val="4E8BFF"/>
                </a:solidFill>
                <a:latin typeface="Arial" pitchFamily="34" charset="0"/>
                <a:ea typeface="Arial" pitchFamily="34" charset="-122"/>
                <a:cs typeface="Arial" pitchFamily="34" charset="-120"/>
              </a:rPr>
              <a:t>Diagnose</a:t>
            </a:r>
            <a:endParaRPr lang="en-US" sz="2550" dirty="0"/>
          </a:p>
        </p:txBody>
      </p:sp>
      <p:sp>
        <p:nvSpPr>
          <p:cNvPr id="50" name="Text 48"/>
          <p:cNvSpPr/>
          <p:nvPr/>
        </p:nvSpPr>
        <p:spPr>
          <a:xfrm>
            <a:off x="4368800" y="5269706"/>
            <a:ext cx="3799840"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The model explains why</a:t>
            </a:r>
            <a:endParaRPr lang="en-US" sz="1200" dirty="0"/>
          </a:p>
        </p:txBody>
      </p:sp>
      <p:sp>
        <p:nvSpPr>
          <p:cNvPr id="51" name="Text 49"/>
          <p:cNvSpPr/>
          <p:nvPr/>
        </p:nvSpPr>
        <p:spPr>
          <a:xfrm>
            <a:off x="8051800" y="4745831"/>
            <a:ext cx="3799840" cy="523875"/>
          </a:xfrm>
          <a:prstGeom prst="rect">
            <a:avLst/>
          </a:prstGeom>
          <a:noFill/>
          <a:ln/>
        </p:spPr>
        <p:txBody>
          <a:bodyPr wrap="square" lIns="25400" tIns="25400" rIns="25400" bIns="25400" rtlCol="0" anchor="t">
            <a:normAutofit/>
          </a:bodyPr>
          <a:lstStyle/>
          <a:p>
            <a:pPr marL="0" indent="0" algn="l">
              <a:lnSpc>
                <a:spcPct val="129661"/>
              </a:lnSpc>
              <a:buNone/>
            </a:pPr>
            <a:r>
              <a:rPr lang="en-US" sz="2550" dirty="0">
                <a:solidFill>
                  <a:srgbClr val="4E8BFF"/>
                </a:solidFill>
                <a:latin typeface="Arial" pitchFamily="34" charset="0"/>
                <a:ea typeface="Arial" pitchFamily="34" charset="-122"/>
                <a:cs typeface="Arial" pitchFamily="34" charset="-120"/>
              </a:rPr>
              <a:t>Bound</a:t>
            </a:r>
            <a:endParaRPr lang="en-US" sz="2550" dirty="0"/>
          </a:p>
        </p:txBody>
      </p:sp>
      <p:sp>
        <p:nvSpPr>
          <p:cNvPr id="52" name="Text 50"/>
          <p:cNvSpPr/>
          <p:nvPr/>
        </p:nvSpPr>
        <p:spPr>
          <a:xfrm>
            <a:off x="8051800" y="5269706"/>
            <a:ext cx="3558032" cy="4953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Structured actions only; review, mark_untrusted or leave_empty otherwise</a:t>
            </a:r>
            <a:endParaRPr lang="en-US" sz="1200" dirty="0"/>
          </a:p>
        </p:txBody>
      </p:sp>
      <p:pic>
        <p:nvPicPr>
          <p:cNvPr id="53"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54" name="Text 51"/>
          <p:cNvSpPr/>
          <p:nvPr/>
        </p:nvSpPr>
        <p:spPr>
          <a:xfrm>
            <a:off x="10239276" y="6253163"/>
            <a:ext cx="1042095"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correction.py</a:t>
            </a:r>
            <a:endParaRPr lang="en-US" sz="975" dirty="0"/>
          </a:p>
        </p:txBody>
      </p:sp>
      <p:sp>
        <p:nvSpPr>
          <p:cNvPr id="55" name="Text 52"/>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08</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08 — RESULTS</a:t>
            </a:r>
            <a:endParaRPr lang="en-US" sz="825" dirty="0"/>
          </a:p>
        </p:txBody>
      </p:sp>
      <p:sp>
        <p:nvSpPr>
          <p:cNvPr id="4" name="Text 2"/>
          <p:cNvSpPr/>
          <p:nvPr/>
        </p:nvSpPr>
        <p:spPr>
          <a:xfrm>
            <a:off x="685800" y="78581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Latest results by airline</a:t>
            </a:r>
            <a:endParaRPr lang="en-US" sz="3000" dirty="0"/>
          </a:p>
        </p:txBody>
      </p:sp>
      <p:sp>
        <p:nvSpPr>
          <p:cNvPr id="5" name="Shape 3"/>
          <p:cNvSpPr/>
          <p:nvPr/>
        </p:nvSpPr>
        <p:spPr>
          <a:xfrm>
            <a:off x="685800" y="137636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806575"/>
            <a:ext cx="1998365" cy="9525"/>
          </a:xfrm>
          <a:prstGeom prst="rect">
            <a:avLst/>
          </a:prstGeom>
          <a:solidFill>
            <a:srgbClr val="FFFFFF">
              <a:alpha val="38000"/>
            </a:srgbClr>
          </a:solidFill>
          <a:ln/>
        </p:spPr>
        <p:txBody>
          <a:bodyPr/>
          <a:lstStyle/>
          <a:p>
            <a:endParaRPr lang="en-US"/>
          </a:p>
        </p:txBody>
      </p:sp>
      <p:sp>
        <p:nvSpPr>
          <p:cNvPr id="7" name="Text 5"/>
          <p:cNvSpPr/>
          <p:nvPr/>
        </p:nvSpPr>
        <p:spPr>
          <a:xfrm>
            <a:off x="800100" y="1576388"/>
            <a:ext cx="1845965" cy="192088"/>
          </a:xfrm>
          <a:prstGeom prst="rect">
            <a:avLst/>
          </a:prstGeom>
          <a:noFill/>
          <a:ln/>
        </p:spPr>
        <p:txBody>
          <a:bodyPr wrap="square" lIns="25400" tIns="25400" rIns="25400" bIns="25400" rtlCol="0" anchor="ctr">
            <a:normAutofit lnSpcReduction="10000"/>
          </a:bodyPr>
          <a:lstStyle/>
          <a:p>
            <a:pPr marL="0" indent="0" algn="l">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AIRLINE</a:t>
            </a:r>
            <a:endParaRPr lang="en-US" sz="825" dirty="0"/>
          </a:p>
        </p:txBody>
      </p:sp>
      <p:sp>
        <p:nvSpPr>
          <p:cNvPr id="8" name="Shape 6"/>
          <p:cNvSpPr/>
          <p:nvPr/>
        </p:nvSpPr>
        <p:spPr>
          <a:xfrm>
            <a:off x="2684165" y="1806575"/>
            <a:ext cx="946944" cy="9525"/>
          </a:xfrm>
          <a:prstGeom prst="rect">
            <a:avLst/>
          </a:prstGeom>
          <a:solidFill>
            <a:srgbClr val="FFFFFF">
              <a:alpha val="38000"/>
            </a:srgbClr>
          </a:solidFill>
          <a:ln/>
        </p:spPr>
        <p:txBody>
          <a:bodyPr/>
          <a:lstStyle/>
          <a:p>
            <a:endParaRPr lang="en-US"/>
          </a:p>
        </p:txBody>
      </p:sp>
      <p:sp>
        <p:nvSpPr>
          <p:cNvPr id="9" name="Text 7"/>
          <p:cNvSpPr/>
          <p:nvPr/>
        </p:nvSpPr>
        <p:spPr>
          <a:xfrm>
            <a:off x="2722265" y="1576388"/>
            <a:ext cx="794544" cy="192088"/>
          </a:xfrm>
          <a:prstGeom prst="rect">
            <a:avLst/>
          </a:prstGeom>
          <a:noFill/>
          <a:ln/>
        </p:spPr>
        <p:txBody>
          <a:bodyPr wrap="square" lIns="25400" tIns="25400" rIns="25400" bIns="25400" rtlCol="0" anchor="ctr">
            <a:normAutofit lnSpcReduction="10000"/>
          </a:bodyPr>
          <a:lstStyle/>
          <a:p>
            <a:pPr marL="0" indent="0" algn="r">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ACCURACY</a:t>
            </a:r>
            <a:endParaRPr lang="en-US" sz="825" dirty="0"/>
          </a:p>
        </p:txBody>
      </p:sp>
      <p:sp>
        <p:nvSpPr>
          <p:cNvPr id="10" name="Shape 8"/>
          <p:cNvSpPr/>
          <p:nvPr/>
        </p:nvSpPr>
        <p:spPr>
          <a:xfrm>
            <a:off x="3631109" y="1806575"/>
            <a:ext cx="1706860" cy="9525"/>
          </a:xfrm>
          <a:prstGeom prst="rect">
            <a:avLst/>
          </a:prstGeom>
          <a:solidFill>
            <a:srgbClr val="FFFFFF">
              <a:alpha val="38000"/>
            </a:srgbClr>
          </a:solidFill>
          <a:ln/>
        </p:spPr>
        <p:txBody>
          <a:bodyPr/>
          <a:lstStyle/>
          <a:p>
            <a:endParaRPr lang="en-US"/>
          </a:p>
        </p:txBody>
      </p:sp>
      <p:sp>
        <p:nvSpPr>
          <p:cNvPr id="11" name="Text 9"/>
          <p:cNvSpPr/>
          <p:nvPr/>
        </p:nvSpPr>
        <p:spPr>
          <a:xfrm>
            <a:off x="3669209" y="1576388"/>
            <a:ext cx="1554460" cy="192088"/>
          </a:xfrm>
          <a:prstGeom prst="rect">
            <a:avLst/>
          </a:prstGeom>
          <a:noFill/>
          <a:ln/>
        </p:spPr>
        <p:txBody>
          <a:bodyPr wrap="square" lIns="25400" tIns="25400" rIns="25400" bIns="25400" rtlCol="0" anchor="ctr">
            <a:normAutofit lnSpcReduction="10000"/>
          </a:bodyPr>
          <a:lstStyle/>
          <a:p>
            <a:pPr marL="0" indent="0" algn="r">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COST RANGE / PERIOD</a:t>
            </a:r>
            <a:endParaRPr lang="en-US" sz="825" dirty="0"/>
          </a:p>
        </p:txBody>
      </p:sp>
      <p:sp>
        <p:nvSpPr>
          <p:cNvPr id="12" name="Shape 10"/>
          <p:cNvSpPr/>
          <p:nvPr/>
        </p:nvSpPr>
        <p:spPr>
          <a:xfrm>
            <a:off x="5337969" y="1806575"/>
            <a:ext cx="1301155" cy="9525"/>
          </a:xfrm>
          <a:prstGeom prst="rect">
            <a:avLst/>
          </a:prstGeom>
          <a:solidFill>
            <a:srgbClr val="FFFFFF">
              <a:alpha val="38000"/>
            </a:srgbClr>
          </a:solidFill>
          <a:ln/>
        </p:spPr>
        <p:txBody>
          <a:bodyPr/>
          <a:lstStyle/>
          <a:p>
            <a:endParaRPr lang="en-US"/>
          </a:p>
        </p:txBody>
      </p:sp>
      <p:sp>
        <p:nvSpPr>
          <p:cNvPr id="13" name="Text 11"/>
          <p:cNvSpPr/>
          <p:nvPr/>
        </p:nvSpPr>
        <p:spPr>
          <a:xfrm>
            <a:off x="5376069" y="1576388"/>
            <a:ext cx="1148755" cy="192088"/>
          </a:xfrm>
          <a:prstGeom prst="rect">
            <a:avLst/>
          </a:prstGeom>
          <a:noFill/>
          <a:ln/>
        </p:spPr>
        <p:txBody>
          <a:bodyPr wrap="square" lIns="25400" tIns="25400" rIns="25400" bIns="25400" rtlCol="0" anchor="ctr">
            <a:normAutofit lnSpcReduction="10000"/>
          </a:bodyPr>
          <a:lstStyle/>
          <a:p>
            <a:pPr marL="0" indent="0" algn="r">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AVG. RUNTIME</a:t>
            </a:r>
            <a:endParaRPr lang="en-US" sz="825" dirty="0"/>
          </a:p>
        </p:txBody>
      </p:sp>
      <p:sp>
        <p:nvSpPr>
          <p:cNvPr id="14" name="Shape 12"/>
          <p:cNvSpPr/>
          <p:nvPr/>
        </p:nvSpPr>
        <p:spPr>
          <a:xfrm>
            <a:off x="685800" y="2136775"/>
            <a:ext cx="1998365" cy="9525"/>
          </a:xfrm>
          <a:prstGeom prst="rect">
            <a:avLst/>
          </a:prstGeom>
          <a:solidFill>
            <a:srgbClr val="FFFFFF">
              <a:alpha val="14000"/>
            </a:srgbClr>
          </a:solidFill>
          <a:ln/>
        </p:spPr>
        <p:txBody>
          <a:bodyPr/>
          <a:lstStyle/>
          <a:p>
            <a:endParaRPr lang="en-US"/>
          </a:p>
        </p:txBody>
      </p:sp>
      <p:sp>
        <p:nvSpPr>
          <p:cNvPr id="15" name="Text 13"/>
          <p:cNvSpPr/>
          <p:nvPr/>
        </p:nvSpPr>
        <p:spPr>
          <a:xfrm>
            <a:off x="800100" y="18605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JetBlue</a:t>
            </a:r>
            <a:endParaRPr lang="en-US" sz="1200" dirty="0"/>
          </a:p>
        </p:txBody>
      </p:sp>
      <p:sp>
        <p:nvSpPr>
          <p:cNvPr id="16" name="Shape 14"/>
          <p:cNvSpPr/>
          <p:nvPr/>
        </p:nvSpPr>
        <p:spPr>
          <a:xfrm>
            <a:off x="2684165" y="2136775"/>
            <a:ext cx="946944" cy="9525"/>
          </a:xfrm>
          <a:prstGeom prst="rect">
            <a:avLst/>
          </a:prstGeom>
          <a:solidFill>
            <a:srgbClr val="FFFFFF">
              <a:alpha val="14000"/>
            </a:srgbClr>
          </a:solidFill>
          <a:ln/>
        </p:spPr>
        <p:txBody>
          <a:bodyPr/>
          <a:lstStyle/>
          <a:p>
            <a:endParaRPr lang="en-US"/>
          </a:p>
        </p:txBody>
      </p:sp>
      <p:sp>
        <p:nvSpPr>
          <p:cNvPr id="17" name="Text 15"/>
          <p:cNvSpPr/>
          <p:nvPr/>
        </p:nvSpPr>
        <p:spPr>
          <a:xfrm>
            <a:off x="2722265" y="18605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100%</a:t>
            </a:r>
            <a:endParaRPr lang="en-US" sz="1200" dirty="0"/>
          </a:p>
        </p:txBody>
      </p:sp>
      <p:sp>
        <p:nvSpPr>
          <p:cNvPr id="18" name="Shape 16"/>
          <p:cNvSpPr/>
          <p:nvPr/>
        </p:nvSpPr>
        <p:spPr>
          <a:xfrm>
            <a:off x="3631109" y="2136775"/>
            <a:ext cx="1706860" cy="9525"/>
          </a:xfrm>
          <a:prstGeom prst="rect">
            <a:avLst/>
          </a:prstGeom>
          <a:solidFill>
            <a:srgbClr val="FFFFFF">
              <a:alpha val="14000"/>
            </a:srgbClr>
          </a:solidFill>
          <a:ln/>
        </p:spPr>
        <p:txBody>
          <a:bodyPr/>
          <a:lstStyle/>
          <a:p>
            <a:endParaRPr lang="en-US"/>
          </a:p>
        </p:txBody>
      </p:sp>
      <p:sp>
        <p:nvSpPr>
          <p:cNvPr id="19" name="Text 17"/>
          <p:cNvSpPr/>
          <p:nvPr/>
        </p:nvSpPr>
        <p:spPr>
          <a:xfrm>
            <a:off x="3669209" y="18605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$2.28 – $3.50</a:t>
            </a:r>
            <a:endParaRPr lang="en-US" sz="1200" dirty="0"/>
          </a:p>
        </p:txBody>
      </p:sp>
      <p:sp>
        <p:nvSpPr>
          <p:cNvPr id="20" name="Shape 18"/>
          <p:cNvSpPr/>
          <p:nvPr/>
        </p:nvSpPr>
        <p:spPr>
          <a:xfrm>
            <a:off x="5337969" y="2136775"/>
            <a:ext cx="1301155" cy="9525"/>
          </a:xfrm>
          <a:prstGeom prst="rect">
            <a:avLst/>
          </a:prstGeom>
          <a:solidFill>
            <a:srgbClr val="FFFFFF">
              <a:alpha val="14000"/>
            </a:srgbClr>
          </a:solidFill>
          <a:ln/>
        </p:spPr>
        <p:txBody>
          <a:bodyPr/>
          <a:lstStyle/>
          <a:p>
            <a:endParaRPr lang="en-US"/>
          </a:p>
        </p:txBody>
      </p:sp>
      <p:sp>
        <p:nvSpPr>
          <p:cNvPr id="21" name="Text 19"/>
          <p:cNvSpPr/>
          <p:nvPr/>
        </p:nvSpPr>
        <p:spPr>
          <a:xfrm>
            <a:off x="5376069" y="18605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~11.7 min</a:t>
            </a:r>
            <a:endParaRPr lang="en-US" sz="1200" dirty="0"/>
          </a:p>
        </p:txBody>
      </p:sp>
      <p:sp>
        <p:nvSpPr>
          <p:cNvPr id="22" name="Shape 20"/>
          <p:cNvSpPr/>
          <p:nvPr/>
        </p:nvSpPr>
        <p:spPr>
          <a:xfrm>
            <a:off x="685800" y="2466975"/>
            <a:ext cx="1998365" cy="9525"/>
          </a:xfrm>
          <a:prstGeom prst="rect">
            <a:avLst/>
          </a:prstGeom>
          <a:solidFill>
            <a:srgbClr val="FFFFFF">
              <a:alpha val="14000"/>
            </a:srgbClr>
          </a:solidFill>
          <a:ln/>
        </p:spPr>
        <p:txBody>
          <a:bodyPr/>
          <a:lstStyle/>
          <a:p>
            <a:endParaRPr lang="en-US"/>
          </a:p>
        </p:txBody>
      </p:sp>
      <p:sp>
        <p:nvSpPr>
          <p:cNvPr id="23" name="Text 21"/>
          <p:cNvSpPr/>
          <p:nvPr/>
        </p:nvSpPr>
        <p:spPr>
          <a:xfrm>
            <a:off x="800100" y="21907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British Airways</a:t>
            </a:r>
            <a:endParaRPr lang="en-US" sz="1200" dirty="0"/>
          </a:p>
        </p:txBody>
      </p:sp>
      <p:sp>
        <p:nvSpPr>
          <p:cNvPr id="24" name="Shape 22"/>
          <p:cNvSpPr/>
          <p:nvPr/>
        </p:nvSpPr>
        <p:spPr>
          <a:xfrm>
            <a:off x="2684165" y="2466975"/>
            <a:ext cx="946944" cy="9525"/>
          </a:xfrm>
          <a:prstGeom prst="rect">
            <a:avLst/>
          </a:prstGeom>
          <a:solidFill>
            <a:srgbClr val="FFFFFF">
              <a:alpha val="14000"/>
            </a:srgbClr>
          </a:solidFill>
          <a:ln/>
        </p:spPr>
        <p:txBody>
          <a:bodyPr/>
          <a:lstStyle/>
          <a:p>
            <a:endParaRPr lang="en-US"/>
          </a:p>
        </p:txBody>
      </p:sp>
      <p:sp>
        <p:nvSpPr>
          <p:cNvPr id="25" name="Text 23"/>
          <p:cNvSpPr/>
          <p:nvPr/>
        </p:nvSpPr>
        <p:spPr>
          <a:xfrm>
            <a:off x="2722265" y="21907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100%</a:t>
            </a:r>
            <a:endParaRPr lang="en-US" sz="1200" dirty="0"/>
          </a:p>
        </p:txBody>
      </p:sp>
      <p:sp>
        <p:nvSpPr>
          <p:cNvPr id="26" name="Shape 24"/>
          <p:cNvSpPr/>
          <p:nvPr/>
        </p:nvSpPr>
        <p:spPr>
          <a:xfrm>
            <a:off x="3631109" y="2466975"/>
            <a:ext cx="1706860" cy="9525"/>
          </a:xfrm>
          <a:prstGeom prst="rect">
            <a:avLst/>
          </a:prstGeom>
          <a:solidFill>
            <a:srgbClr val="FFFFFF">
              <a:alpha val="14000"/>
            </a:srgbClr>
          </a:solidFill>
          <a:ln/>
        </p:spPr>
        <p:txBody>
          <a:bodyPr/>
          <a:lstStyle/>
          <a:p>
            <a:endParaRPr lang="en-US"/>
          </a:p>
        </p:txBody>
      </p:sp>
      <p:sp>
        <p:nvSpPr>
          <p:cNvPr id="27" name="Text 25"/>
          <p:cNvSpPr/>
          <p:nvPr/>
        </p:nvSpPr>
        <p:spPr>
          <a:xfrm>
            <a:off x="3669209" y="21907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$1.60 – $3.20</a:t>
            </a:r>
            <a:endParaRPr lang="en-US" sz="1200" dirty="0"/>
          </a:p>
        </p:txBody>
      </p:sp>
      <p:sp>
        <p:nvSpPr>
          <p:cNvPr id="28" name="Shape 26"/>
          <p:cNvSpPr/>
          <p:nvPr/>
        </p:nvSpPr>
        <p:spPr>
          <a:xfrm>
            <a:off x="5337969" y="2466975"/>
            <a:ext cx="1301155" cy="9525"/>
          </a:xfrm>
          <a:prstGeom prst="rect">
            <a:avLst/>
          </a:prstGeom>
          <a:solidFill>
            <a:srgbClr val="FFFFFF">
              <a:alpha val="14000"/>
            </a:srgbClr>
          </a:solidFill>
          <a:ln/>
        </p:spPr>
        <p:txBody>
          <a:bodyPr/>
          <a:lstStyle/>
          <a:p>
            <a:endParaRPr lang="en-US"/>
          </a:p>
        </p:txBody>
      </p:sp>
      <p:sp>
        <p:nvSpPr>
          <p:cNvPr id="29" name="Text 27"/>
          <p:cNvSpPr/>
          <p:nvPr/>
        </p:nvSpPr>
        <p:spPr>
          <a:xfrm>
            <a:off x="5376069" y="21907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~7.5 min</a:t>
            </a:r>
            <a:endParaRPr lang="en-US" sz="1200" dirty="0"/>
          </a:p>
        </p:txBody>
      </p:sp>
      <p:sp>
        <p:nvSpPr>
          <p:cNvPr id="30" name="Shape 28"/>
          <p:cNvSpPr/>
          <p:nvPr/>
        </p:nvSpPr>
        <p:spPr>
          <a:xfrm>
            <a:off x="685800" y="2797175"/>
            <a:ext cx="1998365" cy="9525"/>
          </a:xfrm>
          <a:prstGeom prst="rect">
            <a:avLst/>
          </a:prstGeom>
          <a:solidFill>
            <a:srgbClr val="FFFFFF">
              <a:alpha val="14000"/>
            </a:srgbClr>
          </a:solidFill>
          <a:ln/>
        </p:spPr>
        <p:txBody>
          <a:bodyPr/>
          <a:lstStyle/>
          <a:p>
            <a:endParaRPr lang="en-US"/>
          </a:p>
        </p:txBody>
      </p:sp>
      <p:sp>
        <p:nvSpPr>
          <p:cNvPr id="31" name="Text 29"/>
          <p:cNvSpPr/>
          <p:nvPr/>
        </p:nvSpPr>
        <p:spPr>
          <a:xfrm>
            <a:off x="800100" y="25209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Vueling</a:t>
            </a:r>
            <a:endParaRPr lang="en-US" sz="1200" dirty="0"/>
          </a:p>
        </p:txBody>
      </p:sp>
      <p:sp>
        <p:nvSpPr>
          <p:cNvPr id="32" name="Shape 30"/>
          <p:cNvSpPr/>
          <p:nvPr/>
        </p:nvSpPr>
        <p:spPr>
          <a:xfrm>
            <a:off x="2684165" y="2797175"/>
            <a:ext cx="946944" cy="9525"/>
          </a:xfrm>
          <a:prstGeom prst="rect">
            <a:avLst/>
          </a:prstGeom>
          <a:solidFill>
            <a:srgbClr val="FFFFFF">
              <a:alpha val="14000"/>
            </a:srgbClr>
          </a:solidFill>
          <a:ln/>
        </p:spPr>
        <p:txBody>
          <a:bodyPr/>
          <a:lstStyle/>
          <a:p>
            <a:endParaRPr lang="en-US"/>
          </a:p>
        </p:txBody>
      </p:sp>
      <p:sp>
        <p:nvSpPr>
          <p:cNvPr id="33" name="Text 31"/>
          <p:cNvSpPr/>
          <p:nvPr/>
        </p:nvSpPr>
        <p:spPr>
          <a:xfrm>
            <a:off x="2722265" y="25209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100%</a:t>
            </a:r>
            <a:endParaRPr lang="en-US" sz="1200" dirty="0"/>
          </a:p>
        </p:txBody>
      </p:sp>
      <p:sp>
        <p:nvSpPr>
          <p:cNvPr id="34" name="Shape 32"/>
          <p:cNvSpPr/>
          <p:nvPr/>
        </p:nvSpPr>
        <p:spPr>
          <a:xfrm>
            <a:off x="3631109" y="2797175"/>
            <a:ext cx="1706860" cy="9525"/>
          </a:xfrm>
          <a:prstGeom prst="rect">
            <a:avLst/>
          </a:prstGeom>
          <a:solidFill>
            <a:srgbClr val="FFFFFF">
              <a:alpha val="14000"/>
            </a:srgbClr>
          </a:solidFill>
          <a:ln/>
        </p:spPr>
        <p:txBody>
          <a:bodyPr/>
          <a:lstStyle/>
          <a:p>
            <a:endParaRPr lang="en-US"/>
          </a:p>
        </p:txBody>
      </p:sp>
      <p:sp>
        <p:nvSpPr>
          <p:cNvPr id="35" name="Text 33"/>
          <p:cNvSpPr/>
          <p:nvPr/>
        </p:nvSpPr>
        <p:spPr>
          <a:xfrm>
            <a:off x="3669209" y="25209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$1.60 – $3.20</a:t>
            </a:r>
            <a:endParaRPr lang="en-US" sz="1200" dirty="0"/>
          </a:p>
        </p:txBody>
      </p:sp>
      <p:sp>
        <p:nvSpPr>
          <p:cNvPr id="36" name="Shape 34"/>
          <p:cNvSpPr/>
          <p:nvPr/>
        </p:nvSpPr>
        <p:spPr>
          <a:xfrm>
            <a:off x="5337969" y="2797175"/>
            <a:ext cx="1301155" cy="9525"/>
          </a:xfrm>
          <a:prstGeom prst="rect">
            <a:avLst/>
          </a:prstGeom>
          <a:solidFill>
            <a:srgbClr val="FFFFFF">
              <a:alpha val="14000"/>
            </a:srgbClr>
          </a:solidFill>
          <a:ln/>
        </p:spPr>
        <p:txBody>
          <a:bodyPr/>
          <a:lstStyle/>
          <a:p>
            <a:endParaRPr lang="en-US"/>
          </a:p>
        </p:txBody>
      </p:sp>
      <p:sp>
        <p:nvSpPr>
          <p:cNvPr id="37" name="Text 35"/>
          <p:cNvSpPr/>
          <p:nvPr/>
        </p:nvSpPr>
        <p:spPr>
          <a:xfrm>
            <a:off x="5376069" y="25209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~7.2 min</a:t>
            </a:r>
            <a:endParaRPr lang="en-US" sz="1200" dirty="0"/>
          </a:p>
        </p:txBody>
      </p:sp>
      <p:sp>
        <p:nvSpPr>
          <p:cNvPr id="38" name="Shape 36"/>
          <p:cNvSpPr/>
          <p:nvPr/>
        </p:nvSpPr>
        <p:spPr>
          <a:xfrm>
            <a:off x="685800" y="3127375"/>
            <a:ext cx="1998365" cy="9525"/>
          </a:xfrm>
          <a:prstGeom prst="rect">
            <a:avLst/>
          </a:prstGeom>
          <a:solidFill>
            <a:srgbClr val="FFFFFF">
              <a:alpha val="14000"/>
            </a:srgbClr>
          </a:solidFill>
          <a:ln/>
        </p:spPr>
        <p:txBody>
          <a:bodyPr/>
          <a:lstStyle/>
          <a:p>
            <a:endParaRPr lang="en-US"/>
          </a:p>
        </p:txBody>
      </p:sp>
      <p:sp>
        <p:nvSpPr>
          <p:cNvPr id="39" name="Text 37"/>
          <p:cNvSpPr/>
          <p:nvPr/>
        </p:nvSpPr>
        <p:spPr>
          <a:xfrm>
            <a:off x="800100" y="28511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KLM</a:t>
            </a:r>
            <a:endParaRPr lang="en-US" sz="1200" dirty="0"/>
          </a:p>
        </p:txBody>
      </p:sp>
      <p:sp>
        <p:nvSpPr>
          <p:cNvPr id="40" name="Shape 38"/>
          <p:cNvSpPr/>
          <p:nvPr/>
        </p:nvSpPr>
        <p:spPr>
          <a:xfrm>
            <a:off x="2684165" y="3127375"/>
            <a:ext cx="946944" cy="9525"/>
          </a:xfrm>
          <a:prstGeom prst="rect">
            <a:avLst/>
          </a:prstGeom>
          <a:solidFill>
            <a:srgbClr val="FFFFFF">
              <a:alpha val="14000"/>
            </a:srgbClr>
          </a:solidFill>
          <a:ln/>
        </p:spPr>
        <p:txBody>
          <a:bodyPr/>
          <a:lstStyle/>
          <a:p>
            <a:endParaRPr lang="en-US"/>
          </a:p>
        </p:txBody>
      </p:sp>
      <p:sp>
        <p:nvSpPr>
          <p:cNvPr id="41" name="Text 39"/>
          <p:cNvSpPr/>
          <p:nvPr/>
        </p:nvSpPr>
        <p:spPr>
          <a:xfrm>
            <a:off x="2722265" y="28511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99.99%</a:t>
            </a:r>
            <a:endParaRPr lang="en-US" sz="1200" dirty="0"/>
          </a:p>
        </p:txBody>
      </p:sp>
      <p:sp>
        <p:nvSpPr>
          <p:cNvPr id="42" name="Shape 40"/>
          <p:cNvSpPr/>
          <p:nvPr/>
        </p:nvSpPr>
        <p:spPr>
          <a:xfrm>
            <a:off x="3631109" y="3127375"/>
            <a:ext cx="1706860" cy="9525"/>
          </a:xfrm>
          <a:prstGeom prst="rect">
            <a:avLst/>
          </a:prstGeom>
          <a:solidFill>
            <a:srgbClr val="FFFFFF">
              <a:alpha val="14000"/>
            </a:srgbClr>
          </a:solidFill>
          <a:ln/>
        </p:spPr>
        <p:txBody>
          <a:bodyPr/>
          <a:lstStyle/>
          <a:p>
            <a:endParaRPr lang="en-US"/>
          </a:p>
        </p:txBody>
      </p:sp>
      <p:sp>
        <p:nvSpPr>
          <p:cNvPr id="44" name="Shape 42"/>
          <p:cNvSpPr/>
          <p:nvPr/>
        </p:nvSpPr>
        <p:spPr>
          <a:xfrm>
            <a:off x="5337969" y="3127375"/>
            <a:ext cx="1301155" cy="9525"/>
          </a:xfrm>
          <a:prstGeom prst="rect">
            <a:avLst/>
          </a:prstGeom>
          <a:solidFill>
            <a:srgbClr val="FFFFFF">
              <a:alpha val="14000"/>
            </a:srgbClr>
          </a:solidFill>
          <a:ln/>
        </p:spPr>
        <p:txBody>
          <a:bodyPr/>
          <a:lstStyle/>
          <a:p>
            <a:endParaRPr lang="en-US"/>
          </a:p>
        </p:txBody>
      </p:sp>
      <p:sp>
        <p:nvSpPr>
          <p:cNvPr id="45" name="Text 43"/>
          <p:cNvSpPr/>
          <p:nvPr/>
        </p:nvSpPr>
        <p:spPr>
          <a:xfrm>
            <a:off x="5376069" y="28511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~15 min</a:t>
            </a:r>
            <a:endParaRPr lang="en-US" sz="1200" dirty="0"/>
          </a:p>
        </p:txBody>
      </p:sp>
      <p:sp>
        <p:nvSpPr>
          <p:cNvPr id="46" name="Shape 44"/>
          <p:cNvSpPr/>
          <p:nvPr/>
        </p:nvSpPr>
        <p:spPr>
          <a:xfrm>
            <a:off x="685800" y="3457575"/>
            <a:ext cx="1998365" cy="9525"/>
          </a:xfrm>
          <a:prstGeom prst="rect">
            <a:avLst/>
          </a:prstGeom>
          <a:solidFill>
            <a:srgbClr val="FFFFFF">
              <a:alpha val="14000"/>
            </a:srgbClr>
          </a:solidFill>
          <a:ln/>
        </p:spPr>
        <p:txBody>
          <a:bodyPr/>
          <a:lstStyle/>
          <a:p>
            <a:endParaRPr lang="en-US"/>
          </a:p>
        </p:txBody>
      </p:sp>
      <p:sp>
        <p:nvSpPr>
          <p:cNvPr id="47" name="Text 45"/>
          <p:cNvSpPr/>
          <p:nvPr/>
        </p:nvSpPr>
        <p:spPr>
          <a:xfrm>
            <a:off x="800100" y="31813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Ein</a:t>
            </a:r>
            <a:endParaRPr lang="en-US" sz="1200" dirty="0"/>
          </a:p>
        </p:txBody>
      </p:sp>
      <p:sp>
        <p:nvSpPr>
          <p:cNvPr id="48" name="Shape 46"/>
          <p:cNvSpPr/>
          <p:nvPr/>
        </p:nvSpPr>
        <p:spPr>
          <a:xfrm>
            <a:off x="2684165" y="3457575"/>
            <a:ext cx="946944" cy="9525"/>
          </a:xfrm>
          <a:prstGeom prst="rect">
            <a:avLst/>
          </a:prstGeom>
          <a:solidFill>
            <a:srgbClr val="FFFFFF">
              <a:alpha val="14000"/>
            </a:srgbClr>
          </a:solidFill>
          <a:ln/>
        </p:spPr>
        <p:txBody>
          <a:bodyPr/>
          <a:lstStyle/>
          <a:p>
            <a:endParaRPr lang="en-US"/>
          </a:p>
        </p:txBody>
      </p:sp>
      <p:sp>
        <p:nvSpPr>
          <p:cNvPr id="49" name="Text 47"/>
          <p:cNvSpPr/>
          <p:nvPr/>
        </p:nvSpPr>
        <p:spPr>
          <a:xfrm>
            <a:off x="2722265" y="31813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99.97%</a:t>
            </a:r>
            <a:endParaRPr lang="en-US" sz="1200" dirty="0"/>
          </a:p>
        </p:txBody>
      </p:sp>
      <p:sp>
        <p:nvSpPr>
          <p:cNvPr id="50" name="Shape 48"/>
          <p:cNvSpPr/>
          <p:nvPr/>
        </p:nvSpPr>
        <p:spPr>
          <a:xfrm>
            <a:off x="3631109" y="3457575"/>
            <a:ext cx="1706860" cy="9525"/>
          </a:xfrm>
          <a:prstGeom prst="rect">
            <a:avLst/>
          </a:prstGeom>
          <a:solidFill>
            <a:srgbClr val="FFFFFF">
              <a:alpha val="14000"/>
            </a:srgbClr>
          </a:solidFill>
          <a:ln/>
        </p:spPr>
        <p:txBody>
          <a:bodyPr/>
          <a:lstStyle/>
          <a:p>
            <a:endParaRPr lang="en-US"/>
          </a:p>
        </p:txBody>
      </p:sp>
      <p:sp>
        <p:nvSpPr>
          <p:cNvPr id="51" name="Text 49"/>
          <p:cNvSpPr/>
          <p:nvPr/>
        </p:nvSpPr>
        <p:spPr>
          <a:xfrm>
            <a:off x="3669209" y="31813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$1.60 – $3.20</a:t>
            </a:r>
            <a:endParaRPr lang="en-US" sz="1200" dirty="0"/>
          </a:p>
        </p:txBody>
      </p:sp>
      <p:sp>
        <p:nvSpPr>
          <p:cNvPr id="52" name="Shape 50"/>
          <p:cNvSpPr/>
          <p:nvPr/>
        </p:nvSpPr>
        <p:spPr>
          <a:xfrm>
            <a:off x="5337969" y="3457575"/>
            <a:ext cx="1301155" cy="9525"/>
          </a:xfrm>
          <a:prstGeom prst="rect">
            <a:avLst/>
          </a:prstGeom>
          <a:solidFill>
            <a:srgbClr val="FFFFFF">
              <a:alpha val="14000"/>
            </a:srgbClr>
          </a:solidFill>
          <a:ln/>
        </p:spPr>
        <p:txBody>
          <a:bodyPr/>
          <a:lstStyle/>
          <a:p>
            <a:endParaRPr lang="en-US"/>
          </a:p>
        </p:txBody>
      </p:sp>
      <p:sp>
        <p:nvSpPr>
          <p:cNvPr id="53" name="Text 51"/>
          <p:cNvSpPr/>
          <p:nvPr/>
        </p:nvSpPr>
        <p:spPr>
          <a:xfrm>
            <a:off x="5376069" y="31813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~7.5 min</a:t>
            </a:r>
            <a:endParaRPr lang="en-US" sz="1200" dirty="0"/>
          </a:p>
        </p:txBody>
      </p:sp>
      <p:sp>
        <p:nvSpPr>
          <p:cNvPr id="54" name="Shape 52"/>
          <p:cNvSpPr/>
          <p:nvPr/>
        </p:nvSpPr>
        <p:spPr>
          <a:xfrm>
            <a:off x="685800" y="3787775"/>
            <a:ext cx="1998365" cy="9525"/>
          </a:xfrm>
          <a:prstGeom prst="rect">
            <a:avLst/>
          </a:prstGeom>
          <a:solidFill>
            <a:srgbClr val="FFFFFF">
              <a:alpha val="14000"/>
            </a:srgbClr>
          </a:solidFill>
          <a:ln/>
        </p:spPr>
        <p:txBody>
          <a:bodyPr/>
          <a:lstStyle/>
          <a:p>
            <a:endParaRPr lang="en-US"/>
          </a:p>
        </p:txBody>
      </p:sp>
      <p:sp>
        <p:nvSpPr>
          <p:cNvPr id="55" name="Text 53"/>
          <p:cNvSpPr/>
          <p:nvPr/>
        </p:nvSpPr>
        <p:spPr>
          <a:xfrm>
            <a:off x="800100" y="35115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United Airlines Holdings</a:t>
            </a:r>
            <a:endParaRPr lang="en-US" sz="1200" dirty="0"/>
          </a:p>
        </p:txBody>
      </p:sp>
      <p:sp>
        <p:nvSpPr>
          <p:cNvPr id="56" name="Shape 54"/>
          <p:cNvSpPr/>
          <p:nvPr/>
        </p:nvSpPr>
        <p:spPr>
          <a:xfrm>
            <a:off x="2684165" y="3787775"/>
            <a:ext cx="946944" cy="9525"/>
          </a:xfrm>
          <a:prstGeom prst="rect">
            <a:avLst/>
          </a:prstGeom>
          <a:solidFill>
            <a:srgbClr val="FFFFFF">
              <a:alpha val="14000"/>
            </a:srgbClr>
          </a:solidFill>
          <a:ln/>
        </p:spPr>
        <p:txBody>
          <a:bodyPr/>
          <a:lstStyle/>
          <a:p>
            <a:endParaRPr lang="en-US"/>
          </a:p>
        </p:txBody>
      </p:sp>
      <p:sp>
        <p:nvSpPr>
          <p:cNvPr id="57" name="Text 55"/>
          <p:cNvSpPr/>
          <p:nvPr/>
        </p:nvSpPr>
        <p:spPr>
          <a:xfrm>
            <a:off x="2722265" y="35115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99.88%</a:t>
            </a:r>
            <a:endParaRPr lang="en-US" sz="1200" dirty="0"/>
          </a:p>
        </p:txBody>
      </p:sp>
      <p:sp>
        <p:nvSpPr>
          <p:cNvPr id="58" name="Shape 56"/>
          <p:cNvSpPr/>
          <p:nvPr/>
        </p:nvSpPr>
        <p:spPr>
          <a:xfrm>
            <a:off x="3631109" y="3787775"/>
            <a:ext cx="1706860" cy="9525"/>
          </a:xfrm>
          <a:prstGeom prst="rect">
            <a:avLst/>
          </a:prstGeom>
          <a:solidFill>
            <a:srgbClr val="FFFFFF">
              <a:alpha val="14000"/>
            </a:srgbClr>
          </a:solidFill>
          <a:ln/>
        </p:spPr>
        <p:txBody>
          <a:bodyPr/>
          <a:lstStyle/>
          <a:p>
            <a:endParaRPr lang="en-US"/>
          </a:p>
        </p:txBody>
      </p:sp>
      <p:sp>
        <p:nvSpPr>
          <p:cNvPr id="59" name="Text 57"/>
          <p:cNvSpPr/>
          <p:nvPr/>
        </p:nvSpPr>
        <p:spPr>
          <a:xfrm>
            <a:off x="3669209" y="35115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$3.58 – $7.98</a:t>
            </a:r>
            <a:endParaRPr lang="en-US" sz="1200" dirty="0"/>
          </a:p>
        </p:txBody>
      </p:sp>
      <p:sp>
        <p:nvSpPr>
          <p:cNvPr id="60" name="Shape 58"/>
          <p:cNvSpPr/>
          <p:nvPr/>
        </p:nvSpPr>
        <p:spPr>
          <a:xfrm>
            <a:off x="5337969" y="3787775"/>
            <a:ext cx="1301155" cy="9525"/>
          </a:xfrm>
          <a:prstGeom prst="rect">
            <a:avLst/>
          </a:prstGeom>
          <a:solidFill>
            <a:srgbClr val="FFFFFF">
              <a:alpha val="14000"/>
            </a:srgbClr>
          </a:solidFill>
          <a:ln/>
        </p:spPr>
        <p:txBody>
          <a:bodyPr/>
          <a:lstStyle/>
          <a:p>
            <a:endParaRPr lang="en-US"/>
          </a:p>
        </p:txBody>
      </p:sp>
      <p:sp>
        <p:nvSpPr>
          <p:cNvPr id="61" name="Text 59"/>
          <p:cNvSpPr/>
          <p:nvPr/>
        </p:nvSpPr>
        <p:spPr>
          <a:xfrm>
            <a:off x="5376069" y="35115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~16.9 min</a:t>
            </a:r>
            <a:endParaRPr lang="en-US" sz="1200" dirty="0"/>
          </a:p>
        </p:txBody>
      </p:sp>
      <p:sp>
        <p:nvSpPr>
          <p:cNvPr id="62" name="Shape 60"/>
          <p:cNvSpPr/>
          <p:nvPr/>
        </p:nvSpPr>
        <p:spPr>
          <a:xfrm>
            <a:off x="685800" y="4117975"/>
            <a:ext cx="1998365" cy="9525"/>
          </a:xfrm>
          <a:prstGeom prst="rect">
            <a:avLst/>
          </a:prstGeom>
          <a:solidFill>
            <a:srgbClr val="FFFFFF">
              <a:alpha val="14000"/>
            </a:srgbClr>
          </a:solidFill>
          <a:ln/>
        </p:spPr>
        <p:txBody>
          <a:bodyPr/>
          <a:lstStyle/>
          <a:p>
            <a:endParaRPr lang="en-US"/>
          </a:p>
        </p:txBody>
      </p:sp>
      <p:sp>
        <p:nvSpPr>
          <p:cNvPr id="63" name="Text 61"/>
          <p:cNvSpPr/>
          <p:nvPr/>
        </p:nvSpPr>
        <p:spPr>
          <a:xfrm>
            <a:off x="800100" y="38417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Hawaiian Holdings</a:t>
            </a:r>
            <a:endParaRPr lang="en-US" sz="1200" dirty="0"/>
          </a:p>
        </p:txBody>
      </p:sp>
      <p:sp>
        <p:nvSpPr>
          <p:cNvPr id="64" name="Shape 62"/>
          <p:cNvSpPr/>
          <p:nvPr/>
        </p:nvSpPr>
        <p:spPr>
          <a:xfrm>
            <a:off x="2684165" y="4117975"/>
            <a:ext cx="946944" cy="9525"/>
          </a:xfrm>
          <a:prstGeom prst="rect">
            <a:avLst/>
          </a:prstGeom>
          <a:solidFill>
            <a:srgbClr val="FFFFFF">
              <a:alpha val="14000"/>
            </a:srgbClr>
          </a:solidFill>
          <a:ln/>
        </p:spPr>
        <p:txBody>
          <a:bodyPr/>
          <a:lstStyle/>
          <a:p>
            <a:endParaRPr lang="en-US"/>
          </a:p>
        </p:txBody>
      </p:sp>
      <p:sp>
        <p:nvSpPr>
          <p:cNvPr id="65" name="Text 63"/>
          <p:cNvSpPr/>
          <p:nvPr/>
        </p:nvSpPr>
        <p:spPr>
          <a:xfrm>
            <a:off x="2722265" y="38417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99.83%</a:t>
            </a:r>
            <a:endParaRPr lang="en-US" sz="1200" dirty="0"/>
          </a:p>
        </p:txBody>
      </p:sp>
      <p:sp>
        <p:nvSpPr>
          <p:cNvPr id="66" name="Shape 64"/>
          <p:cNvSpPr/>
          <p:nvPr/>
        </p:nvSpPr>
        <p:spPr>
          <a:xfrm>
            <a:off x="3631109" y="4117975"/>
            <a:ext cx="1706860" cy="9525"/>
          </a:xfrm>
          <a:prstGeom prst="rect">
            <a:avLst/>
          </a:prstGeom>
          <a:solidFill>
            <a:srgbClr val="FFFFFF">
              <a:alpha val="14000"/>
            </a:srgbClr>
          </a:solidFill>
          <a:ln/>
        </p:spPr>
        <p:txBody>
          <a:bodyPr/>
          <a:lstStyle/>
          <a:p>
            <a:endParaRPr lang="en-US"/>
          </a:p>
        </p:txBody>
      </p:sp>
      <p:sp>
        <p:nvSpPr>
          <p:cNvPr id="67" name="Text 65"/>
          <p:cNvSpPr/>
          <p:nvPr/>
        </p:nvSpPr>
        <p:spPr>
          <a:xfrm>
            <a:off x="3669209" y="38417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$2.26 – $3.84</a:t>
            </a:r>
            <a:endParaRPr lang="en-US" sz="1200" dirty="0"/>
          </a:p>
        </p:txBody>
      </p:sp>
      <p:sp>
        <p:nvSpPr>
          <p:cNvPr id="68" name="Shape 66"/>
          <p:cNvSpPr/>
          <p:nvPr/>
        </p:nvSpPr>
        <p:spPr>
          <a:xfrm>
            <a:off x="5337969" y="4117975"/>
            <a:ext cx="1301155" cy="9525"/>
          </a:xfrm>
          <a:prstGeom prst="rect">
            <a:avLst/>
          </a:prstGeom>
          <a:solidFill>
            <a:srgbClr val="FFFFFF">
              <a:alpha val="14000"/>
            </a:srgbClr>
          </a:solidFill>
          <a:ln/>
        </p:spPr>
        <p:txBody>
          <a:bodyPr/>
          <a:lstStyle/>
          <a:p>
            <a:endParaRPr lang="en-US"/>
          </a:p>
        </p:txBody>
      </p:sp>
      <p:sp>
        <p:nvSpPr>
          <p:cNvPr id="69" name="Text 67"/>
          <p:cNvSpPr/>
          <p:nvPr/>
        </p:nvSpPr>
        <p:spPr>
          <a:xfrm>
            <a:off x="5376069" y="38417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~13 min</a:t>
            </a:r>
            <a:endParaRPr lang="en-US" sz="1200" dirty="0"/>
          </a:p>
        </p:txBody>
      </p:sp>
      <p:sp>
        <p:nvSpPr>
          <p:cNvPr id="70" name="Shape 68"/>
          <p:cNvSpPr/>
          <p:nvPr/>
        </p:nvSpPr>
        <p:spPr>
          <a:xfrm>
            <a:off x="685800" y="4448175"/>
            <a:ext cx="1998365" cy="9525"/>
          </a:xfrm>
          <a:prstGeom prst="rect">
            <a:avLst/>
          </a:prstGeom>
          <a:solidFill>
            <a:srgbClr val="FFFFFF">
              <a:alpha val="14000"/>
            </a:srgbClr>
          </a:solidFill>
          <a:ln/>
        </p:spPr>
        <p:txBody>
          <a:bodyPr/>
          <a:lstStyle/>
          <a:p>
            <a:endParaRPr lang="en-US"/>
          </a:p>
        </p:txBody>
      </p:sp>
      <p:sp>
        <p:nvSpPr>
          <p:cNvPr id="71" name="Text 69"/>
          <p:cNvSpPr/>
          <p:nvPr/>
        </p:nvSpPr>
        <p:spPr>
          <a:xfrm>
            <a:off x="800100" y="41719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Alaska Airlines</a:t>
            </a:r>
            <a:endParaRPr lang="en-US" sz="1200" dirty="0"/>
          </a:p>
        </p:txBody>
      </p:sp>
      <p:sp>
        <p:nvSpPr>
          <p:cNvPr id="72" name="Shape 70"/>
          <p:cNvSpPr/>
          <p:nvPr/>
        </p:nvSpPr>
        <p:spPr>
          <a:xfrm>
            <a:off x="2684165" y="4448175"/>
            <a:ext cx="946944" cy="9525"/>
          </a:xfrm>
          <a:prstGeom prst="rect">
            <a:avLst/>
          </a:prstGeom>
          <a:solidFill>
            <a:srgbClr val="FFFFFF">
              <a:alpha val="14000"/>
            </a:srgbClr>
          </a:solidFill>
          <a:ln/>
        </p:spPr>
        <p:txBody>
          <a:bodyPr/>
          <a:lstStyle/>
          <a:p>
            <a:endParaRPr lang="en-US"/>
          </a:p>
        </p:txBody>
      </p:sp>
      <p:sp>
        <p:nvSpPr>
          <p:cNvPr id="73" name="Text 71"/>
          <p:cNvSpPr/>
          <p:nvPr/>
        </p:nvSpPr>
        <p:spPr>
          <a:xfrm>
            <a:off x="2722265" y="41719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99.73%</a:t>
            </a:r>
            <a:endParaRPr lang="en-US" sz="1200" dirty="0"/>
          </a:p>
        </p:txBody>
      </p:sp>
      <p:sp>
        <p:nvSpPr>
          <p:cNvPr id="74" name="Shape 72"/>
          <p:cNvSpPr/>
          <p:nvPr/>
        </p:nvSpPr>
        <p:spPr>
          <a:xfrm>
            <a:off x="3631109" y="4448175"/>
            <a:ext cx="1706860" cy="9525"/>
          </a:xfrm>
          <a:prstGeom prst="rect">
            <a:avLst/>
          </a:prstGeom>
          <a:solidFill>
            <a:srgbClr val="FFFFFF">
              <a:alpha val="14000"/>
            </a:srgbClr>
          </a:solidFill>
          <a:ln/>
        </p:spPr>
        <p:txBody>
          <a:bodyPr/>
          <a:lstStyle/>
          <a:p>
            <a:endParaRPr lang="en-US"/>
          </a:p>
        </p:txBody>
      </p:sp>
      <p:sp>
        <p:nvSpPr>
          <p:cNvPr id="75" name="Text 73"/>
          <p:cNvSpPr/>
          <p:nvPr/>
        </p:nvSpPr>
        <p:spPr>
          <a:xfrm>
            <a:off x="3669209" y="41719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$1.88 – $2.98</a:t>
            </a:r>
            <a:endParaRPr lang="en-US" sz="1200" dirty="0"/>
          </a:p>
        </p:txBody>
      </p:sp>
      <p:sp>
        <p:nvSpPr>
          <p:cNvPr id="76" name="Shape 74"/>
          <p:cNvSpPr/>
          <p:nvPr/>
        </p:nvSpPr>
        <p:spPr>
          <a:xfrm>
            <a:off x="5337969" y="4448175"/>
            <a:ext cx="1301155" cy="9525"/>
          </a:xfrm>
          <a:prstGeom prst="rect">
            <a:avLst/>
          </a:prstGeom>
          <a:solidFill>
            <a:srgbClr val="FFFFFF">
              <a:alpha val="14000"/>
            </a:srgbClr>
          </a:solidFill>
          <a:ln/>
        </p:spPr>
        <p:txBody>
          <a:bodyPr/>
          <a:lstStyle/>
          <a:p>
            <a:endParaRPr lang="en-US"/>
          </a:p>
        </p:txBody>
      </p:sp>
      <p:sp>
        <p:nvSpPr>
          <p:cNvPr id="77" name="Text 75"/>
          <p:cNvSpPr/>
          <p:nvPr/>
        </p:nvSpPr>
        <p:spPr>
          <a:xfrm>
            <a:off x="5376069" y="41719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~9.1 min</a:t>
            </a:r>
            <a:endParaRPr lang="en-US" sz="1200" dirty="0"/>
          </a:p>
        </p:txBody>
      </p:sp>
      <p:sp>
        <p:nvSpPr>
          <p:cNvPr id="78" name="Shape 76"/>
          <p:cNvSpPr/>
          <p:nvPr/>
        </p:nvSpPr>
        <p:spPr>
          <a:xfrm>
            <a:off x="685800" y="4778375"/>
            <a:ext cx="1998365" cy="9525"/>
          </a:xfrm>
          <a:prstGeom prst="rect">
            <a:avLst/>
          </a:prstGeom>
          <a:solidFill>
            <a:srgbClr val="FFFFFF">
              <a:alpha val="14000"/>
            </a:srgbClr>
          </a:solidFill>
          <a:ln/>
        </p:spPr>
        <p:txBody>
          <a:bodyPr/>
          <a:lstStyle/>
          <a:p>
            <a:endParaRPr lang="en-US"/>
          </a:p>
        </p:txBody>
      </p:sp>
      <p:sp>
        <p:nvSpPr>
          <p:cNvPr id="79" name="Text 77"/>
          <p:cNvSpPr/>
          <p:nvPr/>
        </p:nvSpPr>
        <p:spPr>
          <a:xfrm>
            <a:off x="800100" y="45021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Delta Airlines</a:t>
            </a:r>
            <a:endParaRPr lang="en-US" sz="1200" dirty="0"/>
          </a:p>
        </p:txBody>
      </p:sp>
      <p:sp>
        <p:nvSpPr>
          <p:cNvPr id="80" name="Shape 78"/>
          <p:cNvSpPr/>
          <p:nvPr/>
        </p:nvSpPr>
        <p:spPr>
          <a:xfrm>
            <a:off x="2684165" y="4778375"/>
            <a:ext cx="946944" cy="9525"/>
          </a:xfrm>
          <a:prstGeom prst="rect">
            <a:avLst/>
          </a:prstGeom>
          <a:solidFill>
            <a:srgbClr val="FFFFFF">
              <a:alpha val="14000"/>
            </a:srgbClr>
          </a:solidFill>
          <a:ln/>
        </p:spPr>
        <p:txBody>
          <a:bodyPr/>
          <a:lstStyle/>
          <a:p>
            <a:endParaRPr lang="en-US"/>
          </a:p>
        </p:txBody>
      </p:sp>
      <p:sp>
        <p:nvSpPr>
          <p:cNvPr id="81" name="Text 79"/>
          <p:cNvSpPr/>
          <p:nvPr/>
        </p:nvSpPr>
        <p:spPr>
          <a:xfrm>
            <a:off x="2722265" y="45021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99.70%</a:t>
            </a:r>
            <a:endParaRPr lang="en-US" sz="1200" dirty="0"/>
          </a:p>
        </p:txBody>
      </p:sp>
      <p:sp>
        <p:nvSpPr>
          <p:cNvPr id="82" name="Shape 80"/>
          <p:cNvSpPr/>
          <p:nvPr/>
        </p:nvSpPr>
        <p:spPr>
          <a:xfrm>
            <a:off x="3631109" y="4778375"/>
            <a:ext cx="1706860" cy="9525"/>
          </a:xfrm>
          <a:prstGeom prst="rect">
            <a:avLst/>
          </a:prstGeom>
          <a:solidFill>
            <a:srgbClr val="FFFFFF">
              <a:alpha val="14000"/>
            </a:srgbClr>
          </a:solidFill>
          <a:ln/>
        </p:spPr>
        <p:txBody>
          <a:bodyPr/>
          <a:lstStyle/>
          <a:p>
            <a:endParaRPr lang="en-US"/>
          </a:p>
        </p:txBody>
      </p:sp>
      <p:sp>
        <p:nvSpPr>
          <p:cNvPr id="83" name="Text 81"/>
          <p:cNvSpPr/>
          <p:nvPr/>
        </p:nvSpPr>
        <p:spPr>
          <a:xfrm>
            <a:off x="3669209" y="45021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$2.12 – $3.50</a:t>
            </a:r>
            <a:endParaRPr lang="en-US" sz="1200" dirty="0"/>
          </a:p>
        </p:txBody>
      </p:sp>
      <p:sp>
        <p:nvSpPr>
          <p:cNvPr id="84" name="Shape 82"/>
          <p:cNvSpPr/>
          <p:nvPr/>
        </p:nvSpPr>
        <p:spPr>
          <a:xfrm>
            <a:off x="5337969" y="4778375"/>
            <a:ext cx="1301155" cy="9525"/>
          </a:xfrm>
          <a:prstGeom prst="rect">
            <a:avLst/>
          </a:prstGeom>
          <a:solidFill>
            <a:srgbClr val="FFFFFF">
              <a:alpha val="14000"/>
            </a:srgbClr>
          </a:solidFill>
          <a:ln/>
        </p:spPr>
        <p:txBody>
          <a:bodyPr/>
          <a:lstStyle/>
          <a:p>
            <a:endParaRPr lang="en-US"/>
          </a:p>
        </p:txBody>
      </p:sp>
      <p:sp>
        <p:nvSpPr>
          <p:cNvPr id="85" name="Text 83"/>
          <p:cNvSpPr/>
          <p:nvPr/>
        </p:nvSpPr>
        <p:spPr>
          <a:xfrm>
            <a:off x="5376069" y="45021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~10.4 min</a:t>
            </a:r>
            <a:endParaRPr lang="en-US" sz="1200" dirty="0"/>
          </a:p>
        </p:txBody>
      </p:sp>
      <p:sp>
        <p:nvSpPr>
          <p:cNvPr id="86" name="Shape 84"/>
          <p:cNvSpPr/>
          <p:nvPr/>
        </p:nvSpPr>
        <p:spPr>
          <a:xfrm>
            <a:off x="685800" y="5108575"/>
            <a:ext cx="1998365" cy="9525"/>
          </a:xfrm>
          <a:prstGeom prst="rect">
            <a:avLst/>
          </a:prstGeom>
          <a:solidFill>
            <a:srgbClr val="FFFFFF">
              <a:alpha val="14000"/>
            </a:srgbClr>
          </a:solidFill>
          <a:ln/>
        </p:spPr>
        <p:txBody>
          <a:bodyPr/>
          <a:lstStyle/>
          <a:p>
            <a:endParaRPr lang="en-US"/>
          </a:p>
        </p:txBody>
      </p:sp>
      <p:sp>
        <p:nvSpPr>
          <p:cNvPr id="87" name="Text 85"/>
          <p:cNvSpPr/>
          <p:nvPr/>
        </p:nvSpPr>
        <p:spPr>
          <a:xfrm>
            <a:off x="800100" y="48323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Air Canada Airlines</a:t>
            </a:r>
            <a:endParaRPr lang="en-US" sz="1200" dirty="0"/>
          </a:p>
        </p:txBody>
      </p:sp>
      <p:sp>
        <p:nvSpPr>
          <p:cNvPr id="88" name="Shape 86"/>
          <p:cNvSpPr/>
          <p:nvPr/>
        </p:nvSpPr>
        <p:spPr>
          <a:xfrm>
            <a:off x="2684165" y="5108575"/>
            <a:ext cx="946944" cy="9525"/>
          </a:xfrm>
          <a:prstGeom prst="rect">
            <a:avLst/>
          </a:prstGeom>
          <a:solidFill>
            <a:srgbClr val="FFFFFF">
              <a:alpha val="14000"/>
            </a:srgbClr>
          </a:solidFill>
          <a:ln/>
        </p:spPr>
        <p:txBody>
          <a:bodyPr/>
          <a:lstStyle/>
          <a:p>
            <a:endParaRPr lang="en-US"/>
          </a:p>
        </p:txBody>
      </p:sp>
      <p:sp>
        <p:nvSpPr>
          <p:cNvPr id="89" name="Text 87"/>
          <p:cNvSpPr/>
          <p:nvPr/>
        </p:nvSpPr>
        <p:spPr>
          <a:xfrm>
            <a:off x="2722265" y="48323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99.45%</a:t>
            </a:r>
            <a:endParaRPr lang="en-US" sz="1200" dirty="0"/>
          </a:p>
        </p:txBody>
      </p:sp>
      <p:sp>
        <p:nvSpPr>
          <p:cNvPr id="90" name="Shape 88"/>
          <p:cNvSpPr/>
          <p:nvPr/>
        </p:nvSpPr>
        <p:spPr>
          <a:xfrm>
            <a:off x="3631109" y="5108575"/>
            <a:ext cx="1706860" cy="9525"/>
          </a:xfrm>
          <a:prstGeom prst="rect">
            <a:avLst/>
          </a:prstGeom>
          <a:solidFill>
            <a:srgbClr val="FFFFFF">
              <a:alpha val="14000"/>
            </a:srgbClr>
          </a:solidFill>
          <a:ln/>
        </p:spPr>
        <p:txBody>
          <a:bodyPr/>
          <a:lstStyle/>
          <a:p>
            <a:endParaRPr lang="en-US"/>
          </a:p>
        </p:txBody>
      </p:sp>
      <p:sp>
        <p:nvSpPr>
          <p:cNvPr id="91" name="Text 89"/>
          <p:cNvSpPr/>
          <p:nvPr/>
        </p:nvSpPr>
        <p:spPr>
          <a:xfrm>
            <a:off x="3669209" y="48323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$2.82 – $9.06</a:t>
            </a:r>
            <a:endParaRPr lang="en-US" sz="1200" dirty="0"/>
          </a:p>
        </p:txBody>
      </p:sp>
      <p:sp>
        <p:nvSpPr>
          <p:cNvPr id="92" name="Shape 90"/>
          <p:cNvSpPr/>
          <p:nvPr/>
        </p:nvSpPr>
        <p:spPr>
          <a:xfrm>
            <a:off x="5337969" y="5108575"/>
            <a:ext cx="1301155" cy="9525"/>
          </a:xfrm>
          <a:prstGeom prst="rect">
            <a:avLst/>
          </a:prstGeom>
          <a:solidFill>
            <a:srgbClr val="FFFFFF">
              <a:alpha val="14000"/>
            </a:srgbClr>
          </a:solidFill>
          <a:ln/>
        </p:spPr>
        <p:txBody>
          <a:bodyPr/>
          <a:lstStyle/>
          <a:p>
            <a:endParaRPr lang="en-US"/>
          </a:p>
        </p:txBody>
      </p:sp>
      <p:sp>
        <p:nvSpPr>
          <p:cNvPr id="93" name="Text 91"/>
          <p:cNvSpPr/>
          <p:nvPr/>
        </p:nvSpPr>
        <p:spPr>
          <a:xfrm>
            <a:off x="5376069" y="48323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~14.3 min</a:t>
            </a:r>
            <a:endParaRPr lang="en-US" sz="1200" dirty="0"/>
          </a:p>
        </p:txBody>
      </p:sp>
      <p:sp>
        <p:nvSpPr>
          <p:cNvPr id="94" name="Shape 92"/>
          <p:cNvSpPr/>
          <p:nvPr/>
        </p:nvSpPr>
        <p:spPr>
          <a:xfrm>
            <a:off x="685800" y="5438775"/>
            <a:ext cx="1998365" cy="9525"/>
          </a:xfrm>
          <a:prstGeom prst="rect">
            <a:avLst/>
          </a:prstGeom>
          <a:solidFill>
            <a:srgbClr val="FFFFFF">
              <a:alpha val="14000"/>
            </a:srgbClr>
          </a:solidFill>
          <a:ln/>
        </p:spPr>
        <p:txBody>
          <a:bodyPr/>
          <a:lstStyle/>
          <a:p>
            <a:endParaRPr lang="en-US"/>
          </a:p>
        </p:txBody>
      </p:sp>
      <p:sp>
        <p:nvSpPr>
          <p:cNvPr id="95" name="Text 93"/>
          <p:cNvSpPr/>
          <p:nvPr/>
        </p:nvSpPr>
        <p:spPr>
          <a:xfrm>
            <a:off x="800100" y="51625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AFR1</a:t>
            </a:r>
            <a:endParaRPr lang="en-US" sz="1200" dirty="0"/>
          </a:p>
        </p:txBody>
      </p:sp>
      <p:sp>
        <p:nvSpPr>
          <p:cNvPr id="96" name="Shape 94"/>
          <p:cNvSpPr/>
          <p:nvPr/>
        </p:nvSpPr>
        <p:spPr>
          <a:xfrm>
            <a:off x="2684165" y="5438775"/>
            <a:ext cx="946944" cy="9525"/>
          </a:xfrm>
          <a:prstGeom prst="rect">
            <a:avLst/>
          </a:prstGeom>
          <a:solidFill>
            <a:srgbClr val="FFFFFF">
              <a:alpha val="14000"/>
            </a:srgbClr>
          </a:solidFill>
          <a:ln/>
        </p:spPr>
        <p:txBody>
          <a:bodyPr/>
          <a:lstStyle/>
          <a:p>
            <a:endParaRPr lang="en-US"/>
          </a:p>
        </p:txBody>
      </p:sp>
      <p:sp>
        <p:nvSpPr>
          <p:cNvPr id="97" name="Text 95"/>
          <p:cNvSpPr/>
          <p:nvPr/>
        </p:nvSpPr>
        <p:spPr>
          <a:xfrm>
            <a:off x="2722265" y="51625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99.19%</a:t>
            </a:r>
            <a:endParaRPr lang="en-US" sz="1200" dirty="0"/>
          </a:p>
        </p:txBody>
      </p:sp>
      <p:sp>
        <p:nvSpPr>
          <p:cNvPr id="98" name="Shape 96"/>
          <p:cNvSpPr/>
          <p:nvPr/>
        </p:nvSpPr>
        <p:spPr>
          <a:xfrm>
            <a:off x="3631109" y="5438775"/>
            <a:ext cx="1706860" cy="9525"/>
          </a:xfrm>
          <a:prstGeom prst="rect">
            <a:avLst/>
          </a:prstGeom>
          <a:solidFill>
            <a:srgbClr val="FFFFFF">
              <a:alpha val="14000"/>
            </a:srgbClr>
          </a:solidFill>
          <a:ln/>
        </p:spPr>
        <p:txBody>
          <a:bodyPr/>
          <a:lstStyle/>
          <a:p>
            <a:endParaRPr lang="en-US"/>
          </a:p>
        </p:txBody>
      </p:sp>
      <p:sp>
        <p:nvSpPr>
          <p:cNvPr id="100" name="Shape 98"/>
          <p:cNvSpPr/>
          <p:nvPr/>
        </p:nvSpPr>
        <p:spPr>
          <a:xfrm>
            <a:off x="5337969" y="5438775"/>
            <a:ext cx="1301155" cy="9525"/>
          </a:xfrm>
          <a:prstGeom prst="rect">
            <a:avLst/>
          </a:prstGeom>
          <a:solidFill>
            <a:srgbClr val="FFFFFF">
              <a:alpha val="14000"/>
            </a:srgbClr>
          </a:solidFill>
          <a:ln/>
        </p:spPr>
        <p:txBody>
          <a:bodyPr/>
          <a:lstStyle/>
          <a:p>
            <a:endParaRPr lang="en-US"/>
          </a:p>
        </p:txBody>
      </p:sp>
      <p:sp>
        <p:nvSpPr>
          <p:cNvPr id="101" name="Text 99"/>
          <p:cNvSpPr/>
          <p:nvPr/>
        </p:nvSpPr>
        <p:spPr>
          <a:xfrm>
            <a:off x="5376069" y="51625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~15 min</a:t>
            </a:r>
            <a:endParaRPr lang="en-US" sz="1200" dirty="0"/>
          </a:p>
        </p:txBody>
      </p:sp>
      <p:sp>
        <p:nvSpPr>
          <p:cNvPr id="102" name="Shape 100"/>
          <p:cNvSpPr/>
          <p:nvPr/>
        </p:nvSpPr>
        <p:spPr>
          <a:xfrm>
            <a:off x="685800" y="5768975"/>
            <a:ext cx="1998365" cy="9525"/>
          </a:xfrm>
          <a:prstGeom prst="rect">
            <a:avLst/>
          </a:prstGeom>
          <a:solidFill>
            <a:srgbClr val="FFFFFF">
              <a:alpha val="14000"/>
            </a:srgbClr>
          </a:solidFill>
          <a:ln/>
        </p:spPr>
        <p:txBody>
          <a:bodyPr/>
          <a:lstStyle/>
          <a:p>
            <a:endParaRPr lang="en-US"/>
          </a:p>
        </p:txBody>
      </p:sp>
      <p:sp>
        <p:nvSpPr>
          <p:cNvPr id="103" name="Text 101"/>
          <p:cNvSpPr/>
          <p:nvPr/>
        </p:nvSpPr>
        <p:spPr>
          <a:xfrm>
            <a:off x="800100" y="54927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American Airlines</a:t>
            </a:r>
            <a:endParaRPr lang="en-US" sz="1200" dirty="0"/>
          </a:p>
        </p:txBody>
      </p:sp>
      <p:sp>
        <p:nvSpPr>
          <p:cNvPr id="104" name="Shape 102"/>
          <p:cNvSpPr/>
          <p:nvPr/>
        </p:nvSpPr>
        <p:spPr>
          <a:xfrm>
            <a:off x="2684165" y="5768975"/>
            <a:ext cx="946944" cy="9525"/>
          </a:xfrm>
          <a:prstGeom prst="rect">
            <a:avLst/>
          </a:prstGeom>
          <a:solidFill>
            <a:srgbClr val="FFFFFF">
              <a:alpha val="14000"/>
            </a:srgbClr>
          </a:solidFill>
          <a:ln/>
        </p:spPr>
        <p:txBody>
          <a:bodyPr/>
          <a:lstStyle/>
          <a:p>
            <a:endParaRPr lang="en-US"/>
          </a:p>
        </p:txBody>
      </p:sp>
      <p:sp>
        <p:nvSpPr>
          <p:cNvPr id="105" name="Text 103"/>
          <p:cNvSpPr/>
          <p:nvPr/>
        </p:nvSpPr>
        <p:spPr>
          <a:xfrm>
            <a:off x="2722265" y="54927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99.08%</a:t>
            </a:r>
            <a:endParaRPr lang="en-US" sz="1200" dirty="0"/>
          </a:p>
        </p:txBody>
      </p:sp>
      <p:sp>
        <p:nvSpPr>
          <p:cNvPr id="106" name="Shape 104"/>
          <p:cNvSpPr/>
          <p:nvPr/>
        </p:nvSpPr>
        <p:spPr>
          <a:xfrm>
            <a:off x="3631109" y="5768975"/>
            <a:ext cx="1706860" cy="9525"/>
          </a:xfrm>
          <a:prstGeom prst="rect">
            <a:avLst/>
          </a:prstGeom>
          <a:solidFill>
            <a:srgbClr val="FFFFFF">
              <a:alpha val="14000"/>
            </a:srgbClr>
          </a:solidFill>
          <a:ln/>
        </p:spPr>
        <p:txBody>
          <a:bodyPr/>
          <a:lstStyle/>
          <a:p>
            <a:endParaRPr lang="en-US"/>
          </a:p>
        </p:txBody>
      </p:sp>
      <p:sp>
        <p:nvSpPr>
          <p:cNvPr id="107" name="Text 105"/>
          <p:cNvSpPr/>
          <p:nvPr/>
        </p:nvSpPr>
        <p:spPr>
          <a:xfrm>
            <a:off x="3669209" y="54927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$3.26 – $6.14</a:t>
            </a:r>
            <a:endParaRPr lang="en-US" sz="1200" dirty="0"/>
          </a:p>
        </p:txBody>
      </p:sp>
      <p:sp>
        <p:nvSpPr>
          <p:cNvPr id="108" name="Shape 106"/>
          <p:cNvSpPr/>
          <p:nvPr/>
        </p:nvSpPr>
        <p:spPr>
          <a:xfrm>
            <a:off x="5337969" y="5768975"/>
            <a:ext cx="1301155" cy="9525"/>
          </a:xfrm>
          <a:prstGeom prst="rect">
            <a:avLst/>
          </a:prstGeom>
          <a:solidFill>
            <a:srgbClr val="FFFFFF">
              <a:alpha val="14000"/>
            </a:srgbClr>
          </a:solidFill>
          <a:ln/>
        </p:spPr>
        <p:txBody>
          <a:bodyPr/>
          <a:lstStyle/>
          <a:p>
            <a:endParaRPr lang="en-US"/>
          </a:p>
        </p:txBody>
      </p:sp>
      <p:sp>
        <p:nvSpPr>
          <p:cNvPr id="109" name="Text 107"/>
          <p:cNvSpPr/>
          <p:nvPr/>
        </p:nvSpPr>
        <p:spPr>
          <a:xfrm>
            <a:off x="5376069" y="54927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~15.6 min</a:t>
            </a:r>
            <a:endParaRPr lang="en-US" sz="1200" dirty="0"/>
          </a:p>
        </p:txBody>
      </p:sp>
      <p:sp>
        <p:nvSpPr>
          <p:cNvPr id="110" name="Shape 108"/>
          <p:cNvSpPr/>
          <p:nvPr/>
        </p:nvSpPr>
        <p:spPr>
          <a:xfrm>
            <a:off x="685800" y="5775325"/>
            <a:ext cx="1998365" cy="330200"/>
          </a:xfrm>
          <a:prstGeom prst="rect">
            <a:avLst/>
          </a:prstGeom>
          <a:solidFill>
            <a:srgbClr val="FFFFFF">
              <a:alpha val="7000"/>
            </a:srgbClr>
          </a:solidFill>
          <a:ln/>
        </p:spPr>
        <p:txBody>
          <a:bodyPr/>
          <a:lstStyle/>
          <a:p>
            <a:endParaRPr lang="en-US"/>
          </a:p>
        </p:txBody>
      </p:sp>
      <p:sp>
        <p:nvSpPr>
          <p:cNvPr id="111" name="Shape 109"/>
          <p:cNvSpPr/>
          <p:nvPr/>
        </p:nvSpPr>
        <p:spPr>
          <a:xfrm>
            <a:off x="685800" y="6099175"/>
            <a:ext cx="1998365" cy="9525"/>
          </a:xfrm>
          <a:prstGeom prst="rect">
            <a:avLst/>
          </a:prstGeom>
          <a:solidFill>
            <a:srgbClr val="FFFFFF">
              <a:alpha val="14000"/>
            </a:srgbClr>
          </a:solidFill>
          <a:ln/>
        </p:spPr>
        <p:txBody>
          <a:bodyPr/>
          <a:lstStyle/>
          <a:p>
            <a:endParaRPr lang="en-US"/>
          </a:p>
        </p:txBody>
      </p:sp>
      <p:sp>
        <p:nvSpPr>
          <p:cNvPr id="112" name="Text 110"/>
          <p:cNvSpPr/>
          <p:nvPr/>
        </p:nvSpPr>
        <p:spPr>
          <a:xfrm>
            <a:off x="800100" y="5822950"/>
            <a:ext cx="1845965" cy="266700"/>
          </a:xfrm>
          <a:prstGeom prst="rect">
            <a:avLst/>
          </a:prstGeom>
          <a:noFill/>
          <a:ln/>
        </p:spPr>
        <p:txBody>
          <a:bodyPr wrap="square" lIns="25400" tIns="25400" rIns="25400" bIns="25400" rtlCol="0" anchor="ctr">
            <a:normAutofit lnSpcReduction="10000"/>
          </a:bodyPr>
          <a:lstStyle/>
          <a:p>
            <a:pPr marL="0" indent="0" algn="l">
              <a:lnSpc>
                <a:spcPct val="128571"/>
              </a:lnSpc>
              <a:buNone/>
            </a:pPr>
            <a:r>
              <a:rPr lang="en-US" sz="1200" dirty="0">
                <a:solidFill>
                  <a:srgbClr val="FFFFFF"/>
                </a:solidFill>
                <a:latin typeface="Arial" pitchFamily="34" charset="0"/>
                <a:ea typeface="Arial" pitchFamily="34" charset="-122"/>
                <a:cs typeface="Arial" pitchFamily="34" charset="-120"/>
              </a:rPr>
              <a:t>Cathay Pacific</a:t>
            </a:r>
            <a:endParaRPr lang="en-US" sz="1200" dirty="0"/>
          </a:p>
        </p:txBody>
      </p:sp>
      <p:sp>
        <p:nvSpPr>
          <p:cNvPr id="113" name="Shape 111"/>
          <p:cNvSpPr/>
          <p:nvPr/>
        </p:nvSpPr>
        <p:spPr>
          <a:xfrm>
            <a:off x="2684165" y="5775325"/>
            <a:ext cx="946944" cy="330200"/>
          </a:xfrm>
          <a:prstGeom prst="rect">
            <a:avLst/>
          </a:prstGeom>
          <a:solidFill>
            <a:srgbClr val="FFFFFF">
              <a:alpha val="7000"/>
            </a:srgbClr>
          </a:solidFill>
          <a:ln/>
        </p:spPr>
        <p:txBody>
          <a:bodyPr/>
          <a:lstStyle/>
          <a:p>
            <a:endParaRPr lang="en-US"/>
          </a:p>
        </p:txBody>
      </p:sp>
      <p:sp>
        <p:nvSpPr>
          <p:cNvPr id="114" name="Shape 112"/>
          <p:cNvSpPr/>
          <p:nvPr/>
        </p:nvSpPr>
        <p:spPr>
          <a:xfrm>
            <a:off x="2684165" y="6099175"/>
            <a:ext cx="946944" cy="9525"/>
          </a:xfrm>
          <a:prstGeom prst="rect">
            <a:avLst/>
          </a:prstGeom>
          <a:solidFill>
            <a:srgbClr val="FFFFFF">
              <a:alpha val="14000"/>
            </a:srgbClr>
          </a:solidFill>
          <a:ln/>
        </p:spPr>
        <p:txBody>
          <a:bodyPr/>
          <a:lstStyle/>
          <a:p>
            <a:endParaRPr lang="en-US"/>
          </a:p>
        </p:txBody>
      </p:sp>
      <p:sp>
        <p:nvSpPr>
          <p:cNvPr id="115" name="Text 113"/>
          <p:cNvSpPr/>
          <p:nvPr/>
        </p:nvSpPr>
        <p:spPr>
          <a:xfrm>
            <a:off x="2722265" y="5822950"/>
            <a:ext cx="794544"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7FAEFF"/>
                </a:solidFill>
                <a:latin typeface="Courier New" pitchFamily="34" charset="0"/>
                <a:ea typeface="Courier New" pitchFamily="34" charset="-122"/>
                <a:cs typeface="Courier New" pitchFamily="34" charset="-120"/>
              </a:rPr>
              <a:t>—</a:t>
            </a:r>
            <a:endParaRPr lang="en-US" sz="1200" dirty="0"/>
          </a:p>
        </p:txBody>
      </p:sp>
      <p:sp>
        <p:nvSpPr>
          <p:cNvPr id="116" name="Shape 114"/>
          <p:cNvSpPr/>
          <p:nvPr/>
        </p:nvSpPr>
        <p:spPr>
          <a:xfrm>
            <a:off x="3631109" y="5775325"/>
            <a:ext cx="1706860" cy="330200"/>
          </a:xfrm>
          <a:prstGeom prst="rect">
            <a:avLst/>
          </a:prstGeom>
          <a:solidFill>
            <a:srgbClr val="FFFFFF">
              <a:alpha val="7000"/>
            </a:srgbClr>
          </a:solidFill>
          <a:ln/>
        </p:spPr>
        <p:txBody>
          <a:bodyPr/>
          <a:lstStyle/>
          <a:p>
            <a:endParaRPr lang="en-US"/>
          </a:p>
        </p:txBody>
      </p:sp>
      <p:sp>
        <p:nvSpPr>
          <p:cNvPr id="117" name="Shape 115"/>
          <p:cNvSpPr/>
          <p:nvPr/>
        </p:nvSpPr>
        <p:spPr>
          <a:xfrm>
            <a:off x="3631109" y="6099175"/>
            <a:ext cx="1706860" cy="9525"/>
          </a:xfrm>
          <a:prstGeom prst="rect">
            <a:avLst/>
          </a:prstGeom>
          <a:solidFill>
            <a:srgbClr val="FFFFFF">
              <a:alpha val="14000"/>
            </a:srgbClr>
          </a:solidFill>
          <a:ln/>
        </p:spPr>
        <p:txBody>
          <a:bodyPr/>
          <a:lstStyle/>
          <a:p>
            <a:endParaRPr lang="en-US"/>
          </a:p>
        </p:txBody>
      </p:sp>
      <p:sp>
        <p:nvSpPr>
          <p:cNvPr id="118" name="Text 116"/>
          <p:cNvSpPr/>
          <p:nvPr/>
        </p:nvSpPr>
        <p:spPr>
          <a:xfrm>
            <a:off x="3669209" y="5822950"/>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7FAEFF"/>
                </a:solidFill>
                <a:latin typeface="Courier New" pitchFamily="34" charset="0"/>
                <a:ea typeface="Courier New" pitchFamily="34" charset="-122"/>
                <a:cs typeface="Courier New" pitchFamily="34" charset="-120"/>
              </a:rPr>
              <a:t>—</a:t>
            </a:r>
            <a:endParaRPr lang="en-US" sz="1200" dirty="0"/>
          </a:p>
        </p:txBody>
      </p:sp>
      <p:sp>
        <p:nvSpPr>
          <p:cNvPr id="119" name="Shape 117"/>
          <p:cNvSpPr/>
          <p:nvPr/>
        </p:nvSpPr>
        <p:spPr>
          <a:xfrm>
            <a:off x="5337969" y="5775325"/>
            <a:ext cx="1301155" cy="330200"/>
          </a:xfrm>
          <a:prstGeom prst="rect">
            <a:avLst/>
          </a:prstGeom>
          <a:solidFill>
            <a:srgbClr val="FFFFFF">
              <a:alpha val="7000"/>
            </a:srgbClr>
          </a:solidFill>
          <a:ln/>
        </p:spPr>
        <p:txBody>
          <a:bodyPr/>
          <a:lstStyle/>
          <a:p>
            <a:endParaRPr lang="en-US"/>
          </a:p>
        </p:txBody>
      </p:sp>
      <p:sp>
        <p:nvSpPr>
          <p:cNvPr id="120" name="Shape 118"/>
          <p:cNvSpPr/>
          <p:nvPr/>
        </p:nvSpPr>
        <p:spPr>
          <a:xfrm>
            <a:off x="5337969" y="6099175"/>
            <a:ext cx="1301155" cy="9525"/>
          </a:xfrm>
          <a:prstGeom prst="rect">
            <a:avLst/>
          </a:prstGeom>
          <a:solidFill>
            <a:srgbClr val="FFFFFF">
              <a:alpha val="14000"/>
            </a:srgbClr>
          </a:solidFill>
          <a:ln/>
        </p:spPr>
        <p:txBody>
          <a:bodyPr/>
          <a:lstStyle/>
          <a:p>
            <a:endParaRPr lang="en-US"/>
          </a:p>
        </p:txBody>
      </p:sp>
      <p:sp>
        <p:nvSpPr>
          <p:cNvPr id="121" name="Text 119"/>
          <p:cNvSpPr/>
          <p:nvPr/>
        </p:nvSpPr>
        <p:spPr>
          <a:xfrm>
            <a:off x="5376069" y="5822950"/>
            <a:ext cx="1148755"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7FAEFF"/>
                </a:solidFill>
                <a:latin typeface="Courier New" pitchFamily="34" charset="0"/>
                <a:ea typeface="Courier New" pitchFamily="34" charset="-122"/>
                <a:cs typeface="Courier New" pitchFamily="34" charset="-120"/>
              </a:rPr>
              <a:t>in progress</a:t>
            </a:r>
            <a:endParaRPr lang="en-US" sz="1200" dirty="0"/>
          </a:p>
        </p:txBody>
      </p:sp>
      <p:sp>
        <p:nvSpPr>
          <p:cNvPr id="122" name="Shape 120"/>
          <p:cNvSpPr/>
          <p:nvPr/>
        </p:nvSpPr>
        <p:spPr>
          <a:xfrm>
            <a:off x="7096324" y="1576388"/>
            <a:ext cx="4409877" cy="1484313"/>
          </a:xfrm>
          <a:prstGeom prst="roundRect">
            <a:avLst>
              <a:gd name="adj" fmla="val 2567"/>
            </a:avLst>
          </a:prstGeom>
          <a:solidFill>
            <a:srgbClr val="FFFFFF">
              <a:alpha val="7000"/>
            </a:srgbClr>
          </a:solidFill>
          <a:ln w="6350">
            <a:solidFill>
              <a:srgbClr val="FFFFFF">
                <a:alpha val="14000"/>
              </a:srgbClr>
            </a:solidFill>
            <a:prstDash val="solid"/>
          </a:ln>
        </p:spPr>
        <p:txBody>
          <a:bodyPr/>
          <a:lstStyle/>
          <a:p>
            <a:endParaRPr lang="en-US"/>
          </a:p>
        </p:txBody>
      </p:sp>
      <p:sp>
        <p:nvSpPr>
          <p:cNvPr id="123" name="Text 121"/>
          <p:cNvSpPr/>
          <p:nvPr/>
        </p:nvSpPr>
        <p:spPr>
          <a:xfrm>
            <a:off x="7312223" y="1754188"/>
            <a:ext cx="4375884"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FFFFFF">
                    <a:alpha val="55000"/>
                  </a:srgbClr>
                </a:solidFill>
                <a:latin typeface="Arial" pitchFamily="34" charset="0"/>
                <a:ea typeface="Arial" pitchFamily="34" charset="-122"/>
                <a:cs typeface="Arial" pitchFamily="34" charset="-120"/>
              </a:rPr>
              <a:t>PREVIOUS EXTERNAL PROCESS</a:t>
            </a:r>
            <a:endParaRPr lang="en-US" sz="825" dirty="0"/>
          </a:p>
        </p:txBody>
      </p:sp>
      <p:sp>
        <p:nvSpPr>
          <p:cNvPr id="124" name="Text 122"/>
          <p:cNvSpPr/>
          <p:nvPr/>
        </p:nvSpPr>
        <p:spPr>
          <a:xfrm>
            <a:off x="7312223" y="2006600"/>
            <a:ext cx="745431"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Accuracy</a:t>
            </a:r>
            <a:endParaRPr lang="en-US" sz="1200" dirty="0"/>
          </a:p>
        </p:txBody>
      </p:sp>
      <p:sp>
        <p:nvSpPr>
          <p:cNvPr id="125" name="Text 123"/>
          <p:cNvSpPr/>
          <p:nvPr/>
        </p:nvSpPr>
        <p:spPr>
          <a:xfrm>
            <a:off x="10010081" y="2006600"/>
            <a:ext cx="1408241"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~95% estimated</a:t>
            </a:r>
            <a:endParaRPr lang="en-US" sz="1200" dirty="0"/>
          </a:p>
        </p:txBody>
      </p:sp>
      <p:sp>
        <p:nvSpPr>
          <p:cNvPr id="126" name="Text 124"/>
          <p:cNvSpPr/>
          <p:nvPr/>
        </p:nvSpPr>
        <p:spPr>
          <a:xfrm>
            <a:off x="7312223" y="2330450"/>
            <a:ext cx="642144"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Delivery</a:t>
            </a:r>
            <a:endParaRPr lang="en-US" sz="1200" dirty="0"/>
          </a:p>
        </p:txBody>
      </p:sp>
      <p:sp>
        <p:nvSpPr>
          <p:cNvPr id="127" name="Text 125"/>
          <p:cNvSpPr/>
          <p:nvPr/>
        </p:nvSpPr>
        <p:spPr>
          <a:xfrm>
            <a:off x="10467281" y="2330450"/>
            <a:ext cx="899220"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1–2 weeks</a:t>
            </a:r>
            <a:endParaRPr lang="en-US" sz="1200" dirty="0"/>
          </a:p>
        </p:txBody>
      </p:sp>
      <p:sp>
        <p:nvSpPr>
          <p:cNvPr id="128" name="Text 126"/>
          <p:cNvSpPr/>
          <p:nvPr/>
        </p:nvSpPr>
        <p:spPr>
          <a:xfrm>
            <a:off x="7312223" y="2654300"/>
            <a:ext cx="408781"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Cost</a:t>
            </a:r>
            <a:endParaRPr lang="en-US" sz="1200" dirty="0"/>
          </a:p>
        </p:txBody>
      </p:sp>
      <p:sp>
        <p:nvSpPr>
          <p:cNvPr id="129" name="Text 127"/>
          <p:cNvSpPr/>
          <p:nvPr/>
        </p:nvSpPr>
        <p:spPr>
          <a:xfrm>
            <a:off x="9370021" y="2654300"/>
            <a:ext cx="2112308"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~$30 / airline-period</a:t>
            </a:r>
            <a:endParaRPr lang="en-US" sz="1200" dirty="0"/>
          </a:p>
        </p:txBody>
      </p:sp>
      <p:sp>
        <p:nvSpPr>
          <p:cNvPr id="130" name="Shape 128"/>
          <p:cNvSpPr/>
          <p:nvPr/>
        </p:nvSpPr>
        <p:spPr>
          <a:xfrm>
            <a:off x="7096324" y="3251200"/>
            <a:ext cx="4409877" cy="1484313"/>
          </a:xfrm>
          <a:prstGeom prst="roundRect">
            <a:avLst>
              <a:gd name="adj" fmla="val 2567"/>
            </a:avLst>
          </a:prstGeom>
          <a:solidFill>
            <a:srgbClr val="4E8BFF">
              <a:alpha val="14000"/>
            </a:srgbClr>
          </a:solidFill>
          <a:ln w="6350">
            <a:solidFill>
              <a:srgbClr val="4E8BFF"/>
            </a:solidFill>
            <a:prstDash val="solid"/>
          </a:ln>
        </p:spPr>
        <p:txBody>
          <a:bodyPr/>
          <a:lstStyle/>
          <a:p>
            <a:endParaRPr lang="en-US"/>
          </a:p>
        </p:txBody>
      </p:sp>
      <p:sp>
        <p:nvSpPr>
          <p:cNvPr id="131" name="Text 129"/>
          <p:cNvSpPr/>
          <p:nvPr/>
        </p:nvSpPr>
        <p:spPr>
          <a:xfrm>
            <a:off x="7312223" y="3429000"/>
            <a:ext cx="4375884"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CURRENT PIPELINE</a:t>
            </a:r>
            <a:endParaRPr lang="en-US" sz="825" dirty="0"/>
          </a:p>
        </p:txBody>
      </p:sp>
      <p:sp>
        <p:nvSpPr>
          <p:cNvPr id="132" name="Text 130"/>
          <p:cNvSpPr/>
          <p:nvPr/>
        </p:nvSpPr>
        <p:spPr>
          <a:xfrm>
            <a:off x="7312223" y="3681413"/>
            <a:ext cx="745431"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Accuracy</a:t>
            </a:r>
            <a:endParaRPr lang="en-US" sz="1200" dirty="0"/>
          </a:p>
        </p:txBody>
      </p:sp>
      <p:sp>
        <p:nvSpPr>
          <p:cNvPr id="133" name="Text 131"/>
          <p:cNvSpPr/>
          <p:nvPr/>
        </p:nvSpPr>
        <p:spPr>
          <a:xfrm>
            <a:off x="10375900" y="3681413"/>
            <a:ext cx="990600"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99.74% avg</a:t>
            </a:r>
            <a:endParaRPr lang="en-US" sz="1200" dirty="0"/>
          </a:p>
        </p:txBody>
      </p:sp>
      <p:sp>
        <p:nvSpPr>
          <p:cNvPr id="134" name="Text 132"/>
          <p:cNvSpPr/>
          <p:nvPr/>
        </p:nvSpPr>
        <p:spPr>
          <a:xfrm>
            <a:off x="7312223" y="4005262"/>
            <a:ext cx="843459"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Processing</a:t>
            </a:r>
            <a:endParaRPr lang="en-US" sz="1200" dirty="0"/>
          </a:p>
        </p:txBody>
      </p:sp>
      <p:sp>
        <p:nvSpPr>
          <p:cNvPr id="135" name="Text 133"/>
          <p:cNvSpPr/>
          <p:nvPr/>
        </p:nvSpPr>
        <p:spPr>
          <a:xfrm>
            <a:off x="10101560" y="4005262"/>
            <a:ext cx="1264940"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~11.9 min avg</a:t>
            </a:r>
            <a:endParaRPr lang="en-US" sz="1200" dirty="0"/>
          </a:p>
        </p:txBody>
      </p:sp>
      <p:sp>
        <p:nvSpPr>
          <p:cNvPr id="136" name="Text 134"/>
          <p:cNvSpPr/>
          <p:nvPr/>
        </p:nvSpPr>
        <p:spPr>
          <a:xfrm>
            <a:off x="7312223" y="4329113"/>
            <a:ext cx="990600" cy="266700"/>
          </a:xfrm>
          <a:prstGeom prst="rect">
            <a:avLst/>
          </a:prstGeom>
          <a:noFill/>
          <a:ln/>
        </p:spPr>
        <p:txBody>
          <a:bodyPr wrap="square" lIns="25400" tIns="25400" rIns="25400" bIns="25400" rtlCol="0" anchor="t">
            <a:normAutofit lnSpcReduction="10000"/>
          </a:bodyPr>
          <a:lstStyle/>
          <a:p>
            <a:pPr marL="0" indent="0" algn="l">
              <a:lnSpc>
                <a:spcPct val="128571"/>
              </a:lnSpc>
              <a:buNone/>
            </a:pPr>
            <a:r>
              <a:rPr lang="en-US" sz="1200" dirty="0">
                <a:solidFill>
                  <a:srgbClr val="FFFFFF">
                    <a:alpha val="72000"/>
                  </a:srgbClr>
                </a:solidFill>
                <a:latin typeface="Arial" pitchFamily="34" charset="0"/>
                <a:ea typeface="Arial" pitchFamily="34" charset="-122"/>
                <a:cs typeface="Arial" pitchFamily="34" charset="-120"/>
              </a:rPr>
              <a:t>Average cost</a:t>
            </a:r>
            <a:endParaRPr lang="en-US" sz="1200" dirty="0"/>
          </a:p>
        </p:txBody>
      </p:sp>
      <p:sp>
        <p:nvSpPr>
          <p:cNvPr id="137" name="Text 135"/>
          <p:cNvSpPr/>
          <p:nvPr/>
        </p:nvSpPr>
        <p:spPr>
          <a:xfrm>
            <a:off x="10467281" y="4329113"/>
            <a:ext cx="899220"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FFFFFF"/>
                </a:solidFill>
                <a:latin typeface="Courier New" pitchFamily="34" charset="0"/>
                <a:ea typeface="Courier New" pitchFamily="34" charset="-122"/>
                <a:cs typeface="Courier New" pitchFamily="34" charset="-120"/>
              </a:rPr>
              <a:t>$3.90 avg</a:t>
            </a:r>
            <a:endParaRPr lang="en-US" sz="1200" dirty="0"/>
          </a:p>
        </p:txBody>
      </p:sp>
      <p:sp>
        <p:nvSpPr>
          <p:cNvPr id="138" name="Text 136"/>
          <p:cNvSpPr/>
          <p:nvPr/>
        </p:nvSpPr>
        <p:spPr>
          <a:xfrm>
            <a:off x="7096324" y="4926013"/>
            <a:ext cx="4850864"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dirty="0">
                <a:solidFill>
                  <a:srgbClr val="FFFFFF">
                    <a:alpha val="38000"/>
                  </a:srgbClr>
                </a:solidFill>
                <a:latin typeface="Arial" pitchFamily="34" charset="0"/>
                <a:ea typeface="Arial" pitchFamily="34" charset="-122"/>
                <a:cs typeface="Arial" pitchFamily="34" charset="-120"/>
              </a:rPr>
              <a:t>Averages across the twelve measured airlines; Cathay Pacific still running.</a:t>
            </a:r>
            <a:endParaRPr lang="en-US" sz="975" dirty="0"/>
          </a:p>
        </p:txBody>
      </p:sp>
      <p:pic>
        <p:nvPicPr>
          <p:cNvPr id="139" name="Image 0" descr="preencoded.png"/>
          <p:cNvPicPr>
            <a:picLocks noChangeAspect="1"/>
          </p:cNvPicPr>
          <p:nvPr/>
        </p:nvPicPr>
        <p:blipFill>
          <a:blip r:embed="rId3">
            <a:alphaModFix amt="55000"/>
          </a:blip>
          <a:stretch>
            <a:fillRect/>
          </a:stretch>
        </p:blipFill>
        <p:spPr>
          <a:xfrm>
            <a:off x="685800" y="6353175"/>
            <a:ext cx="864691" cy="123825"/>
          </a:xfrm>
          <a:prstGeom prst="rect">
            <a:avLst/>
          </a:prstGeom>
        </p:spPr>
      </p:pic>
      <p:sp>
        <p:nvSpPr>
          <p:cNvPr id="140" name="Text 137"/>
          <p:cNvSpPr/>
          <p:nvPr/>
        </p:nvSpPr>
        <p:spPr>
          <a:xfrm>
            <a:off x="10792321" y="6291263"/>
            <a:ext cx="489049" cy="223838"/>
          </a:xfrm>
          <a:prstGeom prst="rect">
            <a:avLst/>
          </a:prstGeom>
          <a:noFill/>
          <a:ln/>
        </p:spPr>
        <p:txBody>
          <a:bodyPr wrap="square" lIns="25400" tIns="25400" rIns="25400" bIns="25400" rtlCol="0" anchor="t">
            <a:normAutofit lnSpcReduction="10000"/>
          </a:bodyPr>
          <a:lstStyle/>
          <a:p>
            <a:pPr marL="0" indent="0" algn="l">
              <a:lnSpc>
                <a:spcPct val="127174"/>
              </a:lnSpc>
              <a:buNone/>
            </a:pPr>
            <a:r>
              <a:rPr lang="en-US" sz="975" dirty="0">
                <a:solidFill>
                  <a:srgbClr val="FFFFFF">
                    <a:alpha val="38000"/>
                  </a:srgbClr>
                </a:solidFill>
                <a:latin typeface="Arial" pitchFamily="34" charset="0"/>
                <a:ea typeface="Arial" pitchFamily="34" charset="-122"/>
                <a:cs typeface="Arial" pitchFamily="34" charset="-120"/>
              </a:rPr>
              <a:t>Results</a:t>
            </a:r>
            <a:endParaRPr lang="en-US" sz="975" dirty="0"/>
          </a:p>
        </p:txBody>
      </p:sp>
      <p:sp>
        <p:nvSpPr>
          <p:cNvPr id="141" name="Text 138"/>
          <p:cNvSpPr/>
          <p:nvPr/>
        </p:nvSpPr>
        <p:spPr>
          <a:xfrm>
            <a:off x="11357571" y="62912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09</a:t>
            </a:r>
            <a:endParaRPr lang="en-US" sz="975" dirty="0"/>
          </a:p>
        </p:txBody>
      </p:sp>
      <p:sp>
        <p:nvSpPr>
          <p:cNvPr id="143" name="Text 33">
            <a:extLst>
              <a:ext uri="{FF2B5EF4-FFF2-40B4-BE49-F238E27FC236}">
                <a16:creationId xmlns:a16="http://schemas.microsoft.com/office/drawing/2014/main" id="{16EC7053-98B9-46C2-3379-C1C4A4386276}"/>
              </a:ext>
            </a:extLst>
          </p:cNvPr>
          <p:cNvSpPr/>
          <p:nvPr/>
        </p:nvSpPr>
        <p:spPr>
          <a:xfrm>
            <a:off x="3669209" y="2823708"/>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$3.00 – $6.15</a:t>
            </a:r>
            <a:endParaRPr lang="en-US" sz="1200" dirty="0"/>
          </a:p>
        </p:txBody>
      </p:sp>
      <p:sp>
        <p:nvSpPr>
          <p:cNvPr id="145" name="Text 33">
            <a:extLst>
              <a:ext uri="{FF2B5EF4-FFF2-40B4-BE49-F238E27FC236}">
                <a16:creationId xmlns:a16="http://schemas.microsoft.com/office/drawing/2014/main" id="{4E216C51-F4D3-76B0-703D-4802BE4EEBE2}"/>
              </a:ext>
            </a:extLst>
          </p:cNvPr>
          <p:cNvSpPr/>
          <p:nvPr/>
        </p:nvSpPr>
        <p:spPr>
          <a:xfrm>
            <a:off x="3669209" y="5137448"/>
            <a:ext cx="1554460" cy="266700"/>
          </a:xfrm>
          <a:prstGeom prst="rect">
            <a:avLst/>
          </a:prstGeom>
          <a:noFill/>
          <a:ln/>
        </p:spPr>
        <p:txBody>
          <a:bodyPr wrap="square" lIns="25400" tIns="25400" rIns="25400" bIns="25400" rtlCol="0" anchor="ctr">
            <a:normAutofit lnSpcReduction="10000"/>
          </a:bodyPr>
          <a:lstStyle/>
          <a:p>
            <a:pPr marL="0" indent="0" algn="r">
              <a:lnSpc>
                <a:spcPct val="133333"/>
              </a:lnSpc>
              <a:buNone/>
            </a:pPr>
            <a:r>
              <a:rPr lang="en-US" sz="1200" dirty="0">
                <a:solidFill>
                  <a:srgbClr val="FFFFFF"/>
                </a:solidFill>
                <a:latin typeface="Courier New" pitchFamily="34" charset="0"/>
                <a:ea typeface="Courier New" pitchFamily="34" charset="-122"/>
                <a:cs typeface="Courier New" pitchFamily="34" charset="-120"/>
              </a:rPr>
              <a:t>$3.00 – $6.15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8174A"/>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1810742"/>
            <a:ext cx="396280" cy="438150"/>
          </a:xfrm>
          <a:prstGeom prst="rect">
            <a:avLst/>
          </a:prstGeom>
          <a:noFill/>
          <a:ln/>
        </p:spPr>
        <p:txBody>
          <a:bodyPr wrap="square" lIns="25400" tIns="25400" rIns="25400" bIns="25400" rtlCol="0" anchor="t">
            <a:normAutofit lnSpcReduction="10000"/>
          </a:bodyPr>
          <a:lstStyle/>
          <a:p>
            <a:pPr marL="0" indent="0" algn="l">
              <a:lnSpc>
                <a:spcPct val="131250"/>
              </a:lnSpc>
              <a:buNone/>
            </a:pPr>
            <a:r>
              <a:rPr lang="en-US" sz="2100" dirty="0">
                <a:solidFill>
                  <a:srgbClr val="4E8BFF"/>
                </a:solidFill>
                <a:latin typeface="Courier New" pitchFamily="34" charset="0"/>
                <a:ea typeface="Courier New" pitchFamily="34" charset="-122"/>
                <a:cs typeface="Courier New" pitchFamily="34" charset="-120"/>
              </a:rPr>
              <a:t>02</a:t>
            </a:r>
            <a:endParaRPr lang="en-US" sz="2100" dirty="0"/>
          </a:p>
        </p:txBody>
      </p:sp>
      <p:sp>
        <p:nvSpPr>
          <p:cNvPr id="4" name="Shape 2"/>
          <p:cNvSpPr/>
          <p:nvPr/>
        </p:nvSpPr>
        <p:spPr>
          <a:xfrm>
            <a:off x="1234480" y="2099667"/>
            <a:ext cx="10271721" cy="9525"/>
          </a:xfrm>
          <a:prstGeom prst="rect">
            <a:avLst/>
          </a:prstGeom>
          <a:solidFill>
            <a:srgbClr val="FFFFFF">
              <a:alpha val="14000"/>
            </a:srgbClr>
          </a:solidFill>
          <a:ln/>
        </p:spPr>
        <p:txBody>
          <a:bodyPr/>
          <a:lstStyle/>
          <a:p>
            <a:endParaRPr lang="en-US"/>
          </a:p>
        </p:txBody>
      </p:sp>
      <p:sp>
        <p:nvSpPr>
          <p:cNvPr id="5" name="Text 3"/>
          <p:cNvSpPr/>
          <p:nvPr/>
        </p:nvSpPr>
        <p:spPr>
          <a:xfrm>
            <a:off x="685800" y="2439392"/>
            <a:ext cx="11902440" cy="678160"/>
          </a:xfrm>
          <a:prstGeom prst="rect">
            <a:avLst/>
          </a:prstGeom>
          <a:noFill/>
          <a:ln/>
        </p:spPr>
        <p:txBody>
          <a:bodyPr wrap="square" lIns="25400" tIns="25400" rIns="25400" bIns="25400" rtlCol="0" anchor="t">
            <a:normAutofit lnSpcReduction="10000"/>
          </a:bodyPr>
          <a:lstStyle/>
          <a:p>
            <a:pPr marL="0" indent="0" algn="l">
              <a:lnSpc>
                <a:spcPct val="91636"/>
              </a:lnSpc>
              <a:buNone/>
            </a:pPr>
            <a:r>
              <a:rPr lang="en-US" sz="4800" kern="0" spc="-96" dirty="0">
                <a:solidFill>
                  <a:srgbClr val="FFFFFF"/>
                </a:solidFill>
                <a:latin typeface="Arial" pitchFamily="34" charset="0"/>
                <a:ea typeface="Arial" pitchFamily="34" charset="-122"/>
                <a:cs typeface="Arial" pitchFamily="34" charset="-120"/>
              </a:rPr>
              <a:t>[Air Rev] — Data Engineering</a:t>
            </a:r>
            <a:endParaRPr lang="en-US" sz="4800" dirty="0"/>
          </a:p>
        </p:txBody>
      </p:sp>
      <p:sp>
        <p:nvSpPr>
          <p:cNvPr id="6" name="Text 4"/>
          <p:cNvSpPr/>
          <p:nvPr/>
        </p:nvSpPr>
        <p:spPr>
          <a:xfrm>
            <a:off x="685800" y="3308052"/>
            <a:ext cx="11902440"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alpha val="55000"/>
                  </a:srgbClr>
                </a:solidFill>
                <a:latin typeface="Arial" pitchFamily="34" charset="0"/>
                <a:ea typeface="Arial" pitchFamily="34" charset="-122"/>
                <a:cs typeface="Arial" pitchFamily="34" charset="-120"/>
              </a:rPr>
              <a:t>Automating data quality at scale</a:t>
            </a:r>
            <a:endParaRPr lang="en-US" sz="1650" dirty="0"/>
          </a:p>
        </p:txBody>
      </p:sp>
      <p:pic>
        <p:nvPicPr>
          <p:cNvPr id="7"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8" name="Text 5"/>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11</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10 — DATA QUALITY</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fontScale="92500" lnSpcReduction="10000"/>
          </a:bodyPr>
          <a:lstStyle/>
          <a:p>
            <a:r>
              <a:rPr lang="en-US" sz="3000" kern="0" spc="-45" dirty="0">
                <a:solidFill>
                  <a:srgbClr val="FFFFFF"/>
                </a:solidFill>
                <a:latin typeface="Arial" pitchFamily="34" charset="0"/>
                <a:ea typeface="Arial" pitchFamily="34" charset="-122"/>
                <a:cs typeface="Arial" pitchFamily="34" charset="-120"/>
              </a:rPr>
              <a:t>[Air Rev] — </a:t>
            </a:r>
            <a:r>
              <a:rPr lang="en-US" sz="3200" dirty="0" err="1">
                <a:solidFill>
                  <a:schemeClr val="bg1"/>
                </a:solidFill>
              </a:rPr>
              <a:t>Almatar</a:t>
            </a:r>
            <a:r>
              <a:rPr lang="en-US" sz="3200" dirty="0">
                <a:solidFill>
                  <a:schemeClr val="bg1"/>
                </a:solidFill>
              </a:rPr>
              <a:t> Data Quality Pipeline</a:t>
            </a:r>
            <a:endParaRPr lang="en-US" sz="3000" dirty="0">
              <a:solidFill>
                <a:schemeClr val="bg1"/>
              </a:solidFill>
            </a:endParaRPr>
          </a:p>
        </p:txBody>
      </p:sp>
      <p:sp>
        <p:nvSpPr>
          <p:cNvPr id="5" name="Text 3"/>
          <p:cNvSpPr/>
          <p:nvPr/>
        </p:nvSpPr>
        <p:spPr>
          <a:xfrm>
            <a:off x="685800" y="1338263"/>
            <a:ext cx="10768218" cy="480020"/>
          </a:xfrm>
          <a:prstGeom prst="rect">
            <a:avLst/>
          </a:prstGeom>
          <a:noFill/>
          <a:ln/>
        </p:spPr>
        <p:txBody>
          <a:bodyPr wrap="square" lIns="25400" tIns="25400" rIns="25400" bIns="25400" rtlCol="0" anchor="t">
            <a:normAutofit lnSpcReduction="10000"/>
          </a:bodyPr>
          <a:lstStyle/>
          <a:p>
            <a:pPr marL="0" indent="0" algn="l">
              <a:lnSpc>
                <a:spcPct val="124286"/>
              </a:lnSpc>
              <a:buNone/>
            </a:pPr>
            <a:r>
              <a:rPr lang="en-US" sz="1200" dirty="0">
                <a:solidFill>
                  <a:srgbClr val="FFFFFF">
                    <a:alpha val="72000"/>
                  </a:srgbClr>
                </a:solidFill>
                <a:latin typeface="Arial" pitchFamily="34" charset="0"/>
                <a:ea typeface="Arial" pitchFamily="34" charset="-122"/>
                <a:cs typeface="Arial" pitchFamily="34" charset="-120"/>
              </a:rPr>
              <a:t>Almatar delivers booking benchmark fares to S3 periodically. The campaign integrates that dataset into the team's existing Data Quality framework, which verifies automatically that incoming data is complete, consistent and usable.</a:t>
            </a:r>
            <a:endParaRPr lang="en-US" sz="1200" dirty="0"/>
          </a:p>
        </p:txBody>
      </p:sp>
      <p:sp>
        <p:nvSpPr>
          <p:cNvPr id="6" name="Shape 4"/>
          <p:cNvSpPr/>
          <p:nvPr/>
        </p:nvSpPr>
        <p:spPr>
          <a:xfrm>
            <a:off x="685800" y="2104033"/>
            <a:ext cx="10820400" cy="1931888"/>
          </a:xfrm>
          <a:prstGeom prst="roundRect">
            <a:avLst>
              <a:gd name="adj" fmla="val 1972"/>
            </a:avLst>
          </a:prstGeom>
          <a:solidFill>
            <a:srgbClr val="FFFFFF">
              <a:alpha val="7000"/>
            </a:srgbClr>
          </a:solidFill>
          <a:ln w="6350">
            <a:solidFill>
              <a:srgbClr val="FFFFFF">
                <a:alpha val="14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5500" y="2243733"/>
            <a:ext cx="10541001" cy="1652488"/>
          </a:xfrm>
          <a:prstGeom prst="rect">
            <a:avLst/>
          </a:prstGeom>
        </p:spPr>
      </p:pic>
      <p:sp>
        <p:nvSpPr>
          <p:cNvPr id="8" name="Text 5"/>
          <p:cNvSpPr/>
          <p:nvPr/>
        </p:nvSpPr>
        <p:spPr>
          <a:xfrm>
            <a:off x="685800" y="4226421"/>
            <a:ext cx="2787015"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COMPLETENESS</a:t>
            </a:r>
            <a:endParaRPr lang="en-US" sz="825" dirty="0"/>
          </a:p>
        </p:txBody>
      </p:sp>
      <p:sp>
        <p:nvSpPr>
          <p:cNvPr id="9" name="Text 6"/>
          <p:cNvSpPr/>
          <p:nvPr/>
        </p:nvSpPr>
        <p:spPr>
          <a:xfrm>
            <a:off x="685800" y="4440734"/>
            <a:ext cx="278701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Critical fields ≥ 98%</a:t>
            </a:r>
            <a:endParaRPr lang="en-US" sz="1200" dirty="0"/>
          </a:p>
        </p:txBody>
      </p:sp>
      <p:sp>
        <p:nvSpPr>
          <p:cNvPr id="10" name="Text 7"/>
          <p:cNvSpPr/>
          <p:nvPr/>
        </p:nvSpPr>
        <p:spPr>
          <a:xfrm>
            <a:off x="3448050" y="4226421"/>
            <a:ext cx="2787015"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FORMAT &amp; DOMAIN</a:t>
            </a:r>
            <a:endParaRPr lang="en-US" sz="825" dirty="0"/>
          </a:p>
        </p:txBody>
      </p:sp>
      <p:sp>
        <p:nvSpPr>
          <p:cNvPr id="11" name="Text 8"/>
          <p:cNvSpPr/>
          <p:nvPr/>
        </p:nvSpPr>
        <p:spPr>
          <a:xfrm>
            <a:off x="3448050" y="4440734"/>
            <a:ext cx="278701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Dates, airports, airlines, cabins</a:t>
            </a:r>
            <a:endParaRPr lang="en-US" sz="1200" dirty="0"/>
          </a:p>
        </p:txBody>
      </p:sp>
      <p:sp>
        <p:nvSpPr>
          <p:cNvPr id="12" name="Text 9"/>
          <p:cNvSpPr/>
          <p:nvPr/>
        </p:nvSpPr>
        <p:spPr>
          <a:xfrm>
            <a:off x="6210300" y="4226421"/>
            <a:ext cx="2787015"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BUSINESS CONSISTENCY</a:t>
            </a:r>
            <a:endParaRPr lang="en-US" sz="825" dirty="0"/>
          </a:p>
        </p:txBody>
      </p:sp>
      <p:sp>
        <p:nvSpPr>
          <p:cNvPr id="13" name="Text 10"/>
          <p:cNvSpPr/>
          <p:nvPr/>
        </p:nvSpPr>
        <p:spPr>
          <a:xfrm>
            <a:off x="6210300" y="4440734"/>
            <a:ext cx="278701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Non-negative durations and values</a:t>
            </a:r>
            <a:endParaRPr lang="en-US" sz="1200" dirty="0"/>
          </a:p>
        </p:txBody>
      </p:sp>
      <p:sp>
        <p:nvSpPr>
          <p:cNvPr id="14" name="Text 11"/>
          <p:cNvSpPr/>
          <p:nvPr/>
        </p:nvSpPr>
        <p:spPr>
          <a:xfrm>
            <a:off x="8972550" y="4226421"/>
            <a:ext cx="2787015"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DELIVERY CONTROL</a:t>
            </a:r>
            <a:endParaRPr lang="en-US" sz="825" dirty="0"/>
          </a:p>
        </p:txBody>
      </p:sp>
      <p:sp>
        <p:nvSpPr>
          <p:cNvPr id="15" name="Text 12"/>
          <p:cNvSpPr/>
          <p:nvPr/>
        </p:nvSpPr>
        <p:spPr>
          <a:xfrm>
            <a:off x="8972550" y="4440734"/>
            <a:ext cx="2609850" cy="449461"/>
          </a:xfrm>
          <a:prstGeom prst="rect">
            <a:avLst/>
          </a:prstGeom>
          <a:noFill/>
          <a:ln/>
        </p:spPr>
        <p:txBody>
          <a:bodyPr wrap="square" lIns="25400" tIns="25400" rIns="25400" bIns="25400" rtlCol="0" anchor="t">
            <a:normAutofit/>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Expected files; missing or late tracked</a:t>
            </a:r>
            <a:endParaRPr lang="en-US" sz="1200" dirty="0"/>
          </a:p>
        </p:txBody>
      </p:sp>
      <p:sp>
        <p:nvSpPr>
          <p:cNvPr id="16" name="Shape 13"/>
          <p:cNvSpPr/>
          <p:nvPr/>
        </p:nvSpPr>
        <p:spPr>
          <a:xfrm>
            <a:off x="685800" y="5042595"/>
            <a:ext cx="10820400" cy="1134566"/>
          </a:xfrm>
          <a:prstGeom prst="roundRect">
            <a:avLst>
              <a:gd name="adj" fmla="val 3358"/>
            </a:avLst>
          </a:prstGeom>
          <a:solidFill>
            <a:srgbClr val="4E8BFF">
              <a:alpha val="14000"/>
            </a:srgbClr>
          </a:solidFill>
          <a:ln w="6350">
            <a:solidFill>
              <a:srgbClr val="4E8BFF"/>
            </a:solidFill>
            <a:prstDash val="solid"/>
          </a:ln>
        </p:spPr>
        <p:txBody>
          <a:bodyPr/>
          <a:lstStyle/>
          <a:p>
            <a:endParaRPr lang="en-US"/>
          </a:p>
        </p:txBody>
      </p:sp>
      <p:sp>
        <p:nvSpPr>
          <p:cNvPr id="17" name="Text 14"/>
          <p:cNvSpPr/>
          <p:nvPr/>
        </p:nvSpPr>
        <p:spPr>
          <a:xfrm>
            <a:off x="882650" y="5296595"/>
            <a:ext cx="531813" cy="195263"/>
          </a:xfrm>
          <a:prstGeom prst="rect">
            <a:avLst/>
          </a:prstGeom>
          <a:noFill/>
          <a:ln/>
        </p:spPr>
        <p:txBody>
          <a:bodyPr wrap="non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STATUS</a:t>
            </a:r>
            <a:endParaRPr lang="en-US" sz="825" dirty="0"/>
          </a:p>
        </p:txBody>
      </p:sp>
      <p:sp>
        <p:nvSpPr>
          <p:cNvPr id="18" name="Text 15"/>
          <p:cNvSpPr/>
          <p:nvPr/>
        </p:nvSpPr>
        <p:spPr>
          <a:xfrm>
            <a:off x="1490663" y="5201345"/>
            <a:ext cx="10113249" cy="855166"/>
          </a:xfrm>
          <a:prstGeom prst="rect">
            <a:avLst/>
          </a:prstGeom>
          <a:noFill/>
          <a:ln/>
        </p:spPr>
        <p:txBody>
          <a:bodyPr wrap="square" lIns="25400" tIns="25400" rIns="25400" bIns="25400" rtlCol="0" anchor="t">
            <a:normAutofit/>
          </a:bodyPr>
          <a:lstStyle/>
          <a:p>
            <a:pPr marL="0" indent="0" algn="l">
              <a:lnSpc>
                <a:spcPct val="112895"/>
              </a:lnSpc>
              <a:buNone/>
            </a:pPr>
            <a:r>
              <a:rPr lang="en-US" sz="1650" dirty="0">
                <a:solidFill>
                  <a:srgbClr val="FFFFFF"/>
                </a:solidFill>
                <a:latin typeface="Arial" pitchFamily="34" charset="0"/>
                <a:ea typeface="Arial" pitchFamily="34" charset="-122"/>
                <a:cs typeface="Arial" pitchFamily="34" charset="-120"/>
              </a:rPr>
              <a:t>The Almatar campaign is under review as a pull request and runs successfully on the Jenkins test environment, with the output checked — awaiting approval to be deployed to production.</a:t>
            </a:r>
            <a:endParaRPr lang="en-US" sz="1650" dirty="0"/>
          </a:p>
        </p:txBody>
      </p:sp>
      <p:pic>
        <p:nvPicPr>
          <p:cNvPr id="19" name="Image 1" descr="preencoded.png"/>
          <p:cNvPicPr>
            <a:picLocks noChangeAspect="1"/>
          </p:cNvPicPr>
          <p:nvPr/>
        </p:nvPicPr>
        <p:blipFill>
          <a:blip r:embed="rId4">
            <a:alphaModFix amt="55000"/>
          </a:blip>
          <a:stretch>
            <a:fillRect/>
          </a:stretch>
        </p:blipFill>
        <p:spPr>
          <a:xfrm>
            <a:off x="685800" y="6391474"/>
            <a:ext cx="864691" cy="123825"/>
          </a:xfrm>
          <a:prstGeom prst="rect">
            <a:avLst/>
          </a:prstGeom>
        </p:spPr>
      </p:pic>
      <p:sp>
        <p:nvSpPr>
          <p:cNvPr id="20" name="Text 16"/>
          <p:cNvSpPr/>
          <p:nvPr/>
        </p:nvSpPr>
        <p:spPr>
          <a:xfrm>
            <a:off x="8084741" y="6329561"/>
            <a:ext cx="3432473"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Spark · Scala · Deequ · S3 · EMR · Jenkins</a:t>
            </a:r>
            <a:endParaRPr lang="en-US" sz="975" dirty="0"/>
          </a:p>
        </p:txBody>
      </p:sp>
      <p:sp>
        <p:nvSpPr>
          <p:cNvPr id="21" name="Text 17"/>
          <p:cNvSpPr/>
          <p:nvPr/>
        </p:nvSpPr>
        <p:spPr>
          <a:xfrm>
            <a:off x="11357571" y="6329561"/>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12</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00834"/>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5334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11 — RELIABILITY</a:t>
            </a:r>
            <a:endParaRPr lang="en-US" sz="825" dirty="0"/>
          </a:p>
        </p:txBody>
      </p:sp>
      <p:sp>
        <p:nvSpPr>
          <p:cNvPr id="4" name="Text 2"/>
          <p:cNvSpPr/>
          <p:nvPr/>
        </p:nvSpPr>
        <p:spPr>
          <a:xfrm>
            <a:off x="685800" y="8048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What it took to make it reliable to run</a:t>
            </a:r>
            <a:endParaRPr lang="en-US" sz="3000" dirty="0"/>
          </a:p>
        </p:txBody>
      </p:sp>
      <p:sp>
        <p:nvSpPr>
          <p:cNvPr id="5" name="Shape 3"/>
          <p:cNvSpPr/>
          <p:nvPr/>
        </p:nvSpPr>
        <p:spPr>
          <a:xfrm>
            <a:off x="685800" y="1414463"/>
            <a:ext cx="10820400" cy="9525"/>
          </a:xfrm>
          <a:prstGeom prst="rect">
            <a:avLst/>
          </a:prstGeom>
          <a:solidFill>
            <a:srgbClr val="FFFFFF">
              <a:alpha val="14000"/>
            </a:srgbClr>
          </a:solidFill>
          <a:ln/>
        </p:spPr>
        <p:txBody>
          <a:bodyPr/>
          <a:lstStyle/>
          <a:p>
            <a:endParaRPr lang="en-US"/>
          </a:p>
        </p:txBody>
      </p:sp>
      <p:sp>
        <p:nvSpPr>
          <p:cNvPr id="6" name="Shape 4"/>
          <p:cNvSpPr/>
          <p:nvPr/>
        </p:nvSpPr>
        <p:spPr>
          <a:xfrm>
            <a:off x="685800" y="1614488"/>
            <a:ext cx="5276850" cy="1537196"/>
          </a:xfrm>
          <a:prstGeom prst="roundRect">
            <a:avLst>
              <a:gd name="adj" fmla="val 2479"/>
            </a:avLst>
          </a:prstGeom>
          <a:solidFill>
            <a:srgbClr val="FFFFFF">
              <a:alpha val="7000"/>
            </a:srgbClr>
          </a:solidFill>
          <a:ln w="6350">
            <a:solidFill>
              <a:srgbClr val="FFFFFF">
                <a:alpha val="14000"/>
              </a:srgbClr>
            </a:solidFill>
            <a:prstDash val="solid"/>
          </a:ln>
        </p:spPr>
        <p:txBody>
          <a:bodyPr/>
          <a:lstStyle/>
          <a:p>
            <a:endParaRPr lang="en-US"/>
          </a:p>
        </p:txBody>
      </p:sp>
      <p:sp>
        <p:nvSpPr>
          <p:cNvPr id="7" name="Text 5"/>
          <p:cNvSpPr/>
          <p:nvPr/>
        </p:nvSpPr>
        <p:spPr>
          <a:xfrm>
            <a:off x="882650" y="1849438"/>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4E8BFF"/>
                </a:solidFill>
                <a:latin typeface="Courier New" pitchFamily="34" charset="0"/>
                <a:ea typeface="Courier New" pitchFamily="34" charset="-122"/>
                <a:cs typeface="Courier New" pitchFamily="34" charset="-120"/>
              </a:rPr>
              <a:t>01</a:t>
            </a:r>
            <a:endParaRPr lang="en-US" sz="1200" dirty="0"/>
          </a:p>
        </p:txBody>
      </p:sp>
      <p:sp>
        <p:nvSpPr>
          <p:cNvPr id="8" name="Text 6"/>
          <p:cNvSpPr/>
          <p:nvPr/>
        </p:nvSpPr>
        <p:spPr>
          <a:xfrm>
            <a:off x="1179909" y="1792288"/>
            <a:ext cx="2055445"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Missing or late files</a:t>
            </a:r>
            <a:endParaRPr lang="en-US" sz="1650" dirty="0"/>
          </a:p>
        </p:txBody>
      </p:sp>
      <p:sp>
        <p:nvSpPr>
          <p:cNvPr id="9" name="Text 7"/>
          <p:cNvSpPr/>
          <p:nvPr/>
        </p:nvSpPr>
        <p:spPr>
          <a:xfrm>
            <a:off x="882650" y="2163763"/>
            <a:ext cx="537146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55000"/>
                  </a:srgbClr>
                </a:solidFill>
                <a:latin typeface="Arial" pitchFamily="34" charset="0"/>
                <a:ea typeface="Arial" pitchFamily="34" charset="-122"/>
                <a:cs typeface="Arial" pitchFamily="34" charset="-120"/>
              </a:rPr>
              <a:t>A dataset may not arrive when expected.</a:t>
            </a:r>
            <a:endParaRPr lang="en-US" sz="1200" dirty="0"/>
          </a:p>
        </p:txBody>
      </p:sp>
      <p:sp>
        <p:nvSpPr>
          <p:cNvPr id="10" name="Text 8"/>
          <p:cNvSpPr/>
          <p:nvPr/>
        </p:nvSpPr>
        <p:spPr>
          <a:xfrm>
            <a:off x="882650" y="2426593"/>
            <a:ext cx="537146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Missed dates are persisted and retried automatically.</a:t>
            </a:r>
            <a:endParaRPr lang="en-US" sz="1200" dirty="0"/>
          </a:p>
        </p:txBody>
      </p:sp>
      <p:sp>
        <p:nvSpPr>
          <p:cNvPr id="11" name="Shape 9"/>
          <p:cNvSpPr/>
          <p:nvPr/>
        </p:nvSpPr>
        <p:spPr>
          <a:xfrm>
            <a:off x="6229350" y="1614488"/>
            <a:ext cx="5276850" cy="1537196"/>
          </a:xfrm>
          <a:prstGeom prst="roundRect">
            <a:avLst>
              <a:gd name="adj" fmla="val 2479"/>
            </a:avLst>
          </a:prstGeom>
          <a:solidFill>
            <a:srgbClr val="FFFFFF">
              <a:alpha val="7000"/>
            </a:srgbClr>
          </a:solidFill>
          <a:ln w="6350">
            <a:solidFill>
              <a:srgbClr val="FFFFFF">
                <a:alpha val="14000"/>
              </a:srgbClr>
            </a:solidFill>
            <a:prstDash val="solid"/>
          </a:ln>
        </p:spPr>
        <p:txBody>
          <a:bodyPr/>
          <a:lstStyle/>
          <a:p>
            <a:endParaRPr lang="en-US"/>
          </a:p>
        </p:txBody>
      </p:sp>
      <p:sp>
        <p:nvSpPr>
          <p:cNvPr id="12" name="Text 10"/>
          <p:cNvSpPr/>
          <p:nvPr/>
        </p:nvSpPr>
        <p:spPr>
          <a:xfrm>
            <a:off x="6426200" y="1849438"/>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4E8BFF"/>
                </a:solidFill>
                <a:latin typeface="Courier New" pitchFamily="34" charset="0"/>
                <a:ea typeface="Courier New" pitchFamily="34" charset="-122"/>
                <a:cs typeface="Courier New" pitchFamily="34" charset="-120"/>
              </a:rPr>
              <a:t>02</a:t>
            </a:r>
            <a:endParaRPr lang="en-US" sz="1200" dirty="0"/>
          </a:p>
        </p:txBody>
      </p:sp>
      <p:sp>
        <p:nvSpPr>
          <p:cNvPr id="13" name="Text 11"/>
          <p:cNvSpPr/>
          <p:nvPr/>
        </p:nvSpPr>
        <p:spPr>
          <a:xfrm>
            <a:off x="6723459" y="1792288"/>
            <a:ext cx="2796292" cy="352425"/>
          </a:xfrm>
          <a:prstGeom prst="rect">
            <a:avLst/>
          </a:prstGeom>
          <a:noFill/>
          <a:ln/>
        </p:spPr>
        <p:txBody>
          <a:bodyPr wrap="square" lIns="25400" tIns="25400" rIns="25400" bIns="25400" rtlCol="0" anchor="t">
            <a:normAutofit/>
          </a:bodyPr>
          <a:lstStyle/>
          <a:p>
            <a:pPr marL="0" indent="0" algn="l">
              <a:lnSpc>
                <a:spcPct val="130263"/>
              </a:lnSpc>
              <a:buNone/>
            </a:pPr>
            <a:r>
              <a:rPr lang="en-US" sz="1650" dirty="0">
                <a:solidFill>
                  <a:srgbClr val="FFFFFF"/>
                </a:solidFill>
                <a:latin typeface="Arial" pitchFamily="34" charset="0"/>
                <a:ea typeface="Arial" pitchFamily="34" charset="-122"/>
                <a:cs typeface="Arial" pitchFamily="34" charset="-120"/>
              </a:rPr>
              <a:t>Mixed files in one location</a:t>
            </a:r>
            <a:endParaRPr lang="en-US" sz="1650" dirty="0"/>
          </a:p>
        </p:txBody>
      </p:sp>
      <p:sp>
        <p:nvSpPr>
          <p:cNvPr id="14" name="Text 12"/>
          <p:cNvSpPr/>
          <p:nvPr/>
        </p:nvSpPr>
        <p:spPr>
          <a:xfrm>
            <a:off x="6426200" y="2163763"/>
            <a:ext cx="5371465" cy="243780"/>
          </a:xfrm>
          <a:prstGeom prst="rect">
            <a:avLst/>
          </a:prstGeom>
          <a:noFill/>
          <a:ln/>
        </p:spPr>
        <p:txBody>
          <a:bodyPr wrap="square" lIns="25400" tIns="25400" rIns="25400" bIns="25400" rtlCol="0" anchor="t">
            <a:normAutofit lnSpcReduction="10000"/>
          </a:bodyPr>
          <a:lstStyle/>
          <a:p>
            <a:pPr marL="0" indent="0" algn="l">
              <a:lnSpc>
                <a:spcPct val="115714"/>
              </a:lnSpc>
              <a:buNone/>
            </a:pPr>
            <a:r>
              <a:rPr lang="en-US" sz="1200" dirty="0">
                <a:solidFill>
                  <a:srgbClr val="FFFFFF">
                    <a:alpha val="55000"/>
                  </a:srgbClr>
                </a:solidFill>
                <a:latin typeface="Arial" pitchFamily="34" charset="0"/>
                <a:ea typeface="Arial" pitchFamily="34" charset="-122"/>
                <a:cs typeface="Arial" pitchFamily="34" charset="-120"/>
              </a:rPr>
              <a:t>The S3 path can hold other feeds.</a:t>
            </a:r>
            <a:endParaRPr lang="en-US" sz="1200" dirty="0"/>
          </a:p>
        </p:txBody>
      </p:sp>
      <p:sp>
        <p:nvSpPr>
          <p:cNvPr id="15" name="Text 13"/>
          <p:cNvSpPr/>
          <p:nvPr/>
        </p:nvSpPr>
        <p:spPr>
          <a:xfrm>
            <a:off x="6426200" y="2426593"/>
            <a:ext cx="5029645" cy="449461"/>
          </a:xfrm>
          <a:prstGeom prst="rect">
            <a:avLst/>
          </a:prstGeom>
          <a:noFill/>
          <a:ln/>
        </p:spPr>
        <p:txBody>
          <a:bodyPr wrap="square" lIns="25400" tIns="25400" rIns="25400" bIns="25400" rtlCol="0" anchor="t">
            <a:normAutofit/>
          </a:bodyPr>
          <a:lstStyle/>
          <a:p>
            <a:pPr marL="0" indent="0" algn="l">
              <a:lnSpc>
                <a:spcPct val="115714"/>
              </a:lnSpc>
              <a:buNone/>
            </a:pPr>
            <a:r>
              <a:rPr lang="en-US" sz="1200" dirty="0">
                <a:solidFill>
                  <a:srgbClr val="FFFFFF">
                    <a:alpha val="72000"/>
                  </a:srgbClr>
                </a:solidFill>
                <a:latin typeface="Arial" pitchFamily="34" charset="0"/>
                <a:ea typeface="Arial" pitchFamily="34" charset="-122"/>
                <a:cs typeface="Arial" pitchFamily="34" charset="-120"/>
              </a:rPr>
              <a:t>Strict filename discovery — contributed back to the shared framework.</a:t>
            </a:r>
            <a:endParaRPr lang="en-US" sz="1200" dirty="0"/>
          </a:p>
        </p:txBody>
      </p:sp>
      <p:sp>
        <p:nvSpPr>
          <p:cNvPr id="16" name="Shape 14"/>
          <p:cNvSpPr/>
          <p:nvPr/>
        </p:nvSpPr>
        <p:spPr>
          <a:xfrm>
            <a:off x="685800" y="3304084"/>
            <a:ext cx="5276850" cy="1537196"/>
          </a:xfrm>
          <a:prstGeom prst="roundRect">
            <a:avLst>
              <a:gd name="adj" fmla="val 2479"/>
            </a:avLst>
          </a:prstGeom>
          <a:solidFill>
            <a:srgbClr val="FFFFFF">
              <a:alpha val="7000"/>
            </a:srgbClr>
          </a:solidFill>
          <a:ln w="6350">
            <a:solidFill>
              <a:srgbClr val="FFFFFF">
                <a:alpha val="14000"/>
              </a:srgbClr>
            </a:solidFill>
            <a:prstDash val="solid"/>
          </a:ln>
        </p:spPr>
        <p:txBody>
          <a:bodyPr/>
          <a:lstStyle/>
          <a:p>
            <a:endParaRPr lang="en-US"/>
          </a:p>
        </p:txBody>
      </p:sp>
      <p:sp>
        <p:nvSpPr>
          <p:cNvPr id="17" name="Text 15"/>
          <p:cNvSpPr/>
          <p:nvPr/>
        </p:nvSpPr>
        <p:spPr>
          <a:xfrm>
            <a:off x="882650" y="3539034"/>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4E8BFF"/>
                </a:solidFill>
                <a:latin typeface="Courier New" pitchFamily="34" charset="0"/>
                <a:ea typeface="Courier New" pitchFamily="34" charset="-122"/>
                <a:cs typeface="Courier New" pitchFamily="34" charset="-120"/>
              </a:rPr>
              <a:t>03</a:t>
            </a:r>
            <a:endParaRPr lang="en-US" sz="1200" dirty="0"/>
          </a:p>
        </p:txBody>
      </p:sp>
      <p:sp>
        <p:nvSpPr>
          <p:cNvPr id="18" name="Text 16"/>
          <p:cNvSpPr/>
          <p:nvPr/>
        </p:nvSpPr>
        <p:spPr>
          <a:xfrm>
            <a:off x="1179909" y="3481884"/>
            <a:ext cx="3076347" cy="352425"/>
          </a:xfrm>
          <a:prstGeom prst="rect">
            <a:avLst/>
          </a:prstGeom>
          <a:noFill/>
          <a:ln/>
        </p:spPr>
        <p:txBody>
          <a:bodyPr wrap="square" lIns="25400" tIns="25400" rIns="25400" bIns="25400" rtlCol="0" anchor="t">
            <a:normAutofit/>
          </a:bodyPr>
          <a:lstStyle/>
          <a:p>
            <a:pPr>
              <a:lnSpc>
                <a:spcPct val="130263"/>
              </a:lnSpc>
            </a:pPr>
            <a:r>
              <a:rPr lang="en-US" sz="1600" dirty="0">
                <a:solidFill>
                  <a:schemeClr val="bg1">
                    <a:lumMod val="75000"/>
                  </a:schemeClr>
                </a:solidFill>
              </a:rPr>
              <a:t>Automated execution</a:t>
            </a:r>
            <a:endParaRPr lang="en-US" sz="1650" dirty="0">
              <a:solidFill>
                <a:schemeClr val="bg1">
                  <a:lumMod val="75000"/>
                </a:schemeClr>
              </a:solidFill>
            </a:endParaRPr>
          </a:p>
        </p:txBody>
      </p:sp>
      <p:sp>
        <p:nvSpPr>
          <p:cNvPr id="19" name="Text 17"/>
          <p:cNvSpPr/>
          <p:nvPr/>
        </p:nvSpPr>
        <p:spPr>
          <a:xfrm>
            <a:off x="882650" y="3853359"/>
            <a:ext cx="5371465" cy="243780"/>
          </a:xfrm>
          <a:prstGeom prst="rect">
            <a:avLst/>
          </a:prstGeom>
          <a:noFill/>
          <a:ln/>
        </p:spPr>
        <p:txBody>
          <a:bodyPr wrap="square" lIns="25400" tIns="25400" rIns="25400" bIns="25400" rtlCol="0" anchor="t">
            <a:normAutofit lnSpcReduction="10000"/>
          </a:bodyPr>
          <a:lstStyle/>
          <a:p>
            <a:pPr>
              <a:lnSpc>
                <a:spcPct val="115714"/>
              </a:lnSpc>
            </a:pPr>
            <a:r>
              <a:rPr lang="en-US" sz="1200" dirty="0">
                <a:solidFill>
                  <a:schemeClr val="bg1">
                    <a:lumMod val="75000"/>
                  </a:schemeClr>
                </a:solidFill>
              </a:rPr>
              <a:t>The pipeline needs to run automatically.</a:t>
            </a:r>
          </a:p>
        </p:txBody>
      </p:sp>
      <p:sp>
        <p:nvSpPr>
          <p:cNvPr id="20" name="Text 18"/>
          <p:cNvSpPr/>
          <p:nvPr/>
        </p:nvSpPr>
        <p:spPr>
          <a:xfrm>
            <a:off x="882650" y="4116189"/>
            <a:ext cx="5371465" cy="243780"/>
          </a:xfrm>
          <a:prstGeom prst="rect">
            <a:avLst/>
          </a:prstGeom>
          <a:noFill/>
          <a:ln/>
        </p:spPr>
        <p:txBody>
          <a:bodyPr wrap="square" lIns="25400" tIns="25400" rIns="25400" bIns="25400" rtlCol="0" anchor="t">
            <a:normAutofit lnSpcReduction="10000"/>
          </a:bodyPr>
          <a:lstStyle/>
          <a:p>
            <a:pPr>
              <a:lnSpc>
                <a:spcPct val="115714"/>
              </a:lnSpc>
            </a:pPr>
            <a:r>
              <a:rPr lang="en-US" sz="1200" dirty="0">
                <a:solidFill>
                  <a:schemeClr val="bg1">
                    <a:lumMod val="85000"/>
                  </a:schemeClr>
                </a:solidFill>
              </a:rPr>
              <a:t> Shell script prepares the run and launches the Data Quality job.</a:t>
            </a:r>
          </a:p>
        </p:txBody>
      </p:sp>
      <p:sp>
        <p:nvSpPr>
          <p:cNvPr id="21" name="Shape 19"/>
          <p:cNvSpPr/>
          <p:nvPr/>
        </p:nvSpPr>
        <p:spPr>
          <a:xfrm>
            <a:off x="6229350" y="3304084"/>
            <a:ext cx="5276850" cy="1537196"/>
          </a:xfrm>
          <a:prstGeom prst="roundRect">
            <a:avLst>
              <a:gd name="adj" fmla="val 2479"/>
            </a:avLst>
          </a:prstGeom>
          <a:solidFill>
            <a:srgbClr val="FFFFFF">
              <a:alpha val="7000"/>
            </a:srgbClr>
          </a:solidFill>
          <a:ln w="6350">
            <a:solidFill>
              <a:srgbClr val="FFFFFF">
                <a:alpha val="14000"/>
              </a:srgbClr>
            </a:solidFill>
            <a:prstDash val="solid"/>
          </a:ln>
        </p:spPr>
        <p:txBody>
          <a:bodyPr/>
          <a:lstStyle/>
          <a:p>
            <a:endParaRPr lang="en-US"/>
          </a:p>
        </p:txBody>
      </p:sp>
      <p:sp>
        <p:nvSpPr>
          <p:cNvPr id="22" name="Text 20"/>
          <p:cNvSpPr/>
          <p:nvPr/>
        </p:nvSpPr>
        <p:spPr>
          <a:xfrm>
            <a:off x="6426200" y="3539034"/>
            <a:ext cx="259159" cy="2667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200" dirty="0">
                <a:solidFill>
                  <a:srgbClr val="4E8BFF"/>
                </a:solidFill>
                <a:latin typeface="Courier New" pitchFamily="34" charset="0"/>
                <a:ea typeface="Courier New" pitchFamily="34" charset="-122"/>
                <a:cs typeface="Courier New" pitchFamily="34" charset="-120"/>
              </a:rPr>
              <a:t>04</a:t>
            </a:r>
            <a:endParaRPr lang="en-US" sz="1200" dirty="0"/>
          </a:p>
        </p:txBody>
      </p:sp>
      <p:sp>
        <p:nvSpPr>
          <p:cNvPr id="23" name="Text 21"/>
          <p:cNvSpPr/>
          <p:nvPr/>
        </p:nvSpPr>
        <p:spPr>
          <a:xfrm>
            <a:off x="6723459" y="3481884"/>
            <a:ext cx="2374027" cy="352425"/>
          </a:xfrm>
          <a:prstGeom prst="rect">
            <a:avLst/>
          </a:prstGeom>
          <a:noFill/>
          <a:ln/>
        </p:spPr>
        <p:txBody>
          <a:bodyPr wrap="square" lIns="25400" tIns="25400" rIns="25400" bIns="25400" rtlCol="0" anchor="t">
            <a:normAutofit/>
          </a:bodyPr>
          <a:lstStyle/>
          <a:p>
            <a:pPr>
              <a:lnSpc>
                <a:spcPct val="130263"/>
              </a:lnSpc>
            </a:pPr>
            <a:r>
              <a:rPr lang="en-US" sz="1600" dirty="0">
                <a:solidFill>
                  <a:schemeClr val="bg1"/>
                </a:solidFill>
              </a:rPr>
              <a:t>End-to-end testing</a:t>
            </a:r>
            <a:endParaRPr lang="en-US" sz="1650" dirty="0">
              <a:solidFill>
                <a:schemeClr val="bg1"/>
              </a:solidFill>
            </a:endParaRPr>
          </a:p>
        </p:txBody>
      </p:sp>
      <p:sp>
        <p:nvSpPr>
          <p:cNvPr id="24" name="Text 22"/>
          <p:cNvSpPr/>
          <p:nvPr/>
        </p:nvSpPr>
        <p:spPr>
          <a:xfrm>
            <a:off x="6426200" y="3853359"/>
            <a:ext cx="5371465" cy="243780"/>
          </a:xfrm>
          <a:prstGeom prst="rect">
            <a:avLst/>
          </a:prstGeom>
          <a:noFill/>
          <a:ln/>
        </p:spPr>
        <p:txBody>
          <a:bodyPr wrap="square" lIns="25400" tIns="25400" rIns="25400" bIns="25400" rtlCol="0" anchor="t">
            <a:normAutofit lnSpcReduction="10000"/>
          </a:bodyPr>
          <a:lstStyle/>
          <a:p>
            <a:pPr>
              <a:lnSpc>
                <a:spcPct val="115714"/>
              </a:lnSpc>
            </a:pPr>
            <a:r>
              <a:rPr lang="en-US" sz="1200" dirty="0">
                <a:solidFill>
                  <a:schemeClr val="bg1">
                    <a:lumMod val="75000"/>
                  </a:schemeClr>
                </a:solidFill>
              </a:rPr>
              <a:t>Changes must work with realistic </a:t>
            </a:r>
            <a:r>
              <a:rPr lang="en-US" sz="1200" dirty="0" err="1">
                <a:solidFill>
                  <a:schemeClr val="bg1">
                    <a:lumMod val="75000"/>
                  </a:schemeClr>
                </a:solidFill>
              </a:rPr>
              <a:t>Almatar</a:t>
            </a:r>
            <a:r>
              <a:rPr lang="en-US" sz="1200" dirty="0">
                <a:solidFill>
                  <a:schemeClr val="bg1">
                    <a:lumMod val="75000"/>
                  </a:schemeClr>
                </a:solidFill>
              </a:rPr>
              <a:t> data.</a:t>
            </a:r>
          </a:p>
        </p:txBody>
      </p:sp>
      <p:sp>
        <p:nvSpPr>
          <p:cNvPr id="25" name="Text 23"/>
          <p:cNvSpPr/>
          <p:nvPr/>
        </p:nvSpPr>
        <p:spPr>
          <a:xfrm>
            <a:off x="6426200" y="4116189"/>
            <a:ext cx="5371465" cy="243780"/>
          </a:xfrm>
          <a:prstGeom prst="rect">
            <a:avLst/>
          </a:prstGeom>
          <a:noFill/>
          <a:ln/>
        </p:spPr>
        <p:txBody>
          <a:bodyPr wrap="square" lIns="25400" tIns="25400" rIns="25400" bIns="25400" rtlCol="0" anchor="t">
            <a:normAutofit lnSpcReduction="10000"/>
          </a:bodyPr>
          <a:lstStyle/>
          <a:p>
            <a:pPr>
              <a:lnSpc>
                <a:spcPct val="115714"/>
              </a:lnSpc>
            </a:pPr>
            <a:r>
              <a:rPr lang="en-US" sz="1200" b="1" dirty="0">
                <a:solidFill>
                  <a:schemeClr val="bg1">
                    <a:lumMod val="85000"/>
                  </a:schemeClr>
                </a:solidFill>
              </a:rPr>
              <a:t>Integration test validates the complete pipeline.</a:t>
            </a:r>
            <a:endParaRPr lang="en-US" sz="1200" dirty="0">
              <a:solidFill>
                <a:schemeClr val="bg1">
                  <a:lumMod val="85000"/>
                </a:schemeClr>
              </a:solidFill>
            </a:endParaRPr>
          </a:p>
        </p:txBody>
      </p:sp>
      <p:sp>
        <p:nvSpPr>
          <p:cNvPr id="26" name="Shape 24"/>
          <p:cNvSpPr/>
          <p:nvPr/>
        </p:nvSpPr>
        <p:spPr>
          <a:xfrm>
            <a:off x="685800" y="5012730"/>
            <a:ext cx="717947" cy="350838"/>
          </a:xfrm>
          <a:prstGeom prst="roundRect">
            <a:avLst>
              <a:gd name="adj" fmla="val 10860"/>
            </a:avLst>
          </a:prstGeom>
          <a:solidFill>
            <a:srgbClr val="FFFFFF">
              <a:alpha val="7000"/>
            </a:srgbClr>
          </a:solidFill>
          <a:ln w="6350">
            <a:solidFill>
              <a:srgbClr val="FFFFFF">
                <a:alpha val="14000"/>
              </a:srgbClr>
            </a:solidFill>
            <a:prstDash val="solid"/>
          </a:ln>
        </p:spPr>
        <p:txBody>
          <a:bodyPr/>
          <a:lstStyle/>
          <a:p>
            <a:endParaRPr lang="en-US"/>
          </a:p>
        </p:txBody>
      </p:sp>
      <p:sp>
        <p:nvSpPr>
          <p:cNvPr id="27" name="Text 25"/>
          <p:cNvSpPr/>
          <p:nvPr/>
        </p:nvSpPr>
        <p:spPr>
          <a:xfrm>
            <a:off x="806450" y="5095280"/>
            <a:ext cx="552847"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S3 input</a:t>
            </a:r>
            <a:endParaRPr lang="en-US" sz="975" dirty="0"/>
          </a:p>
        </p:txBody>
      </p:sp>
      <p:sp>
        <p:nvSpPr>
          <p:cNvPr id="28" name="Shape 26"/>
          <p:cNvSpPr/>
          <p:nvPr/>
        </p:nvSpPr>
        <p:spPr>
          <a:xfrm>
            <a:off x="1498997" y="5183386"/>
            <a:ext cx="152400" cy="9525"/>
          </a:xfrm>
          <a:prstGeom prst="rect">
            <a:avLst/>
          </a:prstGeom>
          <a:solidFill>
            <a:srgbClr val="FFFFFF">
              <a:alpha val="38000"/>
            </a:srgbClr>
          </a:solidFill>
          <a:ln/>
        </p:spPr>
        <p:txBody>
          <a:bodyPr/>
          <a:lstStyle/>
          <a:p>
            <a:endParaRPr lang="en-US"/>
          </a:p>
        </p:txBody>
      </p:sp>
      <p:sp>
        <p:nvSpPr>
          <p:cNvPr id="29" name="Shape 27"/>
          <p:cNvSpPr/>
          <p:nvPr/>
        </p:nvSpPr>
        <p:spPr>
          <a:xfrm>
            <a:off x="1746647" y="5012730"/>
            <a:ext cx="738584" cy="350838"/>
          </a:xfrm>
          <a:prstGeom prst="roundRect">
            <a:avLst>
              <a:gd name="adj" fmla="val 10860"/>
            </a:avLst>
          </a:prstGeom>
          <a:solidFill>
            <a:srgbClr val="FFFFFF">
              <a:alpha val="7000"/>
            </a:srgbClr>
          </a:solidFill>
          <a:ln w="6350">
            <a:solidFill>
              <a:srgbClr val="FFFFFF">
                <a:alpha val="14000"/>
              </a:srgbClr>
            </a:solidFill>
            <a:prstDash val="solid"/>
          </a:ln>
        </p:spPr>
        <p:txBody>
          <a:bodyPr/>
          <a:lstStyle/>
          <a:p>
            <a:endParaRPr lang="en-US"/>
          </a:p>
        </p:txBody>
      </p:sp>
      <p:sp>
        <p:nvSpPr>
          <p:cNvPr id="30" name="Text 28"/>
          <p:cNvSpPr/>
          <p:nvPr/>
        </p:nvSpPr>
        <p:spPr>
          <a:xfrm>
            <a:off x="1867297" y="5095280"/>
            <a:ext cx="573484"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Discover</a:t>
            </a:r>
            <a:endParaRPr lang="en-US" sz="975" dirty="0"/>
          </a:p>
        </p:txBody>
      </p:sp>
      <p:sp>
        <p:nvSpPr>
          <p:cNvPr id="31" name="Shape 29"/>
          <p:cNvSpPr/>
          <p:nvPr/>
        </p:nvSpPr>
        <p:spPr>
          <a:xfrm>
            <a:off x="2580481" y="5183386"/>
            <a:ext cx="152400" cy="9525"/>
          </a:xfrm>
          <a:prstGeom prst="rect">
            <a:avLst/>
          </a:prstGeom>
          <a:solidFill>
            <a:srgbClr val="FFFFFF">
              <a:alpha val="38000"/>
            </a:srgbClr>
          </a:solidFill>
          <a:ln/>
        </p:spPr>
        <p:txBody>
          <a:bodyPr/>
          <a:lstStyle/>
          <a:p>
            <a:endParaRPr lang="en-US"/>
          </a:p>
        </p:txBody>
      </p:sp>
      <p:sp>
        <p:nvSpPr>
          <p:cNvPr id="32" name="Shape 30"/>
          <p:cNvSpPr/>
          <p:nvPr/>
        </p:nvSpPr>
        <p:spPr>
          <a:xfrm>
            <a:off x="2828131" y="5012730"/>
            <a:ext cx="703263" cy="350838"/>
          </a:xfrm>
          <a:prstGeom prst="roundRect">
            <a:avLst>
              <a:gd name="adj" fmla="val 10860"/>
            </a:avLst>
          </a:prstGeom>
          <a:solidFill>
            <a:srgbClr val="FFFFFF">
              <a:alpha val="7000"/>
            </a:srgbClr>
          </a:solidFill>
          <a:ln w="6350">
            <a:solidFill>
              <a:srgbClr val="FFFFFF">
                <a:alpha val="14000"/>
              </a:srgbClr>
            </a:solidFill>
            <a:prstDash val="solid"/>
          </a:ln>
        </p:spPr>
        <p:txBody>
          <a:bodyPr/>
          <a:lstStyle/>
          <a:p>
            <a:endParaRPr lang="en-US"/>
          </a:p>
        </p:txBody>
      </p:sp>
      <p:sp>
        <p:nvSpPr>
          <p:cNvPr id="33" name="Text 31"/>
          <p:cNvSpPr/>
          <p:nvPr/>
        </p:nvSpPr>
        <p:spPr>
          <a:xfrm>
            <a:off x="2948781" y="5095280"/>
            <a:ext cx="538163"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Validate</a:t>
            </a:r>
            <a:endParaRPr lang="en-US" sz="975" dirty="0"/>
          </a:p>
        </p:txBody>
      </p:sp>
      <p:sp>
        <p:nvSpPr>
          <p:cNvPr id="34" name="Shape 32"/>
          <p:cNvSpPr/>
          <p:nvPr/>
        </p:nvSpPr>
        <p:spPr>
          <a:xfrm>
            <a:off x="3626644" y="5183386"/>
            <a:ext cx="152400" cy="9525"/>
          </a:xfrm>
          <a:prstGeom prst="rect">
            <a:avLst/>
          </a:prstGeom>
          <a:solidFill>
            <a:srgbClr val="FFFFFF">
              <a:alpha val="38000"/>
            </a:srgbClr>
          </a:solidFill>
          <a:ln/>
        </p:spPr>
        <p:txBody>
          <a:bodyPr/>
          <a:lstStyle/>
          <a:p>
            <a:endParaRPr lang="en-US"/>
          </a:p>
        </p:txBody>
      </p:sp>
      <p:sp>
        <p:nvSpPr>
          <p:cNvPr id="35" name="Shape 33"/>
          <p:cNvSpPr/>
          <p:nvPr/>
        </p:nvSpPr>
        <p:spPr>
          <a:xfrm>
            <a:off x="3874294" y="5012730"/>
            <a:ext cx="1055588" cy="350838"/>
          </a:xfrm>
          <a:prstGeom prst="roundRect">
            <a:avLst>
              <a:gd name="adj" fmla="val 10860"/>
            </a:avLst>
          </a:prstGeom>
          <a:solidFill>
            <a:srgbClr val="FFFFFF">
              <a:alpha val="7000"/>
            </a:srgbClr>
          </a:solidFill>
          <a:ln w="6350">
            <a:solidFill>
              <a:srgbClr val="FFFFFF">
                <a:alpha val="14000"/>
              </a:srgbClr>
            </a:solidFill>
            <a:prstDash val="solid"/>
          </a:ln>
        </p:spPr>
        <p:txBody>
          <a:bodyPr/>
          <a:lstStyle/>
          <a:p>
            <a:endParaRPr lang="en-US"/>
          </a:p>
        </p:txBody>
      </p:sp>
      <p:sp>
        <p:nvSpPr>
          <p:cNvPr id="36" name="Text 34"/>
          <p:cNvSpPr/>
          <p:nvPr/>
        </p:nvSpPr>
        <p:spPr>
          <a:xfrm>
            <a:off x="3994944" y="5095280"/>
            <a:ext cx="890488"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Spark / Deequ</a:t>
            </a:r>
            <a:endParaRPr lang="en-US" sz="975" dirty="0"/>
          </a:p>
        </p:txBody>
      </p:sp>
      <p:sp>
        <p:nvSpPr>
          <p:cNvPr id="37" name="Shape 35"/>
          <p:cNvSpPr/>
          <p:nvPr/>
        </p:nvSpPr>
        <p:spPr>
          <a:xfrm>
            <a:off x="5025132" y="5183386"/>
            <a:ext cx="152400" cy="9525"/>
          </a:xfrm>
          <a:prstGeom prst="rect">
            <a:avLst/>
          </a:prstGeom>
          <a:solidFill>
            <a:srgbClr val="FFFFFF">
              <a:alpha val="38000"/>
            </a:srgbClr>
          </a:solidFill>
          <a:ln/>
        </p:spPr>
        <p:txBody>
          <a:bodyPr/>
          <a:lstStyle/>
          <a:p>
            <a:endParaRPr lang="en-US"/>
          </a:p>
        </p:txBody>
      </p:sp>
      <p:sp>
        <p:nvSpPr>
          <p:cNvPr id="38" name="Shape 36"/>
          <p:cNvSpPr/>
          <p:nvPr/>
        </p:nvSpPr>
        <p:spPr>
          <a:xfrm>
            <a:off x="5272782" y="5012730"/>
            <a:ext cx="1210667" cy="350838"/>
          </a:xfrm>
          <a:prstGeom prst="roundRect">
            <a:avLst>
              <a:gd name="adj" fmla="val 10860"/>
            </a:avLst>
          </a:prstGeom>
          <a:solidFill>
            <a:srgbClr val="FFFFFF">
              <a:alpha val="7000"/>
            </a:srgbClr>
          </a:solidFill>
          <a:ln w="6350">
            <a:solidFill>
              <a:srgbClr val="FFFFFF">
                <a:alpha val="14000"/>
              </a:srgbClr>
            </a:solidFill>
            <a:prstDash val="solid"/>
          </a:ln>
        </p:spPr>
        <p:txBody>
          <a:bodyPr/>
          <a:lstStyle/>
          <a:p>
            <a:endParaRPr lang="en-US"/>
          </a:p>
        </p:txBody>
      </p:sp>
      <p:sp>
        <p:nvSpPr>
          <p:cNvPr id="39" name="Text 37"/>
          <p:cNvSpPr/>
          <p:nvPr/>
        </p:nvSpPr>
        <p:spPr>
          <a:xfrm>
            <a:off x="5393432" y="5095280"/>
            <a:ext cx="1045567"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Metrics + checks</a:t>
            </a:r>
            <a:endParaRPr lang="en-US" sz="975" dirty="0"/>
          </a:p>
        </p:txBody>
      </p:sp>
      <p:sp>
        <p:nvSpPr>
          <p:cNvPr id="40" name="Shape 38"/>
          <p:cNvSpPr/>
          <p:nvPr/>
        </p:nvSpPr>
        <p:spPr>
          <a:xfrm>
            <a:off x="6578700" y="5183386"/>
            <a:ext cx="152400" cy="9525"/>
          </a:xfrm>
          <a:prstGeom prst="rect">
            <a:avLst/>
          </a:prstGeom>
          <a:solidFill>
            <a:srgbClr val="FFFFFF">
              <a:alpha val="38000"/>
            </a:srgbClr>
          </a:solidFill>
          <a:ln/>
        </p:spPr>
        <p:txBody>
          <a:bodyPr/>
          <a:lstStyle/>
          <a:p>
            <a:endParaRPr lang="en-US"/>
          </a:p>
        </p:txBody>
      </p:sp>
      <p:sp>
        <p:nvSpPr>
          <p:cNvPr id="41" name="Shape 39"/>
          <p:cNvSpPr/>
          <p:nvPr/>
        </p:nvSpPr>
        <p:spPr>
          <a:xfrm>
            <a:off x="6826350" y="5012730"/>
            <a:ext cx="1361083" cy="350838"/>
          </a:xfrm>
          <a:prstGeom prst="roundRect">
            <a:avLst>
              <a:gd name="adj" fmla="val 10860"/>
            </a:avLst>
          </a:prstGeom>
          <a:solidFill>
            <a:srgbClr val="4E8BFF">
              <a:alpha val="14000"/>
            </a:srgbClr>
          </a:solidFill>
          <a:ln w="6350">
            <a:solidFill>
              <a:srgbClr val="4E8BFF"/>
            </a:solidFill>
            <a:prstDash val="solid"/>
          </a:ln>
        </p:spPr>
        <p:txBody>
          <a:bodyPr/>
          <a:lstStyle/>
          <a:p>
            <a:endParaRPr lang="en-US"/>
          </a:p>
        </p:txBody>
      </p:sp>
      <p:sp>
        <p:nvSpPr>
          <p:cNvPr id="42" name="Text 40"/>
          <p:cNvSpPr/>
          <p:nvPr/>
        </p:nvSpPr>
        <p:spPr>
          <a:xfrm>
            <a:off x="6947000" y="5095280"/>
            <a:ext cx="1195983" cy="223838"/>
          </a:xfrm>
          <a:prstGeom prst="rect">
            <a:avLst/>
          </a:prstGeom>
          <a:noFill/>
          <a:ln/>
        </p:spPr>
        <p:txBody>
          <a:bodyPr wrap="none" lIns="25400" tIns="25400" rIns="25400" bIns="25400" rtlCol="0" anchor="t">
            <a:normAutofit lnSpcReduction="10000"/>
          </a:bodyPr>
          <a:lstStyle/>
          <a:p>
            <a:pPr marL="0" indent="0" algn="l">
              <a:lnSpc>
                <a:spcPct val="127174"/>
              </a:lnSpc>
              <a:buNone/>
            </a:pPr>
            <a:r>
              <a:rPr lang="en-US" sz="975" dirty="0">
                <a:solidFill>
                  <a:srgbClr val="FFFFFF"/>
                </a:solidFill>
                <a:latin typeface="Arial" pitchFamily="34" charset="0"/>
                <a:ea typeface="Arial" pitchFamily="34" charset="-122"/>
                <a:cs typeface="Arial" pitchFamily="34" charset="-120"/>
              </a:rPr>
              <a:t>Missing? Retry later</a:t>
            </a:r>
            <a:endParaRPr lang="en-US" sz="975" dirty="0"/>
          </a:p>
        </p:txBody>
      </p:sp>
      <p:sp>
        <p:nvSpPr>
          <p:cNvPr id="43" name="Text 41"/>
          <p:cNvSpPr/>
          <p:nvPr/>
        </p:nvSpPr>
        <p:spPr>
          <a:xfrm>
            <a:off x="685800" y="5535017"/>
            <a:ext cx="11145012" cy="603845"/>
          </a:xfrm>
          <a:prstGeom prst="rect">
            <a:avLst/>
          </a:prstGeom>
          <a:noFill/>
          <a:ln/>
        </p:spPr>
        <p:txBody>
          <a:bodyPr wrap="square" lIns="25400" tIns="25400" rIns="25400" bIns="25400" rtlCol="0" anchor="t">
            <a:normAutofit lnSpcReduction="10000"/>
          </a:bodyPr>
          <a:lstStyle/>
          <a:p>
            <a:pPr marL="0" indent="0" algn="l">
              <a:lnSpc>
                <a:spcPct val="117237"/>
              </a:lnSpc>
              <a:buNone/>
            </a:pPr>
            <a:r>
              <a:rPr lang="en-US" sz="1650" dirty="0">
                <a:solidFill>
                  <a:srgbClr val="FFFFFF"/>
                </a:solidFill>
                <a:latin typeface="Arial" pitchFamily="34" charset="0"/>
                <a:ea typeface="Arial" pitchFamily="34" charset="-122"/>
                <a:cs typeface="Arial" pitchFamily="34" charset="-120"/>
              </a:rPr>
              <a:t>Data quality is also about making delivery observable, recoverable and safe to operate — which is what makes Almatar ready to deploy.</a:t>
            </a:r>
            <a:endParaRPr lang="en-US" sz="1650" dirty="0"/>
          </a:p>
        </p:txBody>
      </p:sp>
      <p:pic>
        <p:nvPicPr>
          <p:cNvPr id="44"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45" name="Text 42"/>
          <p:cNvSpPr/>
          <p:nvPr/>
        </p:nvSpPr>
        <p:spPr>
          <a:xfrm>
            <a:off x="10387905" y="6253163"/>
            <a:ext cx="893465"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Reliability</a:t>
            </a:r>
            <a:endParaRPr lang="en-US" sz="975" dirty="0"/>
          </a:p>
        </p:txBody>
      </p:sp>
      <p:sp>
        <p:nvSpPr>
          <p:cNvPr id="46" name="Text 43"/>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13</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8174A"/>
        </a:solidFill>
        <a:effectLst/>
      </p:bgPr>
    </p:bg>
    <p:spTree>
      <p:nvGrpSpPr>
        <p:cNvPr id="1" name=""/>
        <p:cNvGrpSpPr/>
        <p:nvPr/>
      </p:nvGrpSpPr>
      <p:grpSpPr>
        <a:xfrm>
          <a:off x="0" y="0"/>
          <a:ext cx="0" cy="0"/>
          <a:chOff x="0" y="0"/>
          <a:chExt cx="0" cy="0"/>
        </a:xfrm>
      </p:grpSpPr>
      <p:sp>
        <p:nvSpPr>
          <p:cNvPr id="2" name="Text 0"/>
          <p:cNvSpPr/>
          <p:nvPr/>
        </p:nvSpPr>
        <p:spPr>
          <a:xfrm>
            <a:off x="11055251" y="209550"/>
            <a:ext cx="984349" cy="195263"/>
          </a:xfrm>
          <a:prstGeom prst="rect">
            <a:avLst/>
          </a:prstGeom>
          <a:noFill/>
          <a:ln/>
        </p:spPr>
        <p:txBody>
          <a:bodyPr wrap="square" lIns="25400" tIns="25400" rIns="25400" bIns="25400" rtlCol="0" anchor="t">
            <a:normAutofit fontScale="92500" lnSpcReduction="10000"/>
          </a:bodyPr>
          <a:lstStyle/>
          <a:p>
            <a:pPr marL="0" indent="0" algn="l">
              <a:lnSpc>
                <a:spcPct val="130263"/>
              </a:lnSpc>
              <a:buNone/>
            </a:pPr>
            <a:r>
              <a:rPr lang="en-US" sz="825" kern="0" spc="116" dirty="0">
                <a:solidFill>
                  <a:srgbClr val="E8833A"/>
                </a:solidFill>
                <a:latin typeface="Arial" pitchFamily="34" charset="0"/>
                <a:ea typeface="Arial" pitchFamily="34" charset="-122"/>
                <a:cs typeface="Arial" pitchFamily="34" charset="-120"/>
              </a:rPr>
              <a:t>CONFIDENTIAL</a:t>
            </a:r>
            <a:endParaRPr lang="en-US" sz="825" dirty="0"/>
          </a:p>
        </p:txBody>
      </p:sp>
      <p:sp>
        <p:nvSpPr>
          <p:cNvPr id="3" name="Text 1"/>
          <p:cNvSpPr/>
          <p:nvPr/>
        </p:nvSpPr>
        <p:spPr>
          <a:xfrm>
            <a:off x="685800" y="609600"/>
            <a:ext cx="1190244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12 — CLOSING</a:t>
            </a:r>
            <a:endParaRPr lang="en-US" sz="825" dirty="0"/>
          </a:p>
        </p:txBody>
      </p:sp>
      <p:sp>
        <p:nvSpPr>
          <p:cNvPr id="4" name="Text 2"/>
          <p:cNvSpPr/>
          <p:nvPr/>
        </p:nvSpPr>
        <p:spPr>
          <a:xfrm>
            <a:off x="685800" y="881063"/>
            <a:ext cx="11902440" cy="47625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000" kern="0" spc="-45" dirty="0">
                <a:solidFill>
                  <a:srgbClr val="FFFFFF"/>
                </a:solidFill>
                <a:latin typeface="Arial" pitchFamily="34" charset="0"/>
                <a:ea typeface="Arial" pitchFamily="34" charset="-122"/>
                <a:cs typeface="Arial" pitchFamily="34" charset="-120"/>
              </a:rPr>
              <a:t>[Air Rev] — Two complementary contributions</a:t>
            </a:r>
            <a:endParaRPr lang="en-US" sz="3000" dirty="0"/>
          </a:p>
        </p:txBody>
      </p:sp>
      <p:sp>
        <p:nvSpPr>
          <p:cNvPr id="5" name="Shape 3"/>
          <p:cNvSpPr/>
          <p:nvPr/>
        </p:nvSpPr>
        <p:spPr>
          <a:xfrm>
            <a:off x="685800" y="1509713"/>
            <a:ext cx="10820400" cy="9525"/>
          </a:xfrm>
          <a:prstGeom prst="rect">
            <a:avLst/>
          </a:prstGeom>
          <a:solidFill>
            <a:srgbClr val="FFFFFF">
              <a:alpha val="14000"/>
            </a:srgbClr>
          </a:solidFill>
          <a:ln/>
        </p:spPr>
        <p:txBody>
          <a:bodyPr/>
          <a:lstStyle/>
          <a:p>
            <a:endParaRPr lang="en-US"/>
          </a:p>
        </p:txBody>
      </p:sp>
      <p:sp>
        <p:nvSpPr>
          <p:cNvPr id="6" name="Text 4"/>
          <p:cNvSpPr/>
          <p:nvPr/>
        </p:nvSpPr>
        <p:spPr>
          <a:xfrm>
            <a:off x="685800" y="2499320"/>
            <a:ext cx="5783471"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GENAI / DOCUMENT INTELLIGENCE</a:t>
            </a:r>
            <a:endParaRPr lang="en-US" sz="825" dirty="0"/>
          </a:p>
        </p:txBody>
      </p:sp>
      <p:sp>
        <p:nvSpPr>
          <p:cNvPr id="7" name="Text 5"/>
          <p:cNvSpPr/>
          <p:nvPr/>
        </p:nvSpPr>
        <p:spPr>
          <a:xfrm>
            <a:off x="685800" y="2808883"/>
            <a:ext cx="5415432" cy="847725"/>
          </a:xfrm>
          <a:prstGeom prst="rect">
            <a:avLst/>
          </a:prstGeom>
          <a:noFill/>
          <a:ln/>
        </p:spPr>
        <p:txBody>
          <a:bodyPr wrap="square" lIns="25400" tIns="25400" rIns="25400" bIns="25400" rtlCol="0" anchor="t">
            <a:normAutofit lnSpcReduction="10000"/>
          </a:bodyPr>
          <a:lstStyle/>
          <a:p>
            <a:pPr marL="0" indent="0" algn="l">
              <a:lnSpc>
                <a:spcPct val="108051"/>
              </a:lnSpc>
              <a:buNone/>
            </a:pPr>
            <a:r>
              <a:rPr lang="en-US" sz="2550" dirty="0">
                <a:solidFill>
                  <a:srgbClr val="FFFFFF"/>
                </a:solidFill>
                <a:latin typeface="Arial" pitchFamily="34" charset="0"/>
                <a:ea typeface="Arial" pitchFamily="34" charset="-122"/>
                <a:cs typeface="Arial" pitchFamily="34" charset="-120"/>
              </a:rPr>
              <a:t>Understanding complex unstructured financial information</a:t>
            </a:r>
            <a:endParaRPr lang="en-US" sz="2550" dirty="0"/>
          </a:p>
        </p:txBody>
      </p:sp>
      <p:sp>
        <p:nvSpPr>
          <p:cNvPr id="8" name="Text 6"/>
          <p:cNvSpPr/>
          <p:nvPr/>
        </p:nvSpPr>
        <p:spPr>
          <a:xfrm>
            <a:off x="685800" y="3770908"/>
            <a:ext cx="5415432" cy="480020"/>
          </a:xfrm>
          <a:prstGeom prst="rect">
            <a:avLst/>
          </a:prstGeom>
          <a:noFill/>
          <a:ln/>
        </p:spPr>
        <p:txBody>
          <a:bodyPr wrap="square" lIns="25400" tIns="25400" rIns="25400" bIns="25400" rtlCol="0" anchor="t">
            <a:normAutofit lnSpcReduction="10000"/>
          </a:bodyPr>
          <a:lstStyle/>
          <a:p>
            <a:pPr marL="0" indent="0" algn="l">
              <a:lnSpc>
                <a:spcPct val="124286"/>
              </a:lnSpc>
              <a:buNone/>
            </a:pPr>
            <a:r>
              <a:rPr lang="en-US" sz="1200" dirty="0">
                <a:solidFill>
                  <a:srgbClr val="FFFFFF">
                    <a:alpha val="72000"/>
                  </a:srgbClr>
                </a:solidFill>
                <a:latin typeface="Arial" pitchFamily="34" charset="0"/>
                <a:ea typeface="Arial" pitchFamily="34" charset="-122"/>
                <a:cs typeface="Arial" pitchFamily="34" charset="-120"/>
              </a:rPr>
              <a:t>Reliable KPI reconstruction from reports, with deterministic control around the model.</a:t>
            </a:r>
            <a:endParaRPr lang="en-US" sz="1200" dirty="0"/>
          </a:p>
        </p:txBody>
      </p:sp>
      <p:sp>
        <p:nvSpPr>
          <p:cNvPr id="9" name="Text 7"/>
          <p:cNvSpPr/>
          <p:nvPr/>
        </p:nvSpPr>
        <p:spPr>
          <a:xfrm>
            <a:off x="6210201" y="3113187"/>
            <a:ext cx="457200" cy="523875"/>
          </a:xfrm>
          <a:prstGeom prst="rect">
            <a:avLst/>
          </a:prstGeom>
          <a:noFill/>
          <a:ln/>
        </p:spPr>
        <p:txBody>
          <a:bodyPr wrap="square" lIns="25400" tIns="25400" rIns="25400" bIns="25400" rtlCol="0" anchor="t">
            <a:normAutofit/>
          </a:bodyPr>
          <a:lstStyle/>
          <a:p>
            <a:pPr marL="0" indent="0" algn="ctr">
              <a:lnSpc>
                <a:spcPct val="129661"/>
              </a:lnSpc>
              <a:buNone/>
            </a:pPr>
            <a:r>
              <a:rPr lang="en-US" sz="2550" dirty="0">
                <a:solidFill>
                  <a:srgbClr val="FFFFFF">
                    <a:alpha val="38000"/>
                  </a:srgbClr>
                </a:solidFill>
                <a:latin typeface="Arial" pitchFamily="34" charset="0"/>
                <a:ea typeface="Arial" pitchFamily="34" charset="-122"/>
                <a:cs typeface="Arial" pitchFamily="34" charset="-120"/>
              </a:rPr>
              <a:t>+</a:t>
            </a:r>
            <a:endParaRPr lang="en-US" sz="2550" dirty="0"/>
          </a:p>
        </p:txBody>
      </p:sp>
      <p:sp>
        <p:nvSpPr>
          <p:cNvPr id="10" name="Text 8"/>
          <p:cNvSpPr/>
          <p:nvPr/>
        </p:nvSpPr>
        <p:spPr>
          <a:xfrm>
            <a:off x="6934101" y="2388890"/>
            <a:ext cx="5029200" cy="195263"/>
          </a:xfrm>
          <a:prstGeom prst="rect">
            <a:avLst/>
          </a:prstGeom>
          <a:noFill/>
          <a:ln/>
        </p:spPr>
        <p:txBody>
          <a:bodyPr wrap="square" lIns="25400" tIns="25400" rIns="25400" bIns="25400" rtlCol="0" anchor="t">
            <a:normAutofit lnSpcReduction="10000"/>
          </a:bodyPr>
          <a:lstStyle/>
          <a:p>
            <a:pPr marL="0" indent="0" algn="l">
              <a:lnSpc>
                <a:spcPct val="130263"/>
              </a:lnSpc>
              <a:buNone/>
            </a:pPr>
            <a:r>
              <a:rPr lang="en-US" sz="825" kern="0" spc="116" dirty="0">
                <a:solidFill>
                  <a:srgbClr val="4E8BFF"/>
                </a:solidFill>
                <a:latin typeface="Arial" pitchFamily="34" charset="0"/>
                <a:ea typeface="Arial" pitchFamily="34" charset="-122"/>
                <a:cs typeface="Arial" pitchFamily="34" charset="-120"/>
              </a:rPr>
              <a:t>DATA ENGINEERING</a:t>
            </a:r>
            <a:endParaRPr lang="en-US" sz="825" dirty="0"/>
          </a:p>
        </p:txBody>
      </p:sp>
      <p:sp>
        <p:nvSpPr>
          <p:cNvPr id="11" name="Text 9"/>
          <p:cNvSpPr/>
          <p:nvPr/>
        </p:nvSpPr>
        <p:spPr>
          <a:xfrm>
            <a:off x="6934101" y="2698452"/>
            <a:ext cx="4709160" cy="847725"/>
          </a:xfrm>
          <a:prstGeom prst="rect">
            <a:avLst/>
          </a:prstGeom>
          <a:noFill/>
          <a:ln/>
        </p:spPr>
        <p:txBody>
          <a:bodyPr wrap="square" lIns="25400" tIns="25400" rIns="25400" bIns="25400" rtlCol="0" anchor="t">
            <a:normAutofit lnSpcReduction="10000"/>
          </a:bodyPr>
          <a:lstStyle/>
          <a:p>
            <a:pPr marL="0" indent="0" algn="l">
              <a:lnSpc>
                <a:spcPct val="108051"/>
              </a:lnSpc>
              <a:buNone/>
            </a:pPr>
            <a:r>
              <a:rPr lang="en-US" sz="2550" dirty="0">
                <a:solidFill>
                  <a:srgbClr val="FFFFFF"/>
                </a:solidFill>
                <a:latin typeface="Arial" pitchFamily="34" charset="0"/>
                <a:ea typeface="Arial" pitchFamily="34" charset="-122"/>
                <a:cs typeface="Arial" pitchFamily="34" charset="-120"/>
              </a:rPr>
              <a:t>Making recurring structured datasets reliable to operate</a:t>
            </a:r>
            <a:endParaRPr lang="en-US" sz="2550" dirty="0"/>
          </a:p>
        </p:txBody>
      </p:sp>
      <p:sp>
        <p:nvSpPr>
          <p:cNvPr id="12" name="Text 10"/>
          <p:cNvSpPr/>
          <p:nvPr/>
        </p:nvSpPr>
        <p:spPr>
          <a:xfrm>
            <a:off x="6934101" y="3660477"/>
            <a:ext cx="4709160" cy="700980"/>
          </a:xfrm>
          <a:prstGeom prst="rect">
            <a:avLst/>
          </a:prstGeom>
          <a:noFill/>
          <a:ln/>
        </p:spPr>
        <p:txBody>
          <a:bodyPr wrap="square" lIns="25400" tIns="25400" rIns="25400" bIns="25400" rtlCol="0" anchor="t">
            <a:normAutofit lnSpcReduction="10000"/>
          </a:bodyPr>
          <a:lstStyle/>
          <a:p>
            <a:pPr marL="0" indent="0" algn="l">
              <a:lnSpc>
                <a:spcPct val="124286"/>
              </a:lnSpc>
              <a:buNone/>
            </a:pPr>
            <a:r>
              <a:rPr lang="en-US" sz="1200" dirty="0">
                <a:solidFill>
                  <a:srgbClr val="FFFFFF">
                    <a:alpha val="72000"/>
                  </a:srgbClr>
                </a:solidFill>
                <a:latin typeface="Arial" pitchFamily="34" charset="0"/>
                <a:ea typeface="Arial" pitchFamily="34" charset="-122"/>
                <a:cs typeface="Arial" pitchFamily="34" charset="-120"/>
              </a:rPr>
              <a:t>The Almatar campaign added to the team's existing Spark / Deequ framework: orchestration, reliability mechanisms, a shared file-discovery improvement and regression coverage.</a:t>
            </a:r>
            <a:endParaRPr lang="en-US" sz="1200" dirty="0"/>
          </a:p>
        </p:txBody>
      </p:sp>
      <p:pic>
        <p:nvPicPr>
          <p:cNvPr id="13" name="Image 0" descr="preencoded.png"/>
          <p:cNvPicPr>
            <a:picLocks noChangeAspect="1"/>
          </p:cNvPicPr>
          <p:nvPr/>
        </p:nvPicPr>
        <p:blipFill>
          <a:blip r:embed="rId3">
            <a:alphaModFix amt="55000"/>
          </a:blip>
          <a:stretch>
            <a:fillRect/>
          </a:stretch>
        </p:blipFill>
        <p:spPr>
          <a:xfrm>
            <a:off x="685800" y="6315075"/>
            <a:ext cx="864691" cy="123825"/>
          </a:xfrm>
          <a:prstGeom prst="rect">
            <a:avLst/>
          </a:prstGeom>
        </p:spPr>
      </p:pic>
      <p:sp>
        <p:nvSpPr>
          <p:cNvPr id="14" name="Text 11"/>
          <p:cNvSpPr/>
          <p:nvPr/>
        </p:nvSpPr>
        <p:spPr>
          <a:xfrm>
            <a:off x="11357571" y="6253163"/>
            <a:ext cx="224830" cy="223838"/>
          </a:xfrm>
          <a:prstGeom prst="rect">
            <a:avLst/>
          </a:prstGeom>
          <a:noFill/>
          <a:ln/>
        </p:spPr>
        <p:txBody>
          <a:bodyPr wrap="square" lIns="25400" tIns="25400" rIns="25400" bIns="25400" rtlCol="0" anchor="t">
            <a:normAutofit fontScale="92500"/>
          </a:bodyPr>
          <a:lstStyle/>
          <a:p>
            <a:pPr marL="0" indent="0" algn="l">
              <a:lnSpc>
                <a:spcPct val="132955"/>
              </a:lnSpc>
              <a:buNone/>
            </a:pPr>
            <a:r>
              <a:rPr lang="en-US" sz="975" dirty="0">
                <a:solidFill>
                  <a:srgbClr val="FFFFFF">
                    <a:alpha val="38000"/>
                  </a:srgbClr>
                </a:solidFill>
                <a:latin typeface="Courier New" pitchFamily="34" charset="0"/>
                <a:ea typeface="Courier New" pitchFamily="34" charset="-122"/>
                <a:cs typeface="Courier New" pitchFamily="34" charset="-120"/>
              </a:rPr>
              <a:t>14</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1378</Words>
  <Application>Microsoft Office PowerPoint</Application>
  <PresentationFormat>Widescreen</PresentationFormat>
  <Paragraphs>342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Walid BENMAAROUF</cp:lastModifiedBy>
  <cp:revision>2</cp:revision>
  <dcterms:created xsi:type="dcterms:W3CDTF">2026-09-11T11:04:07Z</dcterms:created>
  <dcterms:modified xsi:type="dcterms:W3CDTF">2026-09-11T13:19:41Z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2db9220-a04a-4f06-aab9-80cbe5287fb3_Enabled">
    <vt:lpwstr>true</vt:lpwstr>
  </property>
  <property fmtid="{D5CDD505-2E9C-101B-9397-08002B2CF9AE}" pid="3" name="MSIP_Label_d2db9220-a04a-4f06-aab9-80cbe5287fb3_SetDate">
    <vt:lpwstr>2026-09-11T13:19:38Z</vt:lpwstr>
  </property>
  <property fmtid="{D5CDD505-2E9C-101B-9397-08002B2CF9AE}" pid="4" name="MSIP_Label_d2db9220-a04a-4f06-aab9-80cbe5287fb3_Method">
    <vt:lpwstr>Standard</vt:lpwstr>
  </property>
  <property fmtid="{D5CDD505-2E9C-101B-9397-08002B2CF9AE}" pid="5" name="MSIP_Label_d2db9220-a04a-4f06-aab9-80cbe5287fb3_Name">
    <vt:lpwstr>d2db9220-a04a-4f06-aab9-80cbe5287fb3</vt:lpwstr>
  </property>
  <property fmtid="{D5CDD505-2E9C-101B-9397-08002B2CF9AE}" pid="6" name="MSIP_Label_d2db9220-a04a-4f06-aab9-80cbe5287fb3_SiteId">
    <vt:lpwstr>b3f4f7c2-72ce-4192-aba4-d6c7719b5766</vt:lpwstr>
  </property>
  <property fmtid="{D5CDD505-2E9C-101B-9397-08002B2CF9AE}" pid="7" name="MSIP_Label_d2db9220-a04a-4f06-aab9-80cbe5287fb3_ActionId">
    <vt:lpwstr>1e98cf3e-7d3b-4453-91ec-3637d62f457e</vt:lpwstr>
  </property>
  <property fmtid="{D5CDD505-2E9C-101B-9397-08002B2CF9AE}" pid="8" name="MSIP_Label_d2db9220-a04a-4f06-aab9-80cbe5287fb3_ContentBits">
    <vt:lpwstr>1</vt:lpwstr>
  </property>
  <property fmtid="{D5CDD505-2E9C-101B-9397-08002B2CF9AE}" pid="9" name="MSIP_Label_d2db9220-a04a-4f06-aab9-80cbe5287fb3_Tag">
    <vt:lpwstr>10, 3, 0, 1</vt:lpwstr>
  </property>
  <property fmtid="{D5CDD505-2E9C-101B-9397-08002B2CF9AE}" pid="10" name="ClassificationContentMarkingHeaderLocations">
    <vt:lpwstr>Office Theme:3</vt:lpwstr>
  </property>
  <property fmtid="{D5CDD505-2E9C-101B-9397-08002B2CF9AE}" pid="11" name="ClassificationContentMarkingHeaderText">
    <vt:lpwstr>CONFIDENTIAL</vt:lpwstr>
  </property>
</Properties>
</file>